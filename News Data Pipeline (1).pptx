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11328400" cx="20104100"/>
  <p:notesSz cx="20104100" cy="11328400"/>
  <p:embeddedFontLst>
    <p:embeddedFont>
      <p:font typeface="Poppins"/>
      <p:regular r:id="rId20"/>
      <p:bold r:id="rId21"/>
      <p:italic r:id="rId22"/>
      <p:boldItalic r:id="rId23"/>
    </p:embeddedFont>
    <p:embeddedFont>
      <p:font typeface="Lato"/>
      <p:regular r:id="rId24"/>
      <p:bold r:id="rId25"/>
      <p:italic r:id="rId26"/>
      <p:boldItalic r:id="rId27"/>
    </p:embeddedFont>
    <p:embeddedFont>
      <p:font typeface="Inter"/>
      <p:regular r:id="rId28"/>
      <p:bold r:id="rId29"/>
      <p:italic r:id="rId30"/>
      <p:boldItalic r:id="rId31"/>
    </p:embeddedFont>
    <p:embeddedFont>
      <p:font typeface="Poppins SemiBold"/>
      <p:regular r:id="rId32"/>
      <p:bold r:id="rId33"/>
      <p:italic r:id="rId34"/>
      <p:boldItalic r:id="rId35"/>
    </p:embeddedFont>
    <p:embeddedFont>
      <p:font typeface="Inter Medium"/>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6578A3-1490-40C9-9EC2-DAE12AC14E86}">
  <a:tblStyle styleId="{906578A3-1490-40C9-9EC2-DAE12AC14E8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Lato-regular.fntdata"/><Relationship Id="rId23"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Inter-regular.fntdata"/><Relationship Id="rId27" Type="http://schemas.openxmlformats.org/officeDocument/2006/relationships/font" Target="fonts/La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boldItalic.fntdata"/><Relationship Id="rId30" Type="http://schemas.openxmlformats.org/officeDocument/2006/relationships/font" Target="fonts/Inter-italic.fntdata"/><Relationship Id="rId11" Type="http://schemas.openxmlformats.org/officeDocument/2006/relationships/slide" Target="slides/slide5.xml"/><Relationship Id="rId33" Type="http://schemas.openxmlformats.org/officeDocument/2006/relationships/font" Target="fonts/PoppinsSemiBold-bold.fntdata"/><Relationship Id="rId10" Type="http://schemas.openxmlformats.org/officeDocument/2006/relationships/slide" Target="slides/slide4.xml"/><Relationship Id="rId32" Type="http://schemas.openxmlformats.org/officeDocument/2006/relationships/font" Target="fonts/PoppinsSemiBold-regular.fntdata"/><Relationship Id="rId13" Type="http://schemas.openxmlformats.org/officeDocument/2006/relationships/slide" Target="slides/slide7.xml"/><Relationship Id="rId35" Type="http://schemas.openxmlformats.org/officeDocument/2006/relationships/font" Target="fonts/PoppinsSemiBold-boldItalic.fntdata"/><Relationship Id="rId12" Type="http://schemas.openxmlformats.org/officeDocument/2006/relationships/slide" Target="slides/slide6.xml"/><Relationship Id="rId34" Type="http://schemas.openxmlformats.org/officeDocument/2006/relationships/font" Target="fonts/PoppinsSemiBold-italic.fntdata"/><Relationship Id="rId15" Type="http://schemas.openxmlformats.org/officeDocument/2006/relationships/slide" Target="slides/slide9.xml"/><Relationship Id="rId37" Type="http://schemas.openxmlformats.org/officeDocument/2006/relationships/font" Target="fonts/InterMedium-bold.fntdata"/><Relationship Id="rId14" Type="http://schemas.openxmlformats.org/officeDocument/2006/relationships/slide" Target="slides/slide8.xml"/><Relationship Id="rId36" Type="http://schemas.openxmlformats.org/officeDocument/2006/relationships/font" Target="fonts/InterMedium-regular.fntdata"/><Relationship Id="rId17" Type="http://schemas.openxmlformats.org/officeDocument/2006/relationships/slide" Target="slides/slide11.xml"/><Relationship Id="rId39" Type="http://schemas.openxmlformats.org/officeDocument/2006/relationships/font" Target="fonts/InterMedium-boldItalic.fntdata"/><Relationship Id="rId16" Type="http://schemas.openxmlformats.org/officeDocument/2006/relationships/slide" Target="slides/slide10.xml"/><Relationship Id="rId38" Type="http://schemas.openxmlformats.org/officeDocument/2006/relationships/font" Target="fonts/InterMedium-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80975"/>
            <a:ext cx="16083275" cy="50977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3e1646bee25_0_7:notes"/>
          <p:cNvSpPr txBox="1"/>
          <p:nvPr>
            <p:ph idx="1" type="body"/>
          </p:nvPr>
        </p:nvSpPr>
        <p:spPr>
          <a:xfrm>
            <a:off x="2010410" y="5380990"/>
            <a:ext cx="16083300" cy="509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3e1646bee25_0_7:notes"/>
          <p:cNvSpPr/>
          <p:nvPr>
            <p:ph idx="2" type="sldImg"/>
          </p:nvPr>
        </p:nvSpPr>
        <p:spPr>
          <a:xfrm>
            <a:off x="3363082" y="849630"/>
            <a:ext cx="13380000" cy="4248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1646bee25_0_178:notes"/>
          <p:cNvSpPr txBox="1"/>
          <p:nvPr>
            <p:ph idx="1" type="body"/>
          </p:nvPr>
        </p:nvSpPr>
        <p:spPr>
          <a:xfrm>
            <a:off x="2010410" y="5380990"/>
            <a:ext cx="16083300" cy="509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e1646bee25_0_178:notes"/>
          <p:cNvSpPr/>
          <p:nvPr>
            <p:ph idx="2" type="sldImg"/>
          </p:nvPr>
        </p:nvSpPr>
        <p:spPr>
          <a:xfrm>
            <a:off x="3363082" y="849630"/>
            <a:ext cx="13380000" cy="4248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4: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5: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6: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6: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7: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8: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9: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9: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0: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1: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2: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2: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3:notes"/>
          <p:cNvSpPr txBox="1"/>
          <p:nvPr>
            <p:ph idx="1" type="body"/>
          </p:nvPr>
        </p:nvSpPr>
        <p:spPr>
          <a:xfrm>
            <a:off x="2010400" y="5380975"/>
            <a:ext cx="16083275" cy="50977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notes"/>
          <p:cNvSpPr/>
          <p:nvPr>
            <p:ph idx="2" type="sldImg"/>
          </p:nvPr>
        </p:nvSpPr>
        <p:spPr>
          <a:xfrm>
            <a:off x="3351350" y="849625"/>
            <a:ext cx="13403400" cy="4248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913592" y="318441"/>
            <a:ext cx="15012418" cy="149443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5900">
                <a:solidFill>
                  <a:srgbClr val="006BA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1334171" y="4383537"/>
            <a:ext cx="9324340" cy="581215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 name="Google Shape;14;p2"/>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17" name="Shape 17"/>
        <p:cNvGrpSpPr/>
        <p:nvPr/>
      </p:nvGrpSpPr>
      <p:grpSpPr>
        <a:xfrm>
          <a:off x="0" y="0"/>
          <a:ext cx="0" cy="0"/>
          <a:chOff x="0" y="0"/>
          <a:chExt cx="0" cy="0"/>
        </a:xfrm>
      </p:grpSpPr>
      <p:sp>
        <p:nvSpPr>
          <p:cNvPr id="18" name="Google Shape;18;p3"/>
          <p:cNvSpPr/>
          <p:nvPr/>
        </p:nvSpPr>
        <p:spPr>
          <a:xfrm>
            <a:off x="9298146" y="5634645"/>
            <a:ext cx="1570990" cy="0"/>
          </a:xfrm>
          <a:custGeom>
            <a:rect b="b" l="l" r="r" t="t"/>
            <a:pathLst>
              <a:path extrusionOk="0" h="120000" w="1570990">
                <a:moveTo>
                  <a:pt x="0" y="0"/>
                </a:moveTo>
                <a:lnTo>
                  <a:pt x="1570632" y="0"/>
                </a:lnTo>
              </a:path>
            </a:pathLst>
          </a:custGeom>
          <a:noFill/>
          <a:ln cap="flat" cmpd="sng" w="54950">
            <a:solidFill>
              <a:srgbClr val="2893B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037618" y="3302643"/>
            <a:ext cx="9927590" cy="1400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5900">
                <a:solidFill>
                  <a:srgbClr val="006BA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 type="subTitle"/>
          </p:nvPr>
        </p:nvSpPr>
        <p:spPr>
          <a:xfrm>
            <a:off x="3194804" y="6394173"/>
            <a:ext cx="13714490" cy="12192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4"/>
          <p:cNvSpPr txBox="1"/>
          <p:nvPr>
            <p:ph type="title"/>
          </p:nvPr>
        </p:nvSpPr>
        <p:spPr>
          <a:xfrm>
            <a:off x="913592" y="318441"/>
            <a:ext cx="15012418" cy="149443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5900">
                <a:solidFill>
                  <a:srgbClr val="006BA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body"/>
          </p:nvPr>
        </p:nvSpPr>
        <p:spPr>
          <a:xfrm>
            <a:off x="1558285" y="3254216"/>
            <a:ext cx="7305040" cy="615251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4600">
                <a:solidFill>
                  <a:srgbClr val="FF3D36"/>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4"/>
          <p:cNvSpPr txBox="1"/>
          <p:nvPr>
            <p:ph idx="2" type="body"/>
          </p:nvPr>
        </p:nvSpPr>
        <p:spPr>
          <a:xfrm>
            <a:off x="11158370" y="3254216"/>
            <a:ext cx="7178675" cy="615251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4600">
                <a:solidFill>
                  <a:srgbClr val="15BC83"/>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4"/>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5"/>
          <p:cNvSpPr txBox="1"/>
          <p:nvPr>
            <p:ph type="title"/>
          </p:nvPr>
        </p:nvSpPr>
        <p:spPr>
          <a:xfrm>
            <a:off x="913592" y="318441"/>
            <a:ext cx="15012418" cy="149443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5900">
                <a:solidFill>
                  <a:srgbClr val="006BA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6"/>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40" name="Shape 40"/>
        <p:cNvGrpSpPr/>
        <p:nvPr/>
      </p:nvGrpSpPr>
      <p:grpSpPr>
        <a:xfrm>
          <a:off x="0" y="0"/>
          <a:ext cx="0" cy="0"/>
          <a:chOff x="0" y="0"/>
          <a:chExt cx="0" cy="0"/>
        </a:xfrm>
      </p:grpSpPr>
      <p:sp>
        <p:nvSpPr>
          <p:cNvPr id="41" name="Google Shape;41;p7"/>
          <p:cNvSpPr txBox="1"/>
          <p:nvPr>
            <p:ph idx="10" type="dt"/>
          </p:nvPr>
        </p:nvSpPr>
        <p:spPr>
          <a:xfrm>
            <a:off x="753904" y="10499749"/>
            <a:ext cx="3518100" cy="603000"/>
          </a:xfrm>
          <a:prstGeom prst="rect">
            <a:avLst/>
          </a:prstGeom>
          <a:noFill/>
          <a:ln>
            <a:noFill/>
          </a:ln>
        </p:spPr>
        <p:txBody>
          <a:bodyPr anchorCtr="0" anchor="ctr" bIns="75400" lIns="150850" spcFirstLastPara="1" rIns="150850" wrap="square" tIns="7540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1" type="ftr"/>
          </p:nvPr>
        </p:nvSpPr>
        <p:spPr>
          <a:xfrm>
            <a:off x="5151676" y="10499749"/>
            <a:ext cx="4774800" cy="603000"/>
          </a:xfrm>
          <a:prstGeom prst="rect">
            <a:avLst/>
          </a:prstGeom>
          <a:noFill/>
          <a:ln>
            <a:noFill/>
          </a:ln>
        </p:spPr>
        <p:txBody>
          <a:bodyPr anchorCtr="0" anchor="ctr" bIns="75400" lIns="150850" spcFirstLastPara="1" rIns="150850" wrap="square" tIns="7540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2" type="sldNum"/>
          </p:nvPr>
        </p:nvSpPr>
        <p:spPr>
          <a:xfrm>
            <a:off x="10805954" y="10499749"/>
            <a:ext cx="3518100" cy="429300"/>
          </a:xfrm>
          <a:prstGeom prst="rect">
            <a:avLst/>
          </a:prstGeom>
          <a:noFill/>
          <a:ln>
            <a:noFill/>
          </a:ln>
        </p:spPr>
        <p:txBody>
          <a:bodyPr anchorCtr="0" anchor="ctr" bIns="75400" lIns="150850" spcFirstLastPara="1" rIns="150850" wrap="square" tIns="754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913592" y="318441"/>
            <a:ext cx="15012418" cy="1494433"/>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5900" u="none" cap="none" strike="noStrike">
                <a:solidFill>
                  <a:srgbClr val="006B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1334171" y="4383537"/>
            <a:ext cx="9324340" cy="581215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18.png"/><Relationship Id="rId11" Type="http://schemas.openxmlformats.org/officeDocument/2006/relationships/image" Target="../media/image10.png"/><Relationship Id="rId10" Type="http://schemas.openxmlformats.org/officeDocument/2006/relationships/image" Target="../media/image7.png"/><Relationship Id="rId13" Type="http://schemas.openxmlformats.org/officeDocument/2006/relationships/image" Target="../media/image14.png"/><Relationship Id="rId12" Type="http://schemas.openxmlformats.org/officeDocument/2006/relationships/image" Target="../media/image9.png"/><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6.png"/><Relationship Id="rId15" Type="http://schemas.openxmlformats.org/officeDocument/2006/relationships/image" Target="../media/image12.png"/><Relationship Id="rId14" Type="http://schemas.openxmlformats.org/officeDocument/2006/relationships/image" Target="../media/image11.png"/><Relationship Id="rId17" Type="http://schemas.openxmlformats.org/officeDocument/2006/relationships/image" Target="../media/image13.png"/><Relationship Id="rId16" Type="http://schemas.openxmlformats.org/officeDocument/2006/relationships/image" Target="../media/image16.png"/><Relationship Id="rId5" Type="http://schemas.openxmlformats.org/officeDocument/2006/relationships/image" Target="../media/image3.png"/><Relationship Id="rId19" Type="http://schemas.openxmlformats.org/officeDocument/2006/relationships/image" Target="../media/image17.png"/><Relationship Id="rId6" Type="http://schemas.openxmlformats.org/officeDocument/2006/relationships/image" Target="../media/image8.png"/><Relationship Id="rId18" Type="http://schemas.openxmlformats.org/officeDocument/2006/relationships/image" Target="../media/image15.png"/><Relationship Id="rId7" Type="http://schemas.openxmlformats.org/officeDocument/2006/relationships/image" Target="../media/image4.png"/><Relationship Id="rId8" Type="http://schemas.openxmlformats.org/officeDocument/2006/relationships/image" Target="../media/image5.png"/></Relationships>
</file>

<file path=ppt/slides/_rels/slide2.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7.png"/><Relationship Id="rId13" Type="http://schemas.openxmlformats.org/officeDocument/2006/relationships/image" Target="../media/image14.png"/><Relationship Id="rId12" Type="http://schemas.openxmlformats.org/officeDocument/2006/relationships/image" Target="../media/image9.png"/><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23.png"/><Relationship Id="rId9" Type="http://schemas.openxmlformats.org/officeDocument/2006/relationships/image" Target="../media/image6.png"/><Relationship Id="rId15" Type="http://schemas.openxmlformats.org/officeDocument/2006/relationships/image" Target="../media/image12.png"/><Relationship Id="rId14" Type="http://schemas.openxmlformats.org/officeDocument/2006/relationships/image" Target="../media/image11.png"/><Relationship Id="rId17" Type="http://schemas.openxmlformats.org/officeDocument/2006/relationships/image" Target="../media/image15.png"/><Relationship Id="rId16" Type="http://schemas.openxmlformats.org/officeDocument/2006/relationships/image" Target="../media/image16.png"/><Relationship Id="rId5" Type="http://schemas.openxmlformats.org/officeDocument/2006/relationships/image" Target="../media/image3.png"/><Relationship Id="rId19" Type="http://schemas.openxmlformats.org/officeDocument/2006/relationships/image" Target="../media/image13.png"/><Relationship Id="rId6" Type="http://schemas.openxmlformats.org/officeDocument/2006/relationships/image" Target="../media/image8.png"/><Relationship Id="rId18" Type="http://schemas.openxmlformats.org/officeDocument/2006/relationships/image" Target="../media/image17.png"/><Relationship Id="rId7" Type="http://schemas.openxmlformats.org/officeDocument/2006/relationships/image" Target="../media/image4.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jpg"/><Relationship Id="rId4" Type="http://schemas.openxmlformats.org/officeDocument/2006/relationships/image" Target="../media/image24.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42.png"/><Relationship Id="rId6" Type="http://schemas.openxmlformats.org/officeDocument/2006/relationships/image" Target="../media/image37.png"/><Relationship Id="rId7"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1.jpg"/><Relationship Id="rId4" Type="http://schemas.openxmlformats.org/officeDocument/2006/relationships/image" Target="../media/image39.jpg"/><Relationship Id="rId5" Type="http://schemas.openxmlformats.org/officeDocument/2006/relationships/image" Target="../media/image3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pic>
        <p:nvPicPr>
          <p:cNvPr descr="image.png" id="48" name="Google Shape;48;p8"/>
          <p:cNvPicPr preferRelativeResize="0"/>
          <p:nvPr/>
        </p:nvPicPr>
        <p:blipFill rotWithShape="1">
          <a:blip r:embed="rId3">
            <a:alphaModFix/>
          </a:blip>
          <a:srcRect b="0" l="0" r="0" t="0"/>
          <a:stretch/>
        </p:blipFill>
        <p:spPr>
          <a:xfrm>
            <a:off x="0" y="0"/>
            <a:ext cx="20104099" cy="11308556"/>
          </a:xfrm>
          <a:prstGeom prst="rect">
            <a:avLst/>
          </a:prstGeom>
          <a:noFill/>
          <a:ln>
            <a:noFill/>
          </a:ln>
        </p:spPr>
      </p:pic>
      <p:pic>
        <p:nvPicPr>
          <p:cNvPr descr="image.png" id="49" name="Google Shape;49;p8"/>
          <p:cNvPicPr preferRelativeResize="0"/>
          <p:nvPr/>
        </p:nvPicPr>
        <p:blipFill rotWithShape="1">
          <a:blip r:embed="rId4">
            <a:alphaModFix/>
          </a:blip>
          <a:srcRect b="0" l="0" r="0" t="0"/>
          <a:stretch/>
        </p:blipFill>
        <p:spPr>
          <a:xfrm>
            <a:off x="0" y="0"/>
            <a:ext cx="20104099" cy="15124702"/>
          </a:xfrm>
          <a:prstGeom prst="rect">
            <a:avLst/>
          </a:prstGeom>
          <a:noFill/>
          <a:ln>
            <a:noFill/>
          </a:ln>
        </p:spPr>
      </p:pic>
      <p:pic>
        <p:nvPicPr>
          <p:cNvPr descr="image.png" id="50" name="Google Shape;50;p8"/>
          <p:cNvPicPr preferRelativeResize="0"/>
          <p:nvPr/>
        </p:nvPicPr>
        <p:blipFill rotWithShape="1">
          <a:blip r:embed="rId5">
            <a:alphaModFix/>
          </a:blip>
          <a:srcRect b="0" l="0" r="0" t="0"/>
          <a:stretch/>
        </p:blipFill>
        <p:spPr>
          <a:xfrm>
            <a:off x="0" y="15151243"/>
            <a:ext cx="20104099" cy="3816147"/>
          </a:xfrm>
          <a:prstGeom prst="rect">
            <a:avLst/>
          </a:prstGeom>
          <a:noFill/>
          <a:ln>
            <a:noFill/>
          </a:ln>
        </p:spPr>
      </p:pic>
      <p:pic>
        <p:nvPicPr>
          <p:cNvPr descr="image.png" id="51" name="Google Shape;51;p8"/>
          <p:cNvPicPr preferRelativeResize="0"/>
          <p:nvPr/>
        </p:nvPicPr>
        <p:blipFill rotWithShape="1">
          <a:blip r:embed="rId5">
            <a:alphaModFix/>
          </a:blip>
          <a:srcRect b="0" l="0" r="0" t="0"/>
          <a:stretch/>
        </p:blipFill>
        <p:spPr>
          <a:xfrm>
            <a:off x="0" y="18974085"/>
            <a:ext cx="20104099" cy="3816147"/>
          </a:xfrm>
          <a:prstGeom prst="rect">
            <a:avLst/>
          </a:prstGeom>
          <a:noFill/>
          <a:ln>
            <a:noFill/>
          </a:ln>
        </p:spPr>
      </p:pic>
      <p:pic>
        <p:nvPicPr>
          <p:cNvPr descr="image.png" id="52" name="Google Shape;52;p8"/>
          <p:cNvPicPr preferRelativeResize="0"/>
          <p:nvPr/>
        </p:nvPicPr>
        <p:blipFill rotWithShape="1">
          <a:blip r:embed="rId5">
            <a:alphaModFix/>
          </a:blip>
          <a:srcRect b="0" l="0" r="0" t="0"/>
          <a:stretch/>
        </p:blipFill>
        <p:spPr>
          <a:xfrm>
            <a:off x="0" y="22796930"/>
            <a:ext cx="20104099" cy="3816147"/>
          </a:xfrm>
          <a:prstGeom prst="rect">
            <a:avLst/>
          </a:prstGeom>
          <a:noFill/>
          <a:ln>
            <a:noFill/>
          </a:ln>
        </p:spPr>
      </p:pic>
      <p:pic>
        <p:nvPicPr>
          <p:cNvPr descr="image.png" id="53" name="Google Shape;53;p8"/>
          <p:cNvPicPr preferRelativeResize="0"/>
          <p:nvPr/>
        </p:nvPicPr>
        <p:blipFill rotWithShape="1">
          <a:blip r:embed="rId5">
            <a:alphaModFix/>
          </a:blip>
          <a:srcRect b="0" l="0" r="0" t="0"/>
          <a:stretch/>
        </p:blipFill>
        <p:spPr>
          <a:xfrm>
            <a:off x="0" y="26619773"/>
            <a:ext cx="20104099" cy="3816147"/>
          </a:xfrm>
          <a:prstGeom prst="rect">
            <a:avLst/>
          </a:prstGeom>
          <a:noFill/>
          <a:ln>
            <a:noFill/>
          </a:ln>
        </p:spPr>
      </p:pic>
      <p:pic>
        <p:nvPicPr>
          <p:cNvPr descr="image.png" id="54" name="Google Shape;54;p8"/>
          <p:cNvPicPr preferRelativeResize="0"/>
          <p:nvPr/>
        </p:nvPicPr>
        <p:blipFill rotWithShape="1">
          <a:blip r:embed="rId5">
            <a:alphaModFix/>
          </a:blip>
          <a:srcRect b="0" l="0" r="0" t="0"/>
          <a:stretch/>
        </p:blipFill>
        <p:spPr>
          <a:xfrm>
            <a:off x="0" y="30442615"/>
            <a:ext cx="20104099" cy="3816147"/>
          </a:xfrm>
          <a:prstGeom prst="rect">
            <a:avLst/>
          </a:prstGeom>
          <a:noFill/>
          <a:ln>
            <a:noFill/>
          </a:ln>
        </p:spPr>
      </p:pic>
      <p:pic>
        <p:nvPicPr>
          <p:cNvPr descr="image.png" id="55" name="Google Shape;55;p8"/>
          <p:cNvPicPr preferRelativeResize="0"/>
          <p:nvPr/>
        </p:nvPicPr>
        <p:blipFill rotWithShape="1">
          <a:blip r:embed="rId6">
            <a:alphaModFix/>
          </a:blip>
          <a:srcRect b="0" l="0" r="0" t="0"/>
          <a:stretch/>
        </p:blipFill>
        <p:spPr>
          <a:xfrm>
            <a:off x="0" y="34265460"/>
            <a:ext cx="20104099" cy="4218129"/>
          </a:xfrm>
          <a:prstGeom prst="rect">
            <a:avLst/>
          </a:prstGeom>
          <a:noFill/>
          <a:ln>
            <a:noFill/>
          </a:ln>
        </p:spPr>
      </p:pic>
      <p:pic>
        <p:nvPicPr>
          <p:cNvPr descr="image.png" id="56" name="Google Shape;56;p8"/>
          <p:cNvPicPr preferRelativeResize="0"/>
          <p:nvPr/>
        </p:nvPicPr>
        <p:blipFill rotWithShape="1">
          <a:blip r:embed="rId7">
            <a:alphaModFix/>
          </a:blip>
          <a:srcRect b="0" l="0" r="0" t="0"/>
          <a:stretch/>
        </p:blipFill>
        <p:spPr>
          <a:xfrm>
            <a:off x="0" y="38490991"/>
            <a:ext cx="20104099" cy="3816147"/>
          </a:xfrm>
          <a:prstGeom prst="rect">
            <a:avLst/>
          </a:prstGeom>
          <a:noFill/>
          <a:ln>
            <a:noFill/>
          </a:ln>
        </p:spPr>
      </p:pic>
      <p:pic>
        <p:nvPicPr>
          <p:cNvPr descr="image.png" id="57" name="Google Shape;57;p8"/>
          <p:cNvPicPr preferRelativeResize="0"/>
          <p:nvPr/>
        </p:nvPicPr>
        <p:blipFill rotWithShape="1">
          <a:blip r:embed="rId8">
            <a:alphaModFix/>
          </a:blip>
          <a:srcRect b="0" l="0" r="0" t="0"/>
          <a:stretch/>
        </p:blipFill>
        <p:spPr>
          <a:xfrm>
            <a:off x="0" y="42313835"/>
            <a:ext cx="20104099" cy="3816147"/>
          </a:xfrm>
          <a:prstGeom prst="rect">
            <a:avLst/>
          </a:prstGeom>
          <a:noFill/>
          <a:ln>
            <a:noFill/>
          </a:ln>
        </p:spPr>
      </p:pic>
      <p:pic>
        <p:nvPicPr>
          <p:cNvPr descr="image.png" id="58" name="Google Shape;58;p8"/>
          <p:cNvPicPr preferRelativeResize="0"/>
          <p:nvPr/>
        </p:nvPicPr>
        <p:blipFill rotWithShape="1">
          <a:blip r:embed="rId7">
            <a:alphaModFix/>
          </a:blip>
          <a:srcRect b="0" l="0" r="0" t="0"/>
          <a:stretch/>
        </p:blipFill>
        <p:spPr>
          <a:xfrm>
            <a:off x="0" y="46136678"/>
            <a:ext cx="20104099" cy="3816147"/>
          </a:xfrm>
          <a:prstGeom prst="rect">
            <a:avLst/>
          </a:prstGeom>
          <a:noFill/>
          <a:ln>
            <a:noFill/>
          </a:ln>
        </p:spPr>
      </p:pic>
      <p:pic>
        <p:nvPicPr>
          <p:cNvPr descr="image.png" id="59" name="Google Shape;59;p8"/>
          <p:cNvPicPr preferRelativeResize="0"/>
          <p:nvPr/>
        </p:nvPicPr>
        <p:blipFill rotWithShape="1">
          <a:blip r:embed="rId9">
            <a:alphaModFix/>
          </a:blip>
          <a:srcRect b="0" l="0" r="0" t="0"/>
          <a:stretch/>
        </p:blipFill>
        <p:spPr>
          <a:xfrm>
            <a:off x="0" y="49959521"/>
            <a:ext cx="20104099" cy="4620114"/>
          </a:xfrm>
          <a:prstGeom prst="rect">
            <a:avLst/>
          </a:prstGeom>
          <a:noFill/>
          <a:ln>
            <a:noFill/>
          </a:ln>
        </p:spPr>
      </p:pic>
      <p:pic>
        <p:nvPicPr>
          <p:cNvPr descr="image.png" id="60" name="Google Shape;60;p8"/>
          <p:cNvPicPr preferRelativeResize="0"/>
          <p:nvPr/>
        </p:nvPicPr>
        <p:blipFill rotWithShape="1">
          <a:blip r:embed="rId10">
            <a:alphaModFix/>
          </a:blip>
          <a:srcRect b="0" l="0" r="0" t="0"/>
          <a:stretch/>
        </p:blipFill>
        <p:spPr>
          <a:xfrm>
            <a:off x="0" y="54587744"/>
            <a:ext cx="20104099" cy="4218129"/>
          </a:xfrm>
          <a:prstGeom prst="rect">
            <a:avLst/>
          </a:prstGeom>
          <a:noFill/>
          <a:ln>
            <a:noFill/>
          </a:ln>
        </p:spPr>
      </p:pic>
      <p:pic>
        <p:nvPicPr>
          <p:cNvPr descr="image.png" id="61" name="Google Shape;61;p8"/>
          <p:cNvPicPr preferRelativeResize="0"/>
          <p:nvPr/>
        </p:nvPicPr>
        <p:blipFill rotWithShape="1">
          <a:blip r:embed="rId10">
            <a:alphaModFix/>
          </a:blip>
          <a:srcRect b="0" l="0" r="0" t="0"/>
          <a:stretch/>
        </p:blipFill>
        <p:spPr>
          <a:xfrm>
            <a:off x="0" y="58813277"/>
            <a:ext cx="20104099" cy="4218129"/>
          </a:xfrm>
          <a:prstGeom prst="rect">
            <a:avLst/>
          </a:prstGeom>
          <a:noFill/>
          <a:ln>
            <a:noFill/>
          </a:ln>
        </p:spPr>
      </p:pic>
      <p:pic>
        <p:nvPicPr>
          <p:cNvPr descr="image.png" id="62" name="Google Shape;62;p8"/>
          <p:cNvPicPr preferRelativeResize="0"/>
          <p:nvPr/>
        </p:nvPicPr>
        <p:blipFill rotWithShape="1">
          <a:blip r:embed="rId11">
            <a:alphaModFix/>
          </a:blip>
          <a:srcRect b="0" l="0" r="0" t="0"/>
          <a:stretch/>
        </p:blipFill>
        <p:spPr>
          <a:xfrm>
            <a:off x="0" y="11328400"/>
            <a:ext cx="20104099" cy="3816146"/>
          </a:xfrm>
          <a:prstGeom prst="rect">
            <a:avLst/>
          </a:prstGeom>
          <a:noFill/>
          <a:ln>
            <a:noFill/>
          </a:ln>
        </p:spPr>
      </p:pic>
      <p:pic>
        <p:nvPicPr>
          <p:cNvPr descr="image.png" id="63" name="Google Shape;63;p8"/>
          <p:cNvPicPr preferRelativeResize="0"/>
          <p:nvPr/>
        </p:nvPicPr>
        <p:blipFill rotWithShape="1">
          <a:blip r:embed="rId12">
            <a:alphaModFix/>
          </a:blip>
          <a:srcRect b="0" l="0" r="0" t="0"/>
          <a:stretch/>
        </p:blipFill>
        <p:spPr>
          <a:xfrm>
            <a:off x="0" y="15151243"/>
            <a:ext cx="20104099" cy="3816147"/>
          </a:xfrm>
          <a:prstGeom prst="rect">
            <a:avLst/>
          </a:prstGeom>
          <a:noFill/>
          <a:ln>
            <a:noFill/>
          </a:ln>
        </p:spPr>
      </p:pic>
      <p:pic>
        <p:nvPicPr>
          <p:cNvPr descr="image.png" id="64" name="Google Shape;64;p8"/>
          <p:cNvPicPr preferRelativeResize="0"/>
          <p:nvPr/>
        </p:nvPicPr>
        <p:blipFill rotWithShape="1">
          <a:blip r:embed="rId12">
            <a:alphaModFix/>
          </a:blip>
          <a:srcRect b="0" l="0" r="0" t="0"/>
          <a:stretch/>
        </p:blipFill>
        <p:spPr>
          <a:xfrm>
            <a:off x="0" y="18974085"/>
            <a:ext cx="20104099" cy="3816147"/>
          </a:xfrm>
          <a:prstGeom prst="rect">
            <a:avLst/>
          </a:prstGeom>
          <a:noFill/>
          <a:ln>
            <a:noFill/>
          </a:ln>
        </p:spPr>
      </p:pic>
      <p:pic>
        <p:nvPicPr>
          <p:cNvPr descr="image.png" id="65" name="Google Shape;65;p8"/>
          <p:cNvPicPr preferRelativeResize="0"/>
          <p:nvPr/>
        </p:nvPicPr>
        <p:blipFill rotWithShape="1">
          <a:blip r:embed="rId12">
            <a:alphaModFix/>
          </a:blip>
          <a:srcRect b="0" l="0" r="0" t="0"/>
          <a:stretch/>
        </p:blipFill>
        <p:spPr>
          <a:xfrm>
            <a:off x="0" y="22796930"/>
            <a:ext cx="20104099" cy="3816147"/>
          </a:xfrm>
          <a:prstGeom prst="rect">
            <a:avLst/>
          </a:prstGeom>
          <a:noFill/>
          <a:ln>
            <a:noFill/>
          </a:ln>
        </p:spPr>
      </p:pic>
      <p:pic>
        <p:nvPicPr>
          <p:cNvPr descr="image.png" id="66" name="Google Shape;66;p8"/>
          <p:cNvPicPr preferRelativeResize="0"/>
          <p:nvPr/>
        </p:nvPicPr>
        <p:blipFill rotWithShape="1">
          <a:blip r:embed="rId12">
            <a:alphaModFix/>
          </a:blip>
          <a:srcRect b="0" l="0" r="0" t="0"/>
          <a:stretch/>
        </p:blipFill>
        <p:spPr>
          <a:xfrm>
            <a:off x="0" y="26619773"/>
            <a:ext cx="20104099" cy="3816147"/>
          </a:xfrm>
          <a:prstGeom prst="rect">
            <a:avLst/>
          </a:prstGeom>
          <a:noFill/>
          <a:ln>
            <a:noFill/>
          </a:ln>
        </p:spPr>
      </p:pic>
      <p:pic>
        <p:nvPicPr>
          <p:cNvPr descr="image.png" id="67" name="Google Shape;67;p8"/>
          <p:cNvPicPr preferRelativeResize="0"/>
          <p:nvPr/>
        </p:nvPicPr>
        <p:blipFill rotWithShape="1">
          <a:blip r:embed="rId12">
            <a:alphaModFix/>
          </a:blip>
          <a:srcRect b="0" l="0" r="0" t="0"/>
          <a:stretch/>
        </p:blipFill>
        <p:spPr>
          <a:xfrm>
            <a:off x="0" y="30442615"/>
            <a:ext cx="20104099" cy="3816147"/>
          </a:xfrm>
          <a:prstGeom prst="rect">
            <a:avLst/>
          </a:prstGeom>
          <a:noFill/>
          <a:ln>
            <a:noFill/>
          </a:ln>
        </p:spPr>
      </p:pic>
      <p:pic>
        <p:nvPicPr>
          <p:cNvPr descr="image.png" id="68" name="Google Shape;68;p8"/>
          <p:cNvPicPr preferRelativeResize="0"/>
          <p:nvPr/>
        </p:nvPicPr>
        <p:blipFill rotWithShape="1">
          <a:blip r:embed="rId13">
            <a:alphaModFix/>
          </a:blip>
          <a:srcRect b="0" l="0" r="0" t="0"/>
          <a:stretch/>
        </p:blipFill>
        <p:spPr>
          <a:xfrm>
            <a:off x="0" y="34265460"/>
            <a:ext cx="20104099" cy="4218129"/>
          </a:xfrm>
          <a:prstGeom prst="rect">
            <a:avLst/>
          </a:prstGeom>
          <a:noFill/>
          <a:ln>
            <a:noFill/>
          </a:ln>
        </p:spPr>
      </p:pic>
      <p:pic>
        <p:nvPicPr>
          <p:cNvPr descr="image.png" id="69" name="Google Shape;69;p8"/>
          <p:cNvPicPr preferRelativeResize="0"/>
          <p:nvPr/>
        </p:nvPicPr>
        <p:blipFill rotWithShape="1">
          <a:blip r:embed="rId14">
            <a:alphaModFix/>
          </a:blip>
          <a:srcRect b="0" l="0" r="0" t="0"/>
          <a:stretch/>
        </p:blipFill>
        <p:spPr>
          <a:xfrm>
            <a:off x="0" y="38490991"/>
            <a:ext cx="20104099" cy="3816147"/>
          </a:xfrm>
          <a:prstGeom prst="rect">
            <a:avLst/>
          </a:prstGeom>
          <a:noFill/>
          <a:ln>
            <a:noFill/>
          </a:ln>
        </p:spPr>
      </p:pic>
      <p:pic>
        <p:nvPicPr>
          <p:cNvPr descr="image.png" id="70" name="Google Shape;70;p8"/>
          <p:cNvPicPr preferRelativeResize="0"/>
          <p:nvPr/>
        </p:nvPicPr>
        <p:blipFill rotWithShape="1">
          <a:blip r:embed="rId14">
            <a:alphaModFix/>
          </a:blip>
          <a:srcRect b="0" l="0" r="0" t="0"/>
          <a:stretch/>
        </p:blipFill>
        <p:spPr>
          <a:xfrm>
            <a:off x="0" y="42313835"/>
            <a:ext cx="20104099" cy="3816147"/>
          </a:xfrm>
          <a:prstGeom prst="rect">
            <a:avLst/>
          </a:prstGeom>
          <a:noFill/>
          <a:ln>
            <a:noFill/>
          </a:ln>
        </p:spPr>
      </p:pic>
      <p:pic>
        <p:nvPicPr>
          <p:cNvPr descr="image.png" id="71" name="Google Shape;71;p8"/>
          <p:cNvPicPr preferRelativeResize="0"/>
          <p:nvPr/>
        </p:nvPicPr>
        <p:blipFill rotWithShape="1">
          <a:blip r:embed="rId14">
            <a:alphaModFix/>
          </a:blip>
          <a:srcRect b="0" l="0" r="0" t="0"/>
          <a:stretch/>
        </p:blipFill>
        <p:spPr>
          <a:xfrm>
            <a:off x="0" y="46136678"/>
            <a:ext cx="20104099" cy="3816147"/>
          </a:xfrm>
          <a:prstGeom prst="rect">
            <a:avLst/>
          </a:prstGeom>
          <a:noFill/>
          <a:ln>
            <a:noFill/>
          </a:ln>
        </p:spPr>
      </p:pic>
      <p:pic>
        <p:nvPicPr>
          <p:cNvPr descr="image.png" id="72" name="Google Shape;72;p8"/>
          <p:cNvPicPr preferRelativeResize="0"/>
          <p:nvPr/>
        </p:nvPicPr>
        <p:blipFill rotWithShape="1">
          <a:blip r:embed="rId15">
            <a:alphaModFix/>
          </a:blip>
          <a:srcRect b="0" l="0" r="0" t="0"/>
          <a:stretch/>
        </p:blipFill>
        <p:spPr>
          <a:xfrm>
            <a:off x="0" y="49959521"/>
            <a:ext cx="20104099" cy="4620114"/>
          </a:xfrm>
          <a:prstGeom prst="rect">
            <a:avLst/>
          </a:prstGeom>
          <a:noFill/>
          <a:ln>
            <a:noFill/>
          </a:ln>
        </p:spPr>
      </p:pic>
      <p:pic>
        <p:nvPicPr>
          <p:cNvPr descr="image.png" id="73" name="Google Shape;73;p8"/>
          <p:cNvPicPr preferRelativeResize="0"/>
          <p:nvPr/>
        </p:nvPicPr>
        <p:blipFill rotWithShape="1">
          <a:blip r:embed="rId16">
            <a:alphaModFix/>
          </a:blip>
          <a:srcRect b="0" l="0" r="0" t="0"/>
          <a:stretch/>
        </p:blipFill>
        <p:spPr>
          <a:xfrm>
            <a:off x="0" y="54587744"/>
            <a:ext cx="20104099" cy="4218129"/>
          </a:xfrm>
          <a:prstGeom prst="rect">
            <a:avLst/>
          </a:prstGeom>
          <a:noFill/>
          <a:ln>
            <a:noFill/>
          </a:ln>
        </p:spPr>
      </p:pic>
      <p:pic>
        <p:nvPicPr>
          <p:cNvPr descr="image.png" id="74" name="Google Shape;74;p8"/>
          <p:cNvPicPr preferRelativeResize="0"/>
          <p:nvPr/>
        </p:nvPicPr>
        <p:blipFill rotWithShape="1">
          <a:blip r:embed="rId16">
            <a:alphaModFix/>
          </a:blip>
          <a:srcRect b="0" l="0" r="0" t="0"/>
          <a:stretch/>
        </p:blipFill>
        <p:spPr>
          <a:xfrm>
            <a:off x="0" y="58813277"/>
            <a:ext cx="20104099" cy="4218129"/>
          </a:xfrm>
          <a:prstGeom prst="rect">
            <a:avLst/>
          </a:prstGeom>
          <a:noFill/>
          <a:ln>
            <a:noFill/>
          </a:ln>
        </p:spPr>
      </p:pic>
      <p:sp>
        <p:nvSpPr>
          <p:cNvPr id="75" name="Google Shape;75;p8"/>
          <p:cNvSpPr txBox="1"/>
          <p:nvPr/>
        </p:nvSpPr>
        <p:spPr>
          <a:xfrm>
            <a:off x="1335038" y="11863352"/>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76" name="Google Shape;76;p8"/>
          <p:cNvSpPr txBox="1"/>
          <p:nvPr/>
        </p:nvSpPr>
        <p:spPr>
          <a:xfrm>
            <a:off x="942380" y="12753791"/>
            <a:ext cx="18219300" cy="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Bonjour à tous et merci d'être présents pour cette soutenance. Aujourd'hui, je vais vous présenter mon projet "News Data Pipeline".</a:t>
            </a:r>
            <a:endParaRPr sz="2300"/>
          </a:p>
        </p:txBody>
      </p:sp>
      <p:sp>
        <p:nvSpPr>
          <p:cNvPr id="77" name="Google Shape;77;p8"/>
          <p:cNvSpPr txBox="1"/>
          <p:nvPr/>
        </p:nvSpPr>
        <p:spPr>
          <a:xfrm>
            <a:off x="942380" y="13313819"/>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Il s'agit d'un pipeline d'ingénierie de données complet, conçu de bout en bout, qui illustre l'extraction de données non structurées, leur traitement en streaming, et leur consolidation dans un Data Warehouse final. Mon objectif a été d'implémenter les standards de l'industrie, notamment l'architecture Medallion, tout en maîtrisant une stack technologique robuste.</a:t>
            </a:r>
            <a:endParaRPr sz="2300"/>
          </a:p>
        </p:txBody>
      </p:sp>
      <p:sp>
        <p:nvSpPr>
          <p:cNvPr id="78" name="Google Shape;78;p8"/>
          <p:cNvSpPr txBox="1"/>
          <p:nvPr/>
        </p:nvSpPr>
        <p:spPr>
          <a:xfrm>
            <a:off x="1335038" y="15686195"/>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79" name="Google Shape;79;p8"/>
          <p:cNvSpPr txBox="1"/>
          <p:nvPr/>
        </p:nvSpPr>
        <p:spPr>
          <a:xfrm>
            <a:off x="942380" y="16576634"/>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Pour situer le contexte : nous sommes aujourd'hui noyés sous des flux constants d'articles d'actualité provenant de multiples sources avec des formats très hétérogènes.</a:t>
            </a:r>
            <a:endParaRPr sz="2300"/>
          </a:p>
        </p:txBody>
      </p:sp>
      <p:sp>
        <p:nvSpPr>
          <p:cNvPr id="80" name="Google Shape;80;p8"/>
          <p:cNvSpPr txBox="1"/>
          <p:nvPr/>
        </p:nvSpPr>
        <p:spPr>
          <a:xfrm>
            <a:off x="942380" y="17136663"/>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L'objectif de ce projet était de créer un système capable de : 1) Collecter ces données en continu depuis des sites comme BBC ou Hespress. 2) Assurer un traitement asynchrone et résilient pour ne perdre aucune donnée. 3) Nettoyer et transformer ces données textuelles pour en extraire de la valeur (mots-clés, tendances). 4) Fournir un modèle de données propre, prêt à être consommé par des analystes BI.</a:t>
            </a:r>
            <a:endParaRPr sz="2300"/>
          </a:p>
        </p:txBody>
      </p:sp>
      <p:sp>
        <p:nvSpPr>
          <p:cNvPr id="81" name="Google Shape;81;p8"/>
          <p:cNvSpPr txBox="1"/>
          <p:nvPr/>
        </p:nvSpPr>
        <p:spPr>
          <a:xfrm>
            <a:off x="1335038" y="19509038"/>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82" name="Google Shape;82;p8"/>
          <p:cNvSpPr txBox="1"/>
          <p:nvPr/>
        </p:nvSpPr>
        <p:spPr>
          <a:xfrm>
            <a:off x="942380" y="20399478"/>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Voici la vue d'ensemble de l'architecture. J'ai conçu ce pipeline autour de technologies open-source très demandées sur le marché.</a:t>
            </a:r>
            <a:endParaRPr sz="2300"/>
          </a:p>
        </p:txBody>
      </p:sp>
      <p:sp>
        <p:nvSpPr>
          <p:cNvPr id="83" name="Google Shape;83;p8"/>
          <p:cNvSpPr txBox="1"/>
          <p:nvPr/>
        </p:nvSpPr>
        <p:spPr>
          <a:xfrm>
            <a:off x="942380" y="20959506"/>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Au cœur du système, nous avons Apache Kafka qui découple l'extraction de l'ingestion, assurant une tolérance aux pannes. Les données transitent ensuite par un Data Lake local géré via MinIO. La transformation est codée en Python (via Pandas), et le stockage final se fait dans PostgreSQL. L'ensemble de ce flux est cadencé par Apache Airflow, garantissant l'ordre d'exécution. Enfin, toute cette infrastructure est "Dockerisée", ce qui permet un déploiement instantané et reproductible.</a:t>
            </a:r>
            <a:endParaRPr sz="2300"/>
          </a:p>
        </p:txBody>
      </p:sp>
      <p:sp>
        <p:nvSpPr>
          <p:cNvPr id="84" name="Google Shape;84;p8"/>
          <p:cNvSpPr txBox="1"/>
          <p:nvPr/>
        </p:nvSpPr>
        <p:spPr>
          <a:xfrm>
            <a:off x="1335038" y="23331882"/>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85" name="Google Shape;85;p8"/>
          <p:cNvSpPr txBox="1"/>
          <p:nvPr/>
        </p:nvSpPr>
        <p:spPr>
          <a:xfrm>
            <a:off x="942380" y="2422232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La première étape est l'extraction. J'ai développé un scraper personnalisé qui navigue sur la BBC et Hespress. Pour éviter de saturer nos bases de données avec des doublons si un article reste en page d'accueil, je calcule un hash MD5 sur l'URL qui sert d'identifiant unique strict.</a:t>
            </a:r>
            <a:endParaRPr sz="2300"/>
          </a:p>
        </p:txBody>
      </p:sp>
      <p:sp>
        <p:nvSpPr>
          <p:cNvPr id="86" name="Google Shape;86;p8"/>
          <p:cNvSpPr txBox="1"/>
          <p:nvPr/>
        </p:nvSpPr>
        <p:spPr>
          <a:xfrm>
            <a:off x="942380" y="25185039"/>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Une fois extrait, l'article n'est pas écrit directement en base. Il est publié (produit) dans un topic Kafka nommé `news-topic`. Ce choix architectural est crucial : il permet au scraper de travailler très rapidement, sans attendre que la base de données réponde, et permet d'absorber les pics d'actualité.</a:t>
            </a:r>
            <a:endParaRPr sz="2300"/>
          </a:p>
        </p:txBody>
      </p:sp>
      <p:sp>
        <p:nvSpPr>
          <p:cNvPr id="87" name="Google Shape;87;p8"/>
          <p:cNvSpPr txBox="1"/>
          <p:nvPr/>
        </p:nvSpPr>
        <p:spPr>
          <a:xfrm>
            <a:off x="1335038" y="27154725"/>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88" name="Google Shape;88;p8"/>
          <p:cNvSpPr txBox="1"/>
          <p:nvPr/>
        </p:nvSpPr>
        <p:spPr>
          <a:xfrm>
            <a:off x="942380" y="28045164"/>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Pour le traitement des données, j'ai implémenté le standard industriel de l'Architecture Medallion (popularisé par Databricks).</a:t>
            </a:r>
            <a:endParaRPr sz="2300"/>
          </a:p>
        </p:txBody>
      </p:sp>
      <p:sp>
        <p:nvSpPr>
          <p:cNvPr id="89" name="Google Shape;89;p8"/>
          <p:cNvSpPr txBox="1"/>
          <p:nvPr/>
        </p:nvSpPr>
        <p:spPr>
          <a:xfrm>
            <a:off x="942380" y="28605193"/>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La couche Bronze est notre zone de "Raw Data" : on ne modifie rien, on sauvegarde tout l'historique brut. C'est notre filet de sécurité. La couche Silver est la zone de "Clean Data" : on normalise et on filtre. Enfin, la couche Gold est la zone orientée "Business" : on y trouve des données agrégées, hautement qualitatives, formatées spécifiquement pour répondre aux besoins analytiques du métier.</a:t>
            </a:r>
            <a:endParaRPr sz="2300"/>
          </a:p>
        </p:txBody>
      </p:sp>
      <p:sp>
        <p:nvSpPr>
          <p:cNvPr id="90" name="Google Shape;90;p8"/>
          <p:cNvSpPr txBox="1"/>
          <p:nvPr/>
        </p:nvSpPr>
        <p:spPr>
          <a:xfrm>
            <a:off x="1335038" y="30977568"/>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91" name="Google Shape;91;p8"/>
          <p:cNvSpPr txBox="1"/>
          <p:nvPr/>
        </p:nvSpPr>
        <p:spPr>
          <a:xfrm>
            <a:off x="942380" y="31868008"/>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Plongeons dans la couche Bronze. De l'autre côté de Kafka, un Consumer tourne en continu. Son rôle est très simple mais vital : dépiler les messages, ajouter un timestamp technique d'ingestion (`ingested_at`), et sauvegarder le tout.</a:t>
            </a:r>
            <a:endParaRPr sz="2300"/>
          </a:p>
        </p:txBody>
      </p:sp>
      <p:sp>
        <p:nvSpPr>
          <p:cNvPr id="92" name="Google Shape;92;p8"/>
          <p:cNvSpPr txBox="1"/>
          <p:nvPr/>
        </p:nvSpPr>
        <p:spPr>
          <a:xfrm>
            <a:off x="942380" y="32830726"/>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J'ai choisi MinIO comme solution de stockage. MinIO agit comme un Amazon S3 local. Il permet de stocker nos JSON sous forme de stockage objet (Object Storage), ce qui est beaucoup plus scalable et moins coûteux qu'une base de données relationnelle pour des données brutes non structurées.</a:t>
            </a:r>
            <a:endParaRPr sz="2300"/>
          </a:p>
        </p:txBody>
      </p:sp>
      <p:sp>
        <p:nvSpPr>
          <p:cNvPr id="93" name="Google Shape;93;p8"/>
          <p:cNvSpPr txBox="1"/>
          <p:nvPr/>
        </p:nvSpPr>
        <p:spPr>
          <a:xfrm>
            <a:off x="1335038" y="34800412"/>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94" name="Google Shape;94;p8"/>
          <p:cNvSpPr txBox="1"/>
          <p:nvPr/>
        </p:nvSpPr>
        <p:spPr>
          <a:xfrm>
            <a:off x="942380" y="3569085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La couche Silver est là où le "nettoyage" a lieu. J'ai développé des scripts Python dédiés. Le premier retire tout le bruit HTML restant et applique une librairie de NLP (Langdetect) pour identifier la langue de l'article, ce qui sera utile pour nos analyses par région.</a:t>
            </a:r>
            <a:endParaRPr sz="2300"/>
          </a:p>
        </p:txBody>
      </p:sp>
      <p:sp>
        <p:nvSpPr>
          <p:cNvPr id="95" name="Google Shape;95;p8"/>
          <p:cNvSpPr txBox="1"/>
          <p:nvPr/>
        </p:nvSpPr>
        <p:spPr>
          <a:xfrm>
            <a:off x="942380" y="36653568"/>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Ensuite, j'applique des règles de Data Quality. Est-ce que le titre est nul ? L'article est-il absurdement court (&lt; 50 chars) ? Au lieu d'effacer silencieusement ces données, j'applique un flag `quality_flag`. C'est une bonne pratique en ingénierie de données : on ne détruit jamais l'information, on la qualifie pour que l'analyste décide s'il l'inclut ou non dans ses rapports.</a:t>
            </a:r>
            <a:endParaRPr sz="2300"/>
          </a:p>
        </p:txBody>
      </p:sp>
      <p:sp>
        <p:nvSpPr>
          <p:cNvPr id="96" name="Google Shape;96;p8"/>
          <p:cNvSpPr txBox="1"/>
          <p:nvPr/>
        </p:nvSpPr>
        <p:spPr>
          <a:xfrm>
            <a:off x="1335038" y="39025943"/>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97" name="Google Shape;97;p8"/>
          <p:cNvSpPr txBox="1"/>
          <p:nvPr/>
        </p:nvSpPr>
        <p:spPr>
          <a:xfrm>
            <a:off x="942380" y="39916384"/>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Nous arrivons dans la couche Gold. Ici, le script Pandas prend le relais. Son but n'est plus la ligne par ligne, mais l'analyse globale.</a:t>
            </a:r>
            <a:endParaRPr sz="2300"/>
          </a:p>
        </p:txBody>
      </p:sp>
      <p:sp>
        <p:nvSpPr>
          <p:cNvPr id="98" name="Google Shape;98;p8"/>
          <p:cNvSpPr txBox="1"/>
          <p:nvPr/>
        </p:nvSpPr>
        <p:spPr>
          <a:xfrm>
            <a:off x="942380" y="4047641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Je génère des tables de faits et de dimensions. L'aspect le plus intéressant techniquement a été l'implémentation d'une petite logique NLP : je tokenise le texte, j'exclus les 'stopwords' (comme "le", "et", "the"), et je calcule la fréquence des mots. Cela nous permet de livrer un fichier CSV contenant les 20 mots-clés du jour, offrant une vision directe sur les sujets brûlants de l'actualité, prêts à être affichés dans un dashboard.</a:t>
            </a:r>
            <a:endParaRPr sz="2300"/>
          </a:p>
        </p:txBody>
      </p:sp>
      <p:sp>
        <p:nvSpPr>
          <p:cNvPr id="99" name="Google Shape;99;p8"/>
          <p:cNvSpPr txBox="1"/>
          <p:nvPr/>
        </p:nvSpPr>
        <p:spPr>
          <a:xfrm>
            <a:off x="1335038" y="42848788"/>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00" name="Google Shape;100;p8"/>
          <p:cNvSpPr txBox="1"/>
          <p:nvPr/>
        </p:nvSpPr>
        <p:spPr>
          <a:xfrm>
            <a:off x="942380" y="43739227"/>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L'étape finale du parcours de la donnée est son chargement dans le Data Warehouse. Pour ce projet, j'ai configuré une base PostgreSQL nommée `newsdw`.</a:t>
            </a:r>
            <a:endParaRPr sz="2300"/>
          </a:p>
        </p:txBody>
      </p:sp>
      <p:sp>
        <p:nvSpPr>
          <p:cNvPr id="101" name="Google Shape;101;p8"/>
          <p:cNvSpPr txBox="1"/>
          <p:nvPr/>
        </p:nvSpPr>
        <p:spPr>
          <a:xfrm>
            <a:off x="942380" y="44299256"/>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Plutôt que d'écrire des requêtes d'insertion manuelles en texte brut, j'ai intégré SQLAlchemy, un ORM Python robuste. Cela garantit la sécurité (contre les injections SQL), gère proprement les transactions et gère les types de données. À ce stade, la donnée est parfaitement structurée, indexée et prête à être consommée par les utilisateurs finaux via des requêtes SQL ultra-rapides.</a:t>
            </a:r>
            <a:endParaRPr sz="2300"/>
          </a:p>
        </p:txBody>
      </p:sp>
      <p:sp>
        <p:nvSpPr>
          <p:cNvPr id="102" name="Google Shape;102;p8"/>
          <p:cNvSpPr txBox="1"/>
          <p:nvPr/>
        </p:nvSpPr>
        <p:spPr>
          <a:xfrm>
            <a:off x="1335038" y="46671630"/>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03" name="Google Shape;103;p8"/>
          <p:cNvSpPr txBox="1"/>
          <p:nvPr/>
        </p:nvSpPr>
        <p:spPr>
          <a:xfrm>
            <a:off x="942380" y="4756207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Un pipeline n'a aucune valeur s'il doit être lancé à la main. J'ai donc déployé Apache Airflow pour orchestrer tout cela. J'ai écrit un DAG (Directed Acyclic Graph) planifié toutes les 5 minutes.</a:t>
            </a:r>
            <a:endParaRPr sz="2300"/>
          </a:p>
        </p:txBody>
      </p:sp>
      <p:sp>
        <p:nvSpPr>
          <p:cNvPr id="104" name="Google Shape;104;p8"/>
          <p:cNvSpPr txBox="1"/>
          <p:nvPr/>
        </p:nvSpPr>
        <p:spPr>
          <a:xfrm>
            <a:off x="942380" y="48524787"/>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Ce que j'apprécie particulièrement avec Airflow, c'est la gestion des dépendances. Le flux `scraping &gt;&gt; silver &gt;&gt; gold &gt;&gt; dwh` est strict. Si le nettoyage Silver plante à cause d'une anomalie, Airflow stoppe tout. Il n'y a aucun risque de charger des données corrompues dans le DWH. C'est l'outil indispensable pour surveiller la santé du pipeline.</a:t>
            </a:r>
            <a:endParaRPr sz="2300"/>
          </a:p>
        </p:txBody>
      </p:sp>
      <p:sp>
        <p:nvSpPr>
          <p:cNvPr id="105" name="Google Shape;105;p8"/>
          <p:cNvSpPr txBox="1"/>
          <p:nvPr/>
        </p:nvSpPr>
        <p:spPr>
          <a:xfrm>
            <a:off x="1335038" y="50494473"/>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06" name="Google Shape;106;p8"/>
          <p:cNvSpPr txBox="1"/>
          <p:nvPr/>
        </p:nvSpPr>
        <p:spPr>
          <a:xfrm>
            <a:off x="942380" y="51384914"/>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J'aimerais prendre un moment pour souligner l'effort technique derrière ce projet. Je ne me suis pas contenté d'outils simples ; j'ai volontairement exploré des technologies industrielles complexes.</a:t>
            </a:r>
            <a:endParaRPr sz="2300"/>
          </a:p>
        </p:txBody>
      </p:sp>
      <p:sp>
        <p:nvSpPr>
          <p:cNvPr id="107" name="Google Shape;107;p8"/>
          <p:cNvSpPr txBox="1"/>
          <p:nvPr/>
        </p:nvSpPr>
        <p:spPr>
          <a:xfrm>
            <a:off x="942380" y="5234763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Docker a été un gros défi : réussir à créer un réseau virtuel où Kafka parle au script Python, pendant qu'Airflow pilote le tout, a nécessité beaucoup d'essais et de débogage réseau. Pour Kafka, comprendre la liaison avec Zookeeper et la logique de publication/souscription m'a demandé de sortir de ma zone de confort par rapport aux bases de données classiques. Enfin, maîtriser Airflow m'a appris à penser en termes de "Tâches indépendantes et idempotentes". Cet apprentissage est pour moi la plus grande réussite de ce projet.</a:t>
            </a:r>
            <a:endParaRPr sz="2300"/>
          </a:p>
        </p:txBody>
      </p:sp>
      <p:sp>
        <p:nvSpPr>
          <p:cNvPr id="108" name="Google Shape;108;p8"/>
          <p:cNvSpPr txBox="1"/>
          <p:nvPr/>
        </p:nvSpPr>
        <p:spPr>
          <a:xfrm>
            <a:off x="1335038" y="55122696"/>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09" name="Google Shape;109;p8"/>
          <p:cNvSpPr txBox="1"/>
          <p:nvPr/>
        </p:nvSpPr>
        <p:spPr>
          <a:xfrm>
            <a:off x="942380" y="56013135"/>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Bien sûr, un projet de cette envergure vient avec son lot de problèmes. Le Scraping est intrinsèquement fragile : une mise à jour CSS de la BBC et le scraper échoue. J'ai dû rendre mon code Python beaucoup plus défensif avec des blocs Try/Except et des sélecteurs plus génériques.</a:t>
            </a:r>
            <a:endParaRPr sz="2300"/>
          </a:p>
        </p:txBody>
      </p:sp>
      <p:sp>
        <p:nvSpPr>
          <p:cNvPr id="110" name="Google Shape;110;p8"/>
          <p:cNvSpPr txBox="1"/>
          <p:nvPr/>
        </p:nvSpPr>
        <p:spPr>
          <a:xfrm>
            <a:off x="942380" y="56975852"/>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J'ai également fait face à des problèmes de mémoire en essayant de charger de trop gros fichiers JSON d'un coup. J'ai résolu cela en apprenant à utiliser les fonctions de traitement par lots (chunks) de Pandas. Enfin, le nettoyage de texte m'a poussé à réviser mes expressions régulières (Regex) pour éliminer les caractères invisibles qui polluaient mon analyse NLP.</a:t>
            </a:r>
            <a:endParaRPr sz="2300"/>
          </a:p>
        </p:txBody>
      </p:sp>
      <p:sp>
        <p:nvSpPr>
          <p:cNvPr id="111" name="Google Shape;111;p8"/>
          <p:cNvSpPr txBox="1"/>
          <p:nvPr/>
        </p:nvSpPr>
        <p:spPr>
          <a:xfrm>
            <a:off x="1335038" y="59348229"/>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12" name="Google Shape;112;p8"/>
          <p:cNvSpPr txBox="1"/>
          <p:nvPr/>
        </p:nvSpPr>
        <p:spPr>
          <a:xfrm>
            <a:off x="942380" y="60238668"/>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En conclusion, ce projet m'a permis de construire un pipeline complet, fonctionnel et automatisé, qui reflète la réalité du métier de Data Engineer. Le socle est solide, mais il y a toujours place à l'amélioration.</a:t>
            </a:r>
            <a:endParaRPr sz="2300"/>
          </a:p>
        </p:txBody>
      </p:sp>
      <p:sp>
        <p:nvSpPr>
          <p:cNvPr id="113" name="Google Shape;113;p8"/>
          <p:cNvSpPr txBox="1"/>
          <p:nvPr/>
        </p:nvSpPr>
        <p:spPr>
          <a:xfrm>
            <a:off x="942380" y="61201385"/>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Pour une V2, j'envisage d'intégrer Apache Spark pour remplacer Pandas et gérer des volumes Big Data. Je souhaite également brancher une couche de visualisation comme Metabase pour exploiter visuellement le Data Warehouse, et pourquoi pas, intégrer un modèle de NLP pour faire de l'analyse de sentiment (positif/négatif) sur les actualités traitées. Merci beaucoup pour votre attention, je suis à votre disposition pour vos questions.</a:t>
            </a:r>
            <a:endParaRPr sz="2300"/>
          </a:p>
        </p:txBody>
      </p:sp>
      <p:sp>
        <p:nvSpPr>
          <p:cNvPr id="114" name="Google Shape;114;p8"/>
          <p:cNvSpPr txBox="1"/>
          <p:nvPr/>
        </p:nvSpPr>
        <p:spPr>
          <a:xfrm>
            <a:off x="3504841" y="4156026"/>
            <a:ext cx="13094400" cy="133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700" u="none" cap="none" strike="noStrike">
                <a:solidFill>
                  <a:srgbClr val="0369A1"/>
                </a:solidFill>
                <a:latin typeface="Poppins"/>
                <a:ea typeface="Poppins"/>
                <a:cs typeface="Poppins"/>
                <a:sym typeface="Poppins"/>
              </a:rPr>
              <a:t>News Data Pipeline</a:t>
            </a:r>
            <a:endParaRPr sz="2300"/>
          </a:p>
        </p:txBody>
      </p:sp>
      <p:pic>
        <p:nvPicPr>
          <p:cNvPr descr="image.png" id="115" name="Google Shape;115;p8"/>
          <p:cNvPicPr preferRelativeResize="0"/>
          <p:nvPr/>
        </p:nvPicPr>
        <p:blipFill rotWithShape="1">
          <a:blip r:embed="rId17">
            <a:alphaModFix/>
          </a:blip>
          <a:srcRect b="0" l="0" r="0" t="0"/>
          <a:stretch/>
        </p:blipFill>
        <p:spPr>
          <a:xfrm>
            <a:off x="942380" y="11942022"/>
            <a:ext cx="235595" cy="314127"/>
          </a:xfrm>
          <a:prstGeom prst="rect">
            <a:avLst/>
          </a:prstGeom>
          <a:noFill/>
          <a:ln>
            <a:noFill/>
          </a:ln>
        </p:spPr>
      </p:pic>
      <p:pic>
        <p:nvPicPr>
          <p:cNvPr descr="image.png" id="116" name="Google Shape;116;p8"/>
          <p:cNvPicPr preferRelativeResize="0"/>
          <p:nvPr/>
        </p:nvPicPr>
        <p:blipFill rotWithShape="1">
          <a:blip r:embed="rId18">
            <a:alphaModFix/>
          </a:blip>
          <a:srcRect b="0" l="0" r="0" t="0"/>
          <a:stretch/>
        </p:blipFill>
        <p:spPr>
          <a:xfrm>
            <a:off x="942380" y="15764864"/>
            <a:ext cx="235595" cy="314678"/>
          </a:xfrm>
          <a:prstGeom prst="rect">
            <a:avLst/>
          </a:prstGeom>
          <a:noFill/>
          <a:ln>
            <a:noFill/>
          </a:ln>
        </p:spPr>
      </p:pic>
      <p:pic>
        <p:nvPicPr>
          <p:cNvPr descr="image.png" id="117" name="Google Shape;117;p8"/>
          <p:cNvPicPr preferRelativeResize="0"/>
          <p:nvPr/>
        </p:nvPicPr>
        <p:blipFill rotWithShape="1">
          <a:blip r:embed="rId18">
            <a:alphaModFix/>
          </a:blip>
          <a:srcRect b="0" l="0" r="0" t="0"/>
          <a:stretch/>
        </p:blipFill>
        <p:spPr>
          <a:xfrm>
            <a:off x="942380" y="19587707"/>
            <a:ext cx="235595" cy="314678"/>
          </a:xfrm>
          <a:prstGeom prst="rect">
            <a:avLst/>
          </a:prstGeom>
          <a:noFill/>
          <a:ln>
            <a:noFill/>
          </a:ln>
        </p:spPr>
      </p:pic>
      <p:pic>
        <p:nvPicPr>
          <p:cNvPr descr="image.png" id="118" name="Google Shape;118;p8"/>
          <p:cNvPicPr preferRelativeResize="0"/>
          <p:nvPr/>
        </p:nvPicPr>
        <p:blipFill rotWithShape="1">
          <a:blip r:embed="rId18">
            <a:alphaModFix/>
          </a:blip>
          <a:srcRect b="0" l="0" r="0" t="0"/>
          <a:stretch/>
        </p:blipFill>
        <p:spPr>
          <a:xfrm>
            <a:off x="942380" y="23410552"/>
            <a:ext cx="235595" cy="314678"/>
          </a:xfrm>
          <a:prstGeom prst="rect">
            <a:avLst/>
          </a:prstGeom>
          <a:noFill/>
          <a:ln>
            <a:noFill/>
          </a:ln>
        </p:spPr>
      </p:pic>
      <p:pic>
        <p:nvPicPr>
          <p:cNvPr descr="image.png" id="119" name="Google Shape;119;p8"/>
          <p:cNvPicPr preferRelativeResize="0"/>
          <p:nvPr/>
        </p:nvPicPr>
        <p:blipFill rotWithShape="1">
          <a:blip r:embed="rId18">
            <a:alphaModFix/>
          </a:blip>
          <a:srcRect b="0" l="0" r="0" t="0"/>
          <a:stretch/>
        </p:blipFill>
        <p:spPr>
          <a:xfrm>
            <a:off x="942380" y="27233394"/>
            <a:ext cx="235595" cy="314678"/>
          </a:xfrm>
          <a:prstGeom prst="rect">
            <a:avLst/>
          </a:prstGeom>
          <a:noFill/>
          <a:ln>
            <a:noFill/>
          </a:ln>
        </p:spPr>
      </p:pic>
      <p:pic>
        <p:nvPicPr>
          <p:cNvPr descr="image.png" id="120" name="Google Shape;120;p8"/>
          <p:cNvPicPr preferRelativeResize="0"/>
          <p:nvPr/>
        </p:nvPicPr>
        <p:blipFill rotWithShape="1">
          <a:blip r:embed="rId18">
            <a:alphaModFix/>
          </a:blip>
          <a:srcRect b="0" l="0" r="0" t="0"/>
          <a:stretch/>
        </p:blipFill>
        <p:spPr>
          <a:xfrm>
            <a:off x="942380" y="31056237"/>
            <a:ext cx="235595" cy="314678"/>
          </a:xfrm>
          <a:prstGeom prst="rect">
            <a:avLst/>
          </a:prstGeom>
          <a:noFill/>
          <a:ln>
            <a:noFill/>
          </a:ln>
        </p:spPr>
      </p:pic>
      <p:pic>
        <p:nvPicPr>
          <p:cNvPr descr="image.png" id="121" name="Google Shape;121;p8"/>
          <p:cNvPicPr preferRelativeResize="0"/>
          <p:nvPr/>
        </p:nvPicPr>
        <p:blipFill rotWithShape="1">
          <a:blip r:embed="rId18">
            <a:alphaModFix/>
          </a:blip>
          <a:srcRect b="0" l="0" r="0" t="0"/>
          <a:stretch/>
        </p:blipFill>
        <p:spPr>
          <a:xfrm>
            <a:off x="942380" y="34879081"/>
            <a:ext cx="235595" cy="314678"/>
          </a:xfrm>
          <a:prstGeom prst="rect">
            <a:avLst/>
          </a:prstGeom>
          <a:noFill/>
          <a:ln>
            <a:noFill/>
          </a:ln>
        </p:spPr>
      </p:pic>
      <p:pic>
        <p:nvPicPr>
          <p:cNvPr descr="image.png" id="122" name="Google Shape;122;p8"/>
          <p:cNvPicPr preferRelativeResize="0"/>
          <p:nvPr/>
        </p:nvPicPr>
        <p:blipFill rotWithShape="1">
          <a:blip r:embed="rId19">
            <a:alphaModFix/>
          </a:blip>
          <a:srcRect b="0" l="0" r="0" t="0"/>
          <a:stretch/>
        </p:blipFill>
        <p:spPr>
          <a:xfrm>
            <a:off x="942380" y="39104613"/>
            <a:ext cx="235595" cy="314678"/>
          </a:xfrm>
          <a:prstGeom prst="rect">
            <a:avLst/>
          </a:prstGeom>
          <a:noFill/>
          <a:ln>
            <a:noFill/>
          </a:ln>
        </p:spPr>
      </p:pic>
      <p:pic>
        <p:nvPicPr>
          <p:cNvPr descr="image.png" id="123" name="Google Shape;123;p8"/>
          <p:cNvPicPr preferRelativeResize="0"/>
          <p:nvPr/>
        </p:nvPicPr>
        <p:blipFill rotWithShape="1">
          <a:blip r:embed="rId19">
            <a:alphaModFix/>
          </a:blip>
          <a:srcRect b="0" l="0" r="0" t="0"/>
          <a:stretch/>
        </p:blipFill>
        <p:spPr>
          <a:xfrm>
            <a:off x="942380" y="42927457"/>
            <a:ext cx="235595" cy="314678"/>
          </a:xfrm>
          <a:prstGeom prst="rect">
            <a:avLst/>
          </a:prstGeom>
          <a:noFill/>
          <a:ln>
            <a:noFill/>
          </a:ln>
        </p:spPr>
      </p:pic>
      <p:pic>
        <p:nvPicPr>
          <p:cNvPr descr="image.png" id="124" name="Google Shape;124;p8"/>
          <p:cNvPicPr preferRelativeResize="0"/>
          <p:nvPr/>
        </p:nvPicPr>
        <p:blipFill rotWithShape="1">
          <a:blip r:embed="rId19">
            <a:alphaModFix/>
          </a:blip>
          <a:srcRect b="0" l="0" r="0" t="0"/>
          <a:stretch/>
        </p:blipFill>
        <p:spPr>
          <a:xfrm>
            <a:off x="942380" y="46750300"/>
            <a:ext cx="235595" cy="314678"/>
          </a:xfrm>
          <a:prstGeom prst="rect">
            <a:avLst/>
          </a:prstGeom>
          <a:noFill/>
          <a:ln>
            <a:noFill/>
          </a:ln>
        </p:spPr>
      </p:pic>
      <p:pic>
        <p:nvPicPr>
          <p:cNvPr descr="image.png" id="125" name="Google Shape;125;p8"/>
          <p:cNvPicPr preferRelativeResize="0"/>
          <p:nvPr/>
        </p:nvPicPr>
        <p:blipFill rotWithShape="1">
          <a:blip r:embed="rId19">
            <a:alphaModFix/>
          </a:blip>
          <a:srcRect b="0" l="0" r="0" t="0"/>
          <a:stretch/>
        </p:blipFill>
        <p:spPr>
          <a:xfrm>
            <a:off x="942380" y="50573143"/>
            <a:ext cx="235595" cy="314678"/>
          </a:xfrm>
          <a:prstGeom prst="rect">
            <a:avLst/>
          </a:prstGeom>
          <a:noFill/>
          <a:ln>
            <a:noFill/>
          </a:ln>
        </p:spPr>
      </p:pic>
      <p:pic>
        <p:nvPicPr>
          <p:cNvPr descr="image.png" id="126" name="Google Shape;126;p8"/>
          <p:cNvPicPr preferRelativeResize="0"/>
          <p:nvPr/>
        </p:nvPicPr>
        <p:blipFill rotWithShape="1">
          <a:blip r:embed="rId19">
            <a:alphaModFix/>
          </a:blip>
          <a:srcRect b="0" l="0" r="0" t="0"/>
          <a:stretch/>
        </p:blipFill>
        <p:spPr>
          <a:xfrm>
            <a:off x="942380" y="55201365"/>
            <a:ext cx="235595" cy="314678"/>
          </a:xfrm>
          <a:prstGeom prst="rect">
            <a:avLst/>
          </a:prstGeom>
          <a:noFill/>
          <a:ln>
            <a:noFill/>
          </a:ln>
        </p:spPr>
      </p:pic>
      <p:pic>
        <p:nvPicPr>
          <p:cNvPr descr="image.png" id="127" name="Google Shape;127;p8"/>
          <p:cNvPicPr preferRelativeResize="0"/>
          <p:nvPr/>
        </p:nvPicPr>
        <p:blipFill rotWithShape="1">
          <a:blip r:embed="rId17">
            <a:alphaModFix/>
          </a:blip>
          <a:srcRect b="0" l="0" r="0" t="0"/>
          <a:stretch/>
        </p:blipFill>
        <p:spPr>
          <a:xfrm>
            <a:off x="942380" y="59426898"/>
            <a:ext cx="235595" cy="314127"/>
          </a:xfrm>
          <a:prstGeom prst="rect">
            <a:avLst/>
          </a:prstGeom>
          <a:noFill/>
          <a:ln>
            <a:noFill/>
          </a:ln>
        </p:spPr>
      </p:pic>
      <p:sp>
        <p:nvSpPr>
          <p:cNvPr id="128" name="Google Shape;128;p8"/>
          <p:cNvSpPr txBox="1"/>
          <p:nvPr/>
        </p:nvSpPr>
        <p:spPr>
          <a:xfrm>
            <a:off x="1639125" y="8245125"/>
            <a:ext cx="4203000" cy="1773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1" lang="en-US" sz="2000">
                <a:solidFill>
                  <a:srgbClr val="017CBF"/>
                </a:solidFill>
                <a:latin typeface="Inter"/>
                <a:ea typeface="Inter"/>
                <a:cs typeface="Inter"/>
                <a:sym typeface="Inter"/>
              </a:rPr>
              <a:t>Réalisée par : </a:t>
            </a:r>
            <a:endParaRPr i="1" sz="2000">
              <a:solidFill>
                <a:srgbClr val="017CBF"/>
              </a:solidFill>
              <a:latin typeface="Inter"/>
              <a:ea typeface="Inter"/>
              <a:cs typeface="Inter"/>
              <a:sym typeface="Inter"/>
            </a:endParaRPr>
          </a:p>
          <a:p>
            <a:pPr indent="0" lvl="0" marL="0" marR="0" rtl="0" algn="l">
              <a:lnSpc>
                <a:spcPct val="160000"/>
              </a:lnSpc>
              <a:spcBef>
                <a:spcPts val="0"/>
              </a:spcBef>
              <a:spcAft>
                <a:spcPts val="0"/>
              </a:spcAft>
              <a:buNone/>
            </a:pPr>
            <a:r>
              <a:rPr b="1" lang="en-US" sz="3200">
                <a:solidFill>
                  <a:srgbClr val="017CBF"/>
                </a:solidFill>
                <a:latin typeface="Inter"/>
                <a:ea typeface="Inter"/>
                <a:cs typeface="Inter"/>
                <a:sym typeface="Inter"/>
              </a:rPr>
              <a:t>AIT-HRA Loubna</a:t>
            </a:r>
            <a:r>
              <a:rPr lang="en-US" sz="3200">
                <a:solidFill>
                  <a:srgbClr val="017CBF"/>
                </a:solidFill>
                <a:latin typeface="Inter"/>
                <a:ea typeface="Inter"/>
                <a:cs typeface="Inter"/>
                <a:sym typeface="Inter"/>
              </a:rPr>
              <a:t> </a:t>
            </a:r>
            <a:endParaRPr sz="3200">
              <a:solidFill>
                <a:srgbClr val="017CBF"/>
              </a:solidFill>
              <a:latin typeface="Inter"/>
              <a:ea typeface="Inter"/>
              <a:cs typeface="Inter"/>
              <a:sym typeface="Inter"/>
            </a:endParaRPr>
          </a:p>
          <a:p>
            <a:pPr indent="0" lvl="0" marL="0" marR="0" rtl="0" algn="l">
              <a:lnSpc>
                <a:spcPct val="160000"/>
              </a:lnSpc>
              <a:spcBef>
                <a:spcPts val="0"/>
              </a:spcBef>
              <a:spcAft>
                <a:spcPts val="0"/>
              </a:spcAft>
              <a:buNone/>
            </a:pPr>
            <a:r>
              <a:rPr b="1" lang="en-US" sz="3200">
                <a:solidFill>
                  <a:srgbClr val="017CBF"/>
                </a:solidFill>
                <a:latin typeface="Inter"/>
                <a:ea typeface="Inter"/>
                <a:cs typeface="Inter"/>
                <a:sym typeface="Inter"/>
              </a:rPr>
              <a:t>KTAMI Lamiae</a:t>
            </a:r>
            <a:r>
              <a:rPr lang="en-US" sz="3200">
                <a:solidFill>
                  <a:srgbClr val="017CBF"/>
                </a:solidFill>
                <a:latin typeface="Inter"/>
                <a:ea typeface="Inter"/>
                <a:cs typeface="Inter"/>
                <a:sym typeface="Inter"/>
              </a:rPr>
              <a:t> </a:t>
            </a:r>
            <a:endParaRPr sz="3200">
              <a:solidFill>
                <a:srgbClr val="017CBF"/>
              </a:solidFill>
              <a:latin typeface="Inter Medium"/>
              <a:ea typeface="Inter Medium"/>
              <a:cs typeface="Inter Medium"/>
              <a:sym typeface="Inter Medium"/>
            </a:endParaRPr>
          </a:p>
        </p:txBody>
      </p:sp>
      <p:sp>
        <p:nvSpPr>
          <p:cNvPr id="129" name="Google Shape;129;p8"/>
          <p:cNvSpPr txBox="1"/>
          <p:nvPr/>
        </p:nvSpPr>
        <p:spPr>
          <a:xfrm>
            <a:off x="8817063" y="10262425"/>
            <a:ext cx="2965200" cy="307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i="1" lang="en-US" sz="2000">
                <a:solidFill>
                  <a:srgbClr val="94A3B8"/>
                </a:solidFill>
                <a:latin typeface="Inter Medium"/>
                <a:ea typeface="Inter Medium"/>
                <a:cs typeface="Inter Medium"/>
                <a:sym typeface="Inter Medium"/>
              </a:rPr>
              <a:t>2026/2027</a:t>
            </a:r>
            <a:endParaRPr i="1" sz="2000">
              <a:solidFill>
                <a:srgbClr val="94A3B8"/>
              </a:solidFill>
            </a:endParaRPr>
          </a:p>
        </p:txBody>
      </p:sp>
      <p:pic>
        <p:nvPicPr>
          <p:cNvPr id="130" name="Google Shape;130;p8"/>
          <p:cNvPicPr preferRelativeResize="0"/>
          <p:nvPr/>
        </p:nvPicPr>
        <p:blipFill>
          <a:blip r:embed="rId20">
            <a:alphaModFix/>
          </a:blip>
          <a:stretch>
            <a:fillRect/>
          </a:stretch>
        </p:blipFill>
        <p:spPr>
          <a:xfrm>
            <a:off x="414775" y="370750"/>
            <a:ext cx="4203000" cy="1726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pic>
        <p:nvPicPr>
          <p:cNvPr descr="image.png" id="135" name="Google Shape;135;p9"/>
          <p:cNvPicPr preferRelativeResize="0"/>
          <p:nvPr/>
        </p:nvPicPr>
        <p:blipFill rotWithShape="1">
          <a:blip r:embed="rId3">
            <a:alphaModFix/>
          </a:blip>
          <a:srcRect b="0" l="0" r="0" t="0"/>
          <a:stretch/>
        </p:blipFill>
        <p:spPr>
          <a:xfrm>
            <a:off x="0" y="0"/>
            <a:ext cx="20104099" cy="11308557"/>
          </a:xfrm>
          <a:prstGeom prst="rect">
            <a:avLst/>
          </a:prstGeom>
          <a:noFill/>
          <a:ln>
            <a:noFill/>
          </a:ln>
        </p:spPr>
      </p:pic>
      <p:pic>
        <p:nvPicPr>
          <p:cNvPr descr="image.png" id="136" name="Google Shape;136;p9"/>
          <p:cNvPicPr preferRelativeResize="0"/>
          <p:nvPr/>
        </p:nvPicPr>
        <p:blipFill rotWithShape="1">
          <a:blip r:embed="rId4">
            <a:alphaModFix/>
          </a:blip>
          <a:srcRect b="0" l="0" r="0" t="0"/>
          <a:stretch/>
        </p:blipFill>
        <p:spPr>
          <a:xfrm>
            <a:off x="0" y="3822843"/>
            <a:ext cx="20104099" cy="15124702"/>
          </a:xfrm>
          <a:prstGeom prst="rect">
            <a:avLst/>
          </a:prstGeom>
          <a:noFill/>
          <a:ln>
            <a:noFill/>
          </a:ln>
        </p:spPr>
      </p:pic>
      <p:pic>
        <p:nvPicPr>
          <p:cNvPr descr="image.png" id="137" name="Google Shape;137;p9"/>
          <p:cNvPicPr preferRelativeResize="0"/>
          <p:nvPr/>
        </p:nvPicPr>
        <p:blipFill rotWithShape="1">
          <a:blip r:embed="rId5">
            <a:alphaModFix/>
          </a:blip>
          <a:srcRect b="0" l="0" r="0" t="0"/>
          <a:stretch/>
        </p:blipFill>
        <p:spPr>
          <a:xfrm>
            <a:off x="0" y="18974085"/>
            <a:ext cx="20104099" cy="3816147"/>
          </a:xfrm>
          <a:prstGeom prst="rect">
            <a:avLst/>
          </a:prstGeom>
          <a:noFill/>
          <a:ln>
            <a:noFill/>
          </a:ln>
        </p:spPr>
      </p:pic>
      <p:pic>
        <p:nvPicPr>
          <p:cNvPr descr="image.png" id="138" name="Google Shape;138;p9"/>
          <p:cNvPicPr preferRelativeResize="0"/>
          <p:nvPr/>
        </p:nvPicPr>
        <p:blipFill rotWithShape="1">
          <a:blip r:embed="rId5">
            <a:alphaModFix/>
          </a:blip>
          <a:srcRect b="0" l="0" r="0" t="0"/>
          <a:stretch/>
        </p:blipFill>
        <p:spPr>
          <a:xfrm>
            <a:off x="0" y="22796930"/>
            <a:ext cx="20104099" cy="3816147"/>
          </a:xfrm>
          <a:prstGeom prst="rect">
            <a:avLst/>
          </a:prstGeom>
          <a:noFill/>
          <a:ln>
            <a:noFill/>
          </a:ln>
        </p:spPr>
      </p:pic>
      <p:pic>
        <p:nvPicPr>
          <p:cNvPr descr="image.png" id="139" name="Google Shape;139;p9"/>
          <p:cNvPicPr preferRelativeResize="0"/>
          <p:nvPr/>
        </p:nvPicPr>
        <p:blipFill rotWithShape="1">
          <a:blip r:embed="rId5">
            <a:alphaModFix/>
          </a:blip>
          <a:srcRect b="0" l="0" r="0" t="0"/>
          <a:stretch/>
        </p:blipFill>
        <p:spPr>
          <a:xfrm>
            <a:off x="0" y="26619773"/>
            <a:ext cx="20104099" cy="3816147"/>
          </a:xfrm>
          <a:prstGeom prst="rect">
            <a:avLst/>
          </a:prstGeom>
          <a:noFill/>
          <a:ln>
            <a:noFill/>
          </a:ln>
        </p:spPr>
      </p:pic>
      <p:pic>
        <p:nvPicPr>
          <p:cNvPr descr="image.png" id="140" name="Google Shape;140;p9"/>
          <p:cNvPicPr preferRelativeResize="0"/>
          <p:nvPr/>
        </p:nvPicPr>
        <p:blipFill rotWithShape="1">
          <a:blip r:embed="rId5">
            <a:alphaModFix/>
          </a:blip>
          <a:srcRect b="0" l="0" r="0" t="0"/>
          <a:stretch/>
        </p:blipFill>
        <p:spPr>
          <a:xfrm>
            <a:off x="0" y="30442615"/>
            <a:ext cx="20104099" cy="3816147"/>
          </a:xfrm>
          <a:prstGeom prst="rect">
            <a:avLst/>
          </a:prstGeom>
          <a:noFill/>
          <a:ln>
            <a:noFill/>
          </a:ln>
        </p:spPr>
      </p:pic>
      <p:pic>
        <p:nvPicPr>
          <p:cNvPr descr="image.png" id="141" name="Google Shape;141;p9"/>
          <p:cNvPicPr preferRelativeResize="0"/>
          <p:nvPr/>
        </p:nvPicPr>
        <p:blipFill rotWithShape="1">
          <a:blip r:embed="rId6">
            <a:alphaModFix/>
          </a:blip>
          <a:srcRect b="0" l="0" r="0" t="0"/>
          <a:stretch/>
        </p:blipFill>
        <p:spPr>
          <a:xfrm>
            <a:off x="0" y="34265460"/>
            <a:ext cx="20104099" cy="4218129"/>
          </a:xfrm>
          <a:prstGeom prst="rect">
            <a:avLst/>
          </a:prstGeom>
          <a:noFill/>
          <a:ln>
            <a:noFill/>
          </a:ln>
        </p:spPr>
      </p:pic>
      <p:pic>
        <p:nvPicPr>
          <p:cNvPr descr="image.png" id="142" name="Google Shape;142;p9"/>
          <p:cNvPicPr preferRelativeResize="0"/>
          <p:nvPr/>
        </p:nvPicPr>
        <p:blipFill rotWithShape="1">
          <a:blip r:embed="rId7">
            <a:alphaModFix/>
          </a:blip>
          <a:srcRect b="0" l="0" r="0" t="0"/>
          <a:stretch/>
        </p:blipFill>
        <p:spPr>
          <a:xfrm>
            <a:off x="0" y="38490991"/>
            <a:ext cx="20104099" cy="3816147"/>
          </a:xfrm>
          <a:prstGeom prst="rect">
            <a:avLst/>
          </a:prstGeom>
          <a:noFill/>
          <a:ln>
            <a:noFill/>
          </a:ln>
        </p:spPr>
      </p:pic>
      <p:pic>
        <p:nvPicPr>
          <p:cNvPr descr="image.png" id="143" name="Google Shape;143;p9"/>
          <p:cNvPicPr preferRelativeResize="0"/>
          <p:nvPr/>
        </p:nvPicPr>
        <p:blipFill rotWithShape="1">
          <a:blip r:embed="rId8">
            <a:alphaModFix/>
          </a:blip>
          <a:srcRect b="0" l="0" r="0" t="0"/>
          <a:stretch/>
        </p:blipFill>
        <p:spPr>
          <a:xfrm>
            <a:off x="0" y="42313835"/>
            <a:ext cx="20104099" cy="3816147"/>
          </a:xfrm>
          <a:prstGeom prst="rect">
            <a:avLst/>
          </a:prstGeom>
          <a:noFill/>
          <a:ln>
            <a:noFill/>
          </a:ln>
        </p:spPr>
      </p:pic>
      <p:pic>
        <p:nvPicPr>
          <p:cNvPr descr="image.png" id="144" name="Google Shape;144;p9"/>
          <p:cNvPicPr preferRelativeResize="0"/>
          <p:nvPr/>
        </p:nvPicPr>
        <p:blipFill rotWithShape="1">
          <a:blip r:embed="rId7">
            <a:alphaModFix/>
          </a:blip>
          <a:srcRect b="0" l="0" r="0" t="0"/>
          <a:stretch/>
        </p:blipFill>
        <p:spPr>
          <a:xfrm>
            <a:off x="0" y="46136678"/>
            <a:ext cx="20104099" cy="3816147"/>
          </a:xfrm>
          <a:prstGeom prst="rect">
            <a:avLst/>
          </a:prstGeom>
          <a:noFill/>
          <a:ln>
            <a:noFill/>
          </a:ln>
        </p:spPr>
      </p:pic>
      <p:pic>
        <p:nvPicPr>
          <p:cNvPr descr="image.png" id="145" name="Google Shape;145;p9"/>
          <p:cNvPicPr preferRelativeResize="0"/>
          <p:nvPr/>
        </p:nvPicPr>
        <p:blipFill rotWithShape="1">
          <a:blip r:embed="rId9">
            <a:alphaModFix/>
          </a:blip>
          <a:srcRect b="0" l="0" r="0" t="0"/>
          <a:stretch/>
        </p:blipFill>
        <p:spPr>
          <a:xfrm>
            <a:off x="0" y="49959521"/>
            <a:ext cx="20104099" cy="4620114"/>
          </a:xfrm>
          <a:prstGeom prst="rect">
            <a:avLst/>
          </a:prstGeom>
          <a:noFill/>
          <a:ln>
            <a:noFill/>
          </a:ln>
        </p:spPr>
      </p:pic>
      <p:pic>
        <p:nvPicPr>
          <p:cNvPr descr="image.png" id="146" name="Google Shape;146;p9"/>
          <p:cNvPicPr preferRelativeResize="0"/>
          <p:nvPr/>
        </p:nvPicPr>
        <p:blipFill rotWithShape="1">
          <a:blip r:embed="rId10">
            <a:alphaModFix/>
          </a:blip>
          <a:srcRect b="0" l="0" r="0" t="0"/>
          <a:stretch/>
        </p:blipFill>
        <p:spPr>
          <a:xfrm>
            <a:off x="0" y="54587744"/>
            <a:ext cx="20104099" cy="4218129"/>
          </a:xfrm>
          <a:prstGeom prst="rect">
            <a:avLst/>
          </a:prstGeom>
          <a:noFill/>
          <a:ln>
            <a:noFill/>
          </a:ln>
        </p:spPr>
      </p:pic>
      <p:pic>
        <p:nvPicPr>
          <p:cNvPr descr="image.png" id="147" name="Google Shape;147;p9"/>
          <p:cNvPicPr preferRelativeResize="0"/>
          <p:nvPr/>
        </p:nvPicPr>
        <p:blipFill rotWithShape="1">
          <a:blip r:embed="rId10">
            <a:alphaModFix/>
          </a:blip>
          <a:srcRect b="0" l="0" r="0" t="0"/>
          <a:stretch/>
        </p:blipFill>
        <p:spPr>
          <a:xfrm>
            <a:off x="0" y="58813277"/>
            <a:ext cx="20104099" cy="4218129"/>
          </a:xfrm>
          <a:prstGeom prst="rect">
            <a:avLst/>
          </a:prstGeom>
          <a:noFill/>
          <a:ln>
            <a:noFill/>
          </a:ln>
        </p:spPr>
      </p:pic>
      <p:pic>
        <p:nvPicPr>
          <p:cNvPr descr="image.png" id="148" name="Google Shape;148;p9"/>
          <p:cNvPicPr preferRelativeResize="0"/>
          <p:nvPr/>
        </p:nvPicPr>
        <p:blipFill rotWithShape="1">
          <a:blip r:embed="rId11">
            <a:alphaModFix/>
          </a:blip>
          <a:srcRect b="0" l="0" r="0" t="0"/>
          <a:stretch/>
        </p:blipFill>
        <p:spPr>
          <a:xfrm>
            <a:off x="0" y="15151243"/>
            <a:ext cx="20104099" cy="3816147"/>
          </a:xfrm>
          <a:prstGeom prst="rect">
            <a:avLst/>
          </a:prstGeom>
          <a:noFill/>
          <a:ln>
            <a:noFill/>
          </a:ln>
        </p:spPr>
      </p:pic>
      <p:pic>
        <p:nvPicPr>
          <p:cNvPr descr="image.png" id="149" name="Google Shape;149;p9"/>
          <p:cNvPicPr preferRelativeResize="0"/>
          <p:nvPr/>
        </p:nvPicPr>
        <p:blipFill rotWithShape="1">
          <a:blip r:embed="rId12">
            <a:alphaModFix/>
          </a:blip>
          <a:srcRect b="0" l="0" r="0" t="0"/>
          <a:stretch/>
        </p:blipFill>
        <p:spPr>
          <a:xfrm>
            <a:off x="0" y="18974085"/>
            <a:ext cx="20104099" cy="3816147"/>
          </a:xfrm>
          <a:prstGeom prst="rect">
            <a:avLst/>
          </a:prstGeom>
          <a:noFill/>
          <a:ln>
            <a:noFill/>
          </a:ln>
        </p:spPr>
      </p:pic>
      <p:pic>
        <p:nvPicPr>
          <p:cNvPr descr="image.png" id="150" name="Google Shape;150;p9"/>
          <p:cNvPicPr preferRelativeResize="0"/>
          <p:nvPr/>
        </p:nvPicPr>
        <p:blipFill rotWithShape="1">
          <a:blip r:embed="rId12">
            <a:alphaModFix/>
          </a:blip>
          <a:srcRect b="0" l="0" r="0" t="0"/>
          <a:stretch/>
        </p:blipFill>
        <p:spPr>
          <a:xfrm>
            <a:off x="0" y="22796930"/>
            <a:ext cx="20104099" cy="3816147"/>
          </a:xfrm>
          <a:prstGeom prst="rect">
            <a:avLst/>
          </a:prstGeom>
          <a:noFill/>
          <a:ln>
            <a:noFill/>
          </a:ln>
        </p:spPr>
      </p:pic>
      <p:pic>
        <p:nvPicPr>
          <p:cNvPr descr="image.png" id="151" name="Google Shape;151;p9"/>
          <p:cNvPicPr preferRelativeResize="0"/>
          <p:nvPr/>
        </p:nvPicPr>
        <p:blipFill rotWithShape="1">
          <a:blip r:embed="rId12">
            <a:alphaModFix/>
          </a:blip>
          <a:srcRect b="0" l="0" r="0" t="0"/>
          <a:stretch/>
        </p:blipFill>
        <p:spPr>
          <a:xfrm>
            <a:off x="0" y="26619773"/>
            <a:ext cx="20104099" cy="3816147"/>
          </a:xfrm>
          <a:prstGeom prst="rect">
            <a:avLst/>
          </a:prstGeom>
          <a:noFill/>
          <a:ln>
            <a:noFill/>
          </a:ln>
        </p:spPr>
      </p:pic>
      <p:pic>
        <p:nvPicPr>
          <p:cNvPr descr="image.png" id="152" name="Google Shape;152;p9"/>
          <p:cNvPicPr preferRelativeResize="0"/>
          <p:nvPr/>
        </p:nvPicPr>
        <p:blipFill rotWithShape="1">
          <a:blip r:embed="rId12">
            <a:alphaModFix/>
          </a:blip>
          <a:srcRect b="0" l="0" r="0" t="0"/>
          <a:stretch/>
        </p:blipFill>
        <p:spPr>
          <a:xfrm>
            <a:off x="0" y="30442615"/>
            <a:ext cx="20104099" cy="3816147"/>
          </a:xfrm>
          <a:prstGeom prst="rect">
            <a:avLst/>
          </a:prstGeom>
          <a:noFill/>
          <a:ln>
            <a:noFill/>
          </a:ln>
        </p:spPr>
      </p:pic>
      <p:pic>
        <p:nvPicPr>
          <p:cNvPr descr="image.png" id="153" name="Google Shape;153;p9"/>
          <p:cNvPicPr preferRelativeResize="0"/>
          <p:nvPr/>
        </p:nvPicPr>
        <p:blipFill rotWithShape="1">
          <a:blip r:embed="rId13">
            <a:alphaModFix/>
          </a:blip>
          <a:srcRect b="0" l="0" r="0" t="0"/>
          <a:stretch/>
        </p:blipFill>
        <p:spPr>
          <a:xfrm>
            <a:off x="0" y="34265460"/>
            <a:ext cx="20104099" cy="4218129"/>
          </a:xfrm>
          <a:prstGeom prst="rect">
            <a:avLst/>
          </a:prstGeom>
          <a:noFill/>
          <a:ln>
            <a:noFill/>
          </a:ln>
        </p:spPr>
      </p:pic>
      <p:pic>
        <p:nvPicPr>
          <p:cNvPr descr="image.png" id="154" name="Google Shape;154;p9"/>
          <p:cNvPicPr preferRelativeResize="0"/>
          <p:nvPr/>
        </p:nvPicPr>
        <p:blipFill rotWithShape="1">
          <a:blip r:embed="rId14">
            <a:alphaModFix/>
          </a:blip>
          <a:srcRect b="0" l="0" r="0" t="0"/>
          <a:stretch/>
        </p:blipFill>
        <p:spPr>
          <a:xfrm>
            <a:off x="0" y="38490991"/>
            <a:ext cx="20104099" cy="3816147"/>
          </a:xfrm>
          <a:prstGeom prst="rect">
            <a:avLst/>
          </a:prstGeom>
          <a:noFill/>
          <a:ln>
            <a:noFill/>
          </a:ln>
        </p:spPr>
      </p:pic>
      <p:pic>
        <p:nvPicPr>
          <p:cNvPr descr="image.png" id="155" name="Google Shape;155;p9"/>
          <p:cNvPicPr preferRelativeResize="0"/>
          <p:nvPr/>
        </p:nvPicPr>
        <p:blipFill rotWithShape="1">
          <a:blip r:embed="rId14">
            <a:alphaModFix/>
          </a:blip>
          <a:srcRect b="0" l="0" r="0" t="0"/>
          <a:stretch/>
        </p:blipFill>
        <p:spPr>
          <a:xfrm>
            <a:off x="0" y="42313835"/>
            <a:ext cx="20104099" cy="3816147"/>
          </a:xfrm>
          <a:prstGeom prst="rect">
            <a:avLst/>
          </a:prstGeom>
          <a:noFill/>
          <a:ln>
            <a:noFill/>
          </a:ln>
        </p:spPr>
      </p:pic>
      <p:pic>
        <p:nvPicPr>
          <p:cNvPr descr="image.png" id="156" name="Google Shape;156;p9"/>
          <p:cNvPicPr preferRelativeResize="0"/>
          <p:nvPr/>
        </p:nvPicPr>
        <p:blipFill rotWithShape="1">
          <a:blip r:embed="rId14">
            <a:alphaModFix/>
          </a:blip>
          <a:srcRect b="0" l="0" r="0" t="0"/>
          <a:stretch/>
        </p:blipFill>
        <p:spPr>
          <a:xfrm>
            <a:off x="0" y="46136678"/>
            <a:ext cx="20104099" cy="3816147"/>
          </a:xfrm>
          <a:prstGeom prst="rect">
            <a:avLst/>
          </a:prstGeom>
          <a:noFill/>
          <a:ln>
            <a:noFill/>
          </a:ln>
        </p:spPr>
      </p:pic>
      <p:pic>
        <p:nvPicPr>
          <p:cNvPr descr="image.png" id="157" name="Google Shape;157;p9"/>
          <p:cNvPicPr preferRelativeResize="0"/>
          <p:nvPr/>
        </p:nvPicPr>
        <p:blipFill rotWithShape="1">
          <a:blip r:embed="rId15">
            <a:alphaModFix/>
          </a:blip>
          <a:srcRect b="0" l="0" r="0" t="0"/>
          <a:stretch/>
        </p:blipFill>
        <p:spPr>
          <a:xfrm>
            <a:off x="0" y="49959521"/>
            <a:ext cx="20104099" cy="4620114"/>
          </a:xfrm>
          <a:prstGeom prst="rect">
            <a:avLst/>
          </a:prstGeom>
          <a:noFill/>
          <a:ln>
            <a:noFill/>
          </a:ln>
        </p:spPr>
      </p:pic>
      <p:pic>
        <p:nvPicPr>
          <p:cNvPr descr="image.png" id="158" name="Google Shape;158;p9"/>
          <p:cNvPicPr preferRelativeResize="0"/>
          <p:nvPr/>
        </p:nvPicPr>
        <p:blipFill rotWithShape="1">
          <a:blip r:embed="rId16">
            <a:alphaModFix/>
          </a:blip>
          <a:srcRect b="0" l="0" r="0" t="0"/>
          <a:stretch/>
        </p:blipFill>
        <p:spPr>
          <a:xfrm>
            <a:off x="0" y="54587744"/>
            <a:ext cx="20104099" cy="4218129"/>
          </a:xfrm>
          <a:prstGeom prst="rect">
            <a:avLst/>
          </a:prstGeom>
          <a:noFill/>
          <a:ln>
            <a:noFill/>
          </a:ln>
        </p:spPr>
      </p:pic>
      <p:pic>
        <p:nvPicPr>
          <p:cNvPr descr="image.png" id="159" name="Google Shape;159;p9"/>
          <p:cNvPicPr preferRelativeResize="0"/>
          <p:nvPr/>
        </p:nvPicPr>
        <p:blipFill rotWithShape="1">
          <a:blip r:embed="rId16">
            <a:alphaModFix/>
          </a:blip>
          <a:srcRect b="0" l="0" r="0" t="0"/>
          <a:stretch/>
        </p:blipFill>
        <p:spPr>
          <a:xfrm>
            <a:off x="0" y="58813277"/>
            <a:ext cx="20104099" cy="4218129"/>
          </a:xfrm>
          <a:prstGeom prst="rect">
            <a:avLst/>
          </a:prstGeom>
          <a:noFill/>
          <a:ln>
            <a:noFill/>
          </a:ln>
        </p:spPr>
      </p:pic>
      <p:sp>
        <p:nvSpPr>
          <p:cNvPr id="160" name="Google Shape;160;p9"/>
          <p:cNvSpPr txBox="1"/>
          <p:nvPr/>
        </p:nvSpPr>
        <p:spPr>
          <a:xfrm>
            <a:off x="1335038" y="15686195"/>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61" name="Google Shape;161;p9"/>
          <p:cNvSpPr txBox="1"/>
          <p:nvPr/>
        </p:nvSpPr>
        <p:spPr>
          <a:xfrm>
            <a:off x="942380" y="16576634"/>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Pour situer le contexte : nous sommes aujourd'hui noyés sous des flux constants d'articles d'actualité provenant de multiples sources avec des formats très hétérogènes.</a:t>
            </a:r>
            <a:endParaRPr sz="2300"/>
          </a:p>
        </p:txBody>
      </p:sp>
      <p:sp>
        <p:nvSpPr>
          <p:cNvPr id="162" name="Google Shape;162;p9"/>
          <p:cNvSpPr txBox="1"/>
          <p:nvPr/>
        </p:nvSpPr>
        <p:spPr>
          <a:xfrm>
            <a:off x="942380" y="17136663"/>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L'objectif de ce projet était de créer un système capable de : 1) Collecter ces données en continu depuis des sites comme BBC ou Hespress. 2) Assurer un traitement asynchrone et résilient pour ne perdre aucune donnée. 3) Nettoyer et transformer ces données textuelles pour en extraire de la valeur (mots-clés, tendances). 4) Fournir un modèle de données propre, prêt à être consommé par des analystes BI.</a:t>
            </a:r>
            <a:endParaRPr sz="2300"/>
          </a:p>
        </p:txBody>
      </p:sp>
      <p:sp>
        <p:nvSpPr>
          <p:cNvPr id="163" name="Google Shape;163;p9"/>
          <p:cNvSpPr txBox="1"/>
          <p:nvPr/>
        </p:nvSpPr>
        <p:spPr>
          <a:xfrm>
            <a:off x="1335038" y="19509038"/>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64" name="Google Shape;164;p9"/>
          <p:cNvSpPr txBox="1"/>
          <p:nvPr/>
        </p:nvSpPr>
        <p:spPr>
          <a:xfrm>
            <a:off x="942380" y="20399478"/>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Voici la vue d'ensemble de l'architecture. J'ai conçu ce pipeline autour de technologies open-source très demandées sur le marché.</a:t>
            </a:r>
            <a:endParaRPr sz="2300"/>
          </a:p>
        </p:txBody>
      </p:sp>
      <p:sp>
        <p:nvSpPr>
          <p:cNvPr id="165" name="Google Shape;165;p9"/>
          <p:cNvSpPr txBox="1"/>
          <p:nvPr/>
        </p:nvSpPr>
        <p:spPr>
          <a:xfrm>
            <a:off x="942380" y="20959506"/>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Au cœur du système, nous avons Apache Kafka qui découple l'extraction de l'ingestion, assurant une tolérance aux pannes. Les données transitent ensuite par un Data Lake local géré via MinIO. La transformation est codée en Python (via Pandas), et le stockage final se fait dans PostgreSQL. L'ensemble de ce flux est cadencé par Apache Airflow, garantissant l'ordre d'exécution. Enfin, toute cette infrastructure est "Dockerisée", ce qui permet un déploiement instantané et reproductible.</a:t>
            </a:r>
            <a:endParaRPr sz="2300"/>
          </a:p>
        </p:txBody>
      </p:sp>
      <p:sp>
        <p:nvSpPr>
          <p:cNvPr id="166" name="Google Shape;166;p9"/>
          <p:cNvSpPr txBox="1"/>
          <p:nvPr/>
        </p:nvSpPr>
        <p:spPr>
          <a:xfrm>
            <a:off x="1335038" y="23331882"/>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67" name="Google Shape;167;p9"/>
          <p:cNvSpPr txBox="1"/>
          <p:nvPr/>
        </p:nvSpPr>
        <p:spPr>
          <a:xfrm>
            <a:off x="942380" y="2422232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La première étape est l'extraction. J'ai développé un scraper personnalisé qui navigue sur la BBC et Hespress. Pour éviter de saturer nos bases de données avec des doublons si un article reste en page d'accueil, je calcule un hash MD5 sur l'URL qui sert d'identifiant unique strict.</a:t>
            </a:r>
            <a:endParaRPr sz="2300"/>
          </a:p>
        </p:txBody>
      </p:sp>
      <p:sp>
        <p:nvSpPr>
          <p:cNvPr id="168" name="Google Shape;168;p9"/>
          <p:cNvSpPr txBox="1"/>
          <p:nvPr/>
        </p:nvSpPr>
        <p:spPr>
          <a:xfrm>
            <a:off x="942380" y="25185039"/>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Une fois extrait, l'article n'est pas écrit directement en base. Il est publié (produit) dans un topic Kafka nommé `news-topic`. Ce choix architectural est crucial : il permet au scraper de travailler très rapidement, sans attendre que la base de données réponde, et permet d'absorber les pics d'actualité.</a:t>
            </a:r>
            <a:endParaRPr sz="2300"/>
          </a:p>
        </p:txBody>
      </p:sp>
      <p:sp>
        <p:nvSpPr>
          <p:cNvPr id="169" name="Google Shape;169;p9"/>
          <p:cNvSpPr txBox="1"/>
          <p:nvPr/>
        </p:nvSpPr>
        <p:spPr>
          <a:xfrm>
            <a:off x="1335038" y="27154725"/>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70" name="Google Shape;170;p9"/>
          <p:cNvSpPr txBox="1"/>
          <p:nvPr/>
        </p:nvSpPr>
        <p:spPr>
          <a:xfrm>
            <a:off x="942380" y="28045164"/>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Pour le traitement des données, j'ai implémenté le standard industriel de l'Architecture Medallion (popularisé par Databricks).</a:t>
            </a:r>
            <a:endParaRPr sz="2300"/>
          </a:p>
        </p:txBody>
      </p:sp>
      <p:sp>
        <p:nvSpPr>
          <p:cNvPr id="171" name="Google Shape;171;p9"/>
          <p:cNvSpPr txBox="1"/>
          <p:nvPr/>
        </p:nvSpPr>
        <p:spPr>
          <a:xfrm>
            <a:off x="942380" y="28605193"/>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La couche Bronze est notre zone de "Raw Data" : on ne modifie rien, on sauvegarde tout l'historique brut. C'est notre filet de sécurité. La couche Silver est la zone de "Clean Data" : on normalise et on filtre. Enfin, la couche Gold est la zone orientée "Business" : on y trouve des données agrégées, hautement qualitatives, formatées spécifiquement pour répondre aux besoins analytiques du métier.</a:t>
            </a:r>
            <a:endParaRPr sz="2300"/>
          </a:p>
        </p:txBody>
      </p:sp>
      <p:sp>
        <p:nvSpPr>
          <p:cNvPr id="172" name="Google Shape;172;p9"/>
          <p:cNvSpPr txBox="1"/>
          <p:nvPr/>
        </p:nvSpPr>
        <p:spPr>
          <a:xfrm>
            <a:off x="1335038" y="30977568"/>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73" name="Google Shape;173;p9"/>
          <p:cNvSpPr txBox="1"/>
          <p:nvPr/>
        </p:nvSpPr>
        <p:spPr>
          <a:xfrm>
            <a:off x="942380" y="31868008"/>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Plongeons dans la couche Bronze. De l'autre côté de Kafka, un Consumer tourne en continu. Son rôle est très simple mais vital : dépiler les messages, ajouter un timestamp technique d'ingestion (`ingested_at`), et sauvegarder le tout.</a:t>
            </a:r>
            <a:endParaRPr sz="2300"/>
          </a:p>
        </p:txBody>
      </p:sp>
      <p:sp>
        <p:nvSpPr>
          <p:cNvPr id="174" name="Google Shape;174;p9"/>
          <p:cNvSpPr txBox="1"/>
          <p:nvPr/>
        </p:nvSpPr>
        <p:spPr>
          <a:xfrm>
            <a:off x="942380" y="32830726"/>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J'ai choisi MinIO comme solution de stockage. MinIO agit comme un Amazon S3 local. Il permet de stocker nos JSON sous forme de stockage objet (Object Storage), ce qui est beaucoup plus scalable et moins coûteux qu'une base de données relationnelle pour des données brutes non structurées.</a:t>
            </a:r>
            <a:endParaRPr sz="2300"/>
          </a:p>
        </p:txBody>
      </p:sp>
      <p:sp>
        <p:nvSpPr>
          <p:cNvPr id="175" name="Google Shape;175;p9"/>
          <p:cNvSpPr txBox="1"/>
          <p:nvPr/>
        </p:nvSpPr>
        <p:spPr>
          <a:xfrm>
            <a:off x="1335038" y="34800412"/>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76" name="Google Shape;176;p9"/>
          <p:cNvSpPr txBox="1"/>
          <p:nvPr/>
        </p:nvSpPr>
        <p:spPr>
          <a:xfrm>
            <a:off x="942380" y="3569085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La couche Silver est là où le "nettoyage" a lieu. J'ai développé des scripts Python dédiés. Le premier retire tout le bruit HTML restant et applique une librairie de NLP (Langdetect) pour identifier la langue de l'article, ce qui sera utile pour nos analyses par région.</a:t>
            </a:r>
            <a:endParaRPr sz="2300"/>
          </a:p>
        </p:txBody>
      </p:sp>
      <p:sp>
        <p:nvSpPr>
          <p:cNvPr id="177" name="Google Shape;177;p9"/>
          <p:cNvSpPr txBox="1"/>
          <p:nvPr/>
        </p:nvSpPr>
        <p:spPr>
          <a:xfrm>
            <a:off x="942380" y="36653568"/>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Ensuite, j'applique des règles de Data Quality. Est-ce que le titre est nul ? L'article est-il absurdement court (&lt; 50 chars) ? Au lieu d'effacer silencieusement ces données, j'applique un flag `quality_flag`. C'est une bonne pratique en ingénierie de données : on ne détruit jamais l'information, on la qualifie pour que l'analyste décide s'il l'inclut ou non dans ses rapports.</a:t>
            </a:r>
            <a:endParaRPr sz="2300"/>
          </a:p>
        </p:txBody>
      </p:sp>
      <p:sp>
        <p:nvSpPr>
          <p:cNvPr id="178" name="Google Shape;178;p9"/>
          <p:cNvSpPr txBox="1"/>
          <p:nvPr/>
        </p:nvSpPr>
        <p:spPr>
          <a:xfrm>
            <a:off x="1335038" y="39025943"/>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79" name="Google Shape;179;p9"/>
          <p:cNvSpPr txBox="1"/>
          <p:nvPr/>
        </p:nvSpPr>
        <p:spPr>
          <a:xfrm>
            <a:off x="942380" y="39916384"/>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Nous arrivons dans la couche Gold. Ici, le script Pandas prend le relais. Son but n'est plus la ligne par ligne, mais l'analyse globale.</a:t>
            </a:r>
            <a:endParaRPr sz="2300"/>
          </a:p>
        </p:txBody>
      </p:sp>
      <p:sp>
        <p:nvSpPr>
          <p:cNvPr id="180" name="Google Shape;180;p9"/>
          <p:cNvSpPr txBox="1"/>
          <p:nvPr/>
        </p:nvSpPr>
        <p:spPr>
          <a:xfrm>
            <a:off x="942380" y="4047641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Je génère des tables de faits et de dimensions. L'aspect le plus intéressant techniquement a été l'implémentation d'une petite logique NLP : je tokenise le texte, j'exclus les 'stopwords' (comme "le", "et", "the"), et je calcule la fréquence des mots. Cela nous permet de livrer un fichier CSV contenant les 20 mots-clés du jour, offrant une vision directe sur les sujets brûlants de l'actualité, prêts à être affichés dans un dashboard.</a:t>
            </a:r>
            <a:endParaRPr sz="2300"/>
          </a:p>
        </p:txBody>
      </p:sp>
      <p:sp>
        <p:nvSpPr>
          <p:cNvPr id="181" name="Google Shape;181;p9"/>
          <p:cNvSpPr txBox="1"/>
          <p:nvPr/>
        </p:nvSpPr>
        <p:spPr>
          <a:xfrm>
            <a:off x="1335038" y="42848788"/>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82" name="Google Shape;182;p9"/>
          <p:cNvSpPr txBox="1"/>
          <p:nvPr/>
        </p:nvSpPr>
        <p:spPr>
          <a:xfrm>
            <a:off x="942380" y="43739227"/>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L'étape finale du parcours de la donnée est son chargement dans le Data Warehouse. Pour ce projet, j'ai configuré une base PostgreSQL nommée `newsdw`.</a:t>
            </a:r>
            <a:endParaRPr sz="2300"/>
          </a:p>
        </p:txBody>
      </p:sp>
      <p:sp>
        <p:nvSpPr>
          <p:cNvPr id="183" name="Google Shape;183;p9"/>
          <p:cNvSpPr txBox="1"/>
          <p:nvPr/>
        </p:nvSpPr>
        <p:spPr>
          <a:xfrm>
            <a:off x="942380" y="44299256"/>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Plutôt que d'écrire des requêtes d'insertion manuelles en texte brut, j'ai intégré SQLAlchemy, un ORM Python robuste. Cela garantit la sécurité (contre les injections SQL), gère proprement les transactions et gère les types de données. À ce stade, la donnée est parfaitement structurée, indexée et prête à être consommée par les utilisateurs finaux via des requêtes SQL ultra-rapides.</a:t>
            </a:r>
            <a:endParaRPr sz="2300"/>
          </a:p>
        </p:txBody>
      </p:sp>
      <p:sp>
        <p:nvSpPr>
          <p:cNvPr id="184" name="Google Shape;184;p9"/>
          <p:cNvSpPr txBox="1"/>
          <p:nvPr/>
        </p:nvSpPr>
        <p:spPr>
          <a:xfrm>
            <a:off x="1335038" y="46671630"/>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85" name="Google Shape;185;p9"/>
          <p:cNvSpPr txBox="1"/>
          <p:nvPr/>
        </p:nvSpPr>
        <p:spPr>
          <a:xfrm>
            <a:off x="942380" y="4756207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Un pipeline n'a aucune valeur s'il doit être lancé à la main. J'ai donc déployé Apache Airflow pour orchestrer tout cela. J'ai écrit un DAG (Directed Acyclic Graph) planifié toutes les 5 minutes.</a:t>
            </a:r>
            <a:endParaRPr sz="2300"/>
          </a:p>
        </p:txBody>
      </p:sp>
      <p:sp>
        <p:nvSpPr>
          <p:cNvPr id="186" name="Google Shape;186;p9"/>
          <p:cNvSpPr txBox="1"/>
          <p:nvPr/>
        </p:nvSpPr>
        <p:spPr>
          <a:xfrm>
            <a:off x="942380" y="48524787"/>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Ce que j'apprécie particulièrement avec Airflow, c'est la gestion des dépendances. Le flux `scraping &gt;&gt; silver &gt;&gt; gold &gt;&gt; dwh` est strict. Si le nettoyage Silver plante à cause d'une anomalie, Airflow stoppe tout. Il n'y a aucun risque de charger des données corrompues dans le DWH. C'est l'outil indispensable pour surveiller la santé du pipeline.</a:t>
            </a:r>
            <a:endParaRPr sz="2300"/>
          </a:p>
        </p:txBody>
      </p:sp>
      <p:sp>
        <p:nvSpPr>
          <p:cNvPr id="187" name="Google Shape;187;p9"/>
          <p:cNvSpPr txBox="1"/>
          <p:nvPr/>
        </p:nvSpPr>
        <p:spPr>
          <a:xfrm>
            <a:off x="1335038" y="50494473"/>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88" name="Google Shape;188;p9"/>
          <p:cNvSpPr txBox="1"/>
          <p:nvPr/>
        </p:nvSpPr>
        <p:spPr>
          <a:xfrm>
            <a:off x="942380" y="51384914"/>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J'aimerais prendre un moment pour souligner l'effort technique derrière ce projet. Je ne me suis pas contenté d'outils simples ; j'ai volontairement exploré des technologies industrielles complexes.</a:t>
            </a:r>
            <a:endParaRPr sz="2300"/>
          </a:p>
        </p:txBody>
      </p:sp>
      <p:sp>
        <p:nvSpPr>
          <p:cNvPr id="189" name="Google Shape;189;p9"/>
          <p:cNvSpPr txBox="1"/>
          <p:nvPr/>
        </p:nvSpPr>
        <p:spPr>
          <a:xfrm>
            <a:off x="942380" y="52347631"/>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Docker a été un gros défi : réussir à créer un réseau virtuel où Kafka parle au script Python, pendant qu'Airflow pilote le tout, a nécessité beaucoup d'essais et de débogage réseau. Pour Kafka, comprendre la liaison avec Zookeeper et la logique de publication/souscription m'a demandé de sortir de ma zone de confort par rapport aux bases de données classiques. Enfin, maîtriser Airflow m'a appris à penser en termes de "Tâches indépendantes et idempotentes". Cet apprentissage est pour moi la plus grande réussite de ce projet.</a:t>
            </a:r>
            <a:endParaRPr sz="2300"/>
          </a:p>
        </p:txBody>
      </p:sp>
      <p:sp>
        <p:nvSpPr>
          <p:cNvPr id="190" name="Google Shape;190;p9"/>
          <p:cNvSpPr txBox="1"/>
          <p:nvPr/>
        </p:nvSpPr>
        <p:spPr>
          <a:xfrm>
            <a:off x="1335038" y="55122696"/>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91" name="Google Shape;191;p9"/>
          <p:cNvSpPr txBox="1"/>
          <p:nvPr/>
        </p:nvSpPr>
        <p:spPr>
          <a:xfrm>
            <a:off x="942380" y="56013135"/>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Bien sûr, un projet de cette envergure vient avec son lot de problèmes. Le Scraping est intrinsèquement fragile : une mise à jour CSS de la BBC et le scraper échoue. J'ai dû rendre mon code Python beaucoup plus défensif avec des blocs Try/Except et des sélecteurs plus génériques.</a:t>
            </a:r>
            <a:endParaRPr sz="2300"/>
          </a:p>
        </p:txBody>
      </p:sp>
      <p:sp>
        <p:nvSpPr>
          <p:cNvPr id="192" name="Google Shape;192;p9"/>
          <p:cNvSpPr txBox="1"/>
          <p:nvPr/>
        </p:nvSpPr>
        <p:spPr>
          <a:xfrm>
            <a:off x="942380" y="56975852"/>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J'ai également fait face à des problèmes de mémoire en essayant de charger de trop gros fichiers JSON d'un coup. J'ai résolu cela en apprenant à utiliser les fonctions de traitement par lots (chunks) de Pandas. Enfin, le nettoyage de texte m'a poussé à réviser mes expressions régulières (Regex) pour éliminer les caractères invisibles qui polluaient mon analyse NLP.</a:t>
            </a:r>
            <a:endParaRPr sz="2300"/>
          </a:p>
        </p:txBody>
      </p:sp>
      <p:sp>
        <p:nvSpPr>
          <p:cNvPr id="193" name="Google Shape;193;p9"/>
          <p:cNvSpPr txBox="1"/>
          <p:nvPr/>
        </p:nvSpPr>
        <p:spPr>
          <a:xfrm>
            <a:off x="1335038" y="59348229"/>
            <a:ext cx="1871790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500" u="none" cap="none" strike="noStrike">
                <a:solidFill>
                  <a:srgbClr val="0369A1"/>
                </a:solidFill>
                <a:latin typeface="Poppins"/>
                <a:ea typeface="Poppins"/>
                <a:cs typeface="Poppins"/>
                <a:sym typeface="Poppins"/>
              </a:rPr>
              <a:t>Notes de l'orateur</a:t>
            </a:r>
            <a:endParaRPr sz="2300"/>
          </a:p>
        </p:txBody>
      </p:sp>
      <p:sp>
        <p:nvSpPr>
          <p:cNvPr id="194" name="Google Shape;194;p9"/>
          <p:cNvSpPr txBox="1"/>
          <p:nvPr/>
        </p:nvSpPr>
        <p:spPr>
          <a:xfrm>
            <a:off x="942380" y="60238668"/>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En conclusion, ce projet m'a permis de construire un pipeline complet, fonctionnel et automatisé, qui reflète la réalité du métier de Data Engineer. Le socle est solide, mais il y a toujours place à l'amélioration.</a:t>
            </a:r>
            <a:endParaRPr sz="2300"/>
          </a:p>
        </p:txBody>
      </p:sp>
      <p:sp>
        <p:nvSpPr>
          <p:cNvPr id="195" name="Google Shape;195;p9"/>
          <p:cNvSpPr txBox="1"/>
          <p:nvPr/>
        </p:nvSpPr>
        <p:spPr>
          <a:xfrm>
            <a:off x="942380" y="61201385"/>
            <a:ext cx="18219300" cy="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334155"/>
                </a:solidFill>
                <a:latin typeface="Lato"/>
                <a:ea typeface="Lato"/>
                <a:cs typeface="Lato"/>
                <a:sym typeface="Lato"/>
              </a:rPr>
              <a:t>Pour une V2, j'envisage d'intégrer Apache Spark pour remplacer Pandas et gérer des volumes Big Data. Je souhaite également brancher une couche de visualisation comme Metabase pour exploiter visuellement le Data Warehouse, et pourquoi pas, intégrer un modèle de NLP pour faire de l'analyse de sentiment (positif/négatif) sur les actualités traitées. Merci beaucoup pour votre attention, je suis à votre disposition pour vos questions.</a:t>
            </a:r>
            <a:endParaRPr sz="2300"/>
          </a:p>
        </p:txBody>
      </p:sp>
      <p:sp>
        <p:nvSpPr>
          <p:cNvPr id="196" name="Google Shape;196;p9"/>
          <p:cNvSpPr txBox="1"/>
          <p:nvPr/>
        </p:nvSpPr>
        <p:spPr>
          <a:xfrm>
            <a:off x="4824197" y="3408107"/>
            <a:ext cx="10455600" cy="1139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400" u="none" cap="none" strike="noStrike">
                <a:solidFill>
                  <a:srgbClr val="0369A1"/>
                </a:solidFill>
                <a:latin typeface="Poppins"/>
                <a:ea typeface="Poppins"/>
                <a:cs typeface="Poppins"/>
                <a:sym typeface="Poppins"/>
              </a:rPr>
              <a:t>Contexte &amp; Objectifs</a:t>
            </a:r>
            <a:endParaRPr sz="2300"/>
          </a:p>
        </p:txBody>
      </p:sp>
      <p:sp>
        <p:nvSpPr>
          <p:cNvPr id="197" name="Google Shape;197;p9"/>
          <p:cNvSpPr/>
          <p:nvPr/>
        </p:nvSpPr>
        <p:spPr>
          <a:xfrm>
            <a:off x="9266734" y="5610852"/>
            <a:ext cx="1570500" cy="78900"/>
          </a:xfrm>
          <a:prstGeom prst="rect">
            <a:avLst/>
          </a:prstGeom>
          <a:solidFill>
            <a:srgbClr val="0EA5E9"/>
          </a:solidFill>
          <a:ln>
            <a:noFill/>
          </a:ln>
        </p:spPr>
        <p:txBody>
          <a:bodyPr anchorCtr="0" anchor="ctr" bIns="75400" lIns="150850" spcFirstLastPara="1" rIns="150850" wrap="square" tIns="75400">
            <a:noAutofit/>
          </a:bodyPr>
          <a:lstStyle/>
          <a:p>
            <a:pPr indent="0" lvl="0" marL="0" marR="0" rtl="0" algn="ctr">
              <a:spcBef>
                <a:spcPts val="0"/>
              </a:spcBef>
              <a:spcAft>
                <a:spcPts val="0"/>
              </a:spcAft>
              <a:buNone/>
            </a:pPr>
            <a:r>
              <a:t/>
            </a:r>
            <a:endParaRPr b="0" i="0" sz="3000" u="none" cap="none" strike="noStrike">
              <a:solidFill>
                <a:schemeClr val="dk1"/>
              </a:solidFill>
              <a:latin typeface="Calibri"/>
              <a:ea typeface="Calibri"/>
              <a:cs typeface="Calibri"/>
              <a:sym typeface="Calibri"/>
            </a:endParaRPr>
          </a:p>
        </p:txBody>
      </p:sp>
      <p:sp>
        <p:nvSpPr>
          <p:cNvPr id="198" name="Google Shape;198;p9"/>
          <p:cNvSpPr txBox="1"/>
          <p:nvPr/>
        </p:nvSpPr>
        <p:spPr>
          <a:xfrm>
            <a:off x="2984202" y="6476216"/>
            <a:ext cx="14135700" cy="120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3000" u="none" cap="none" strike="noStrike">
                <a:solidFill>
                  <a:srgbClr val="334155"/>
                </a:solidFill>
                <a:latin typeface="Lato"/>
                <a:ea typeface="Lato"/>
                <a:cs typeface="Lato"/>
                <a:sym typeface="Lato"/>
              </a:rPr>
              <a:t>Centraliser, traiter et fiabiliser des flux massifs d'actualités en temps quasi-réel pour l'analyse décisionnelle.</a:t>
            </a:r>
            <a:endParaRPr sz="2300"/>
          </a:p>
        </p:txBody>
      </p:sp>
      <p:pic>
        <p:nvPicPr>
          <p:cNvPr descr="image.png" id="199" name="Google Shape;199;p9"/>
          <p:cNvPicPr preferRelativeResize="0"/>
          <p:nvPr/>
        </p:nvPicPr>
        <p:blipFill rotWithShape="1">
          <a:blip r:embed="rId17">
            <a:alphaModFix/>
          </a:blip>
          <a:srcRect b="0" l="0" r="0" t="0"/>
          <a:stretch/>
        </p:blipFill>
        <p:spPr>
          <a:xfrm>
            <a:off x="942380" y="15764864"/>
            <a:ext cx="235595" cy="314678"/>
          </a:xfrm>
          <a:prstGeom prst="rect">
            <a:avLst/>
          </a:prstGeom>
          <a:noFill/>
          <a:ln>
            <a:noFill/>
          </a:ln>
        </p:spPr>
      </p:pic>
      <p:pic>
        <p:nvPicPr>
          <p:cNvPr descr="image.png" id="200" name="Google Shape;200;p9"/>
          <p:cNvPicPr preferRelativeResize="0"/>
          <p:nvPr/>
        </p:nvPicPr>
        <p:blipFill rotWithShape="1">
          <a:blip r:embed="rId17">
            <a:alphaModFix/>
          </a:blip>
          <a:srcRect b="0" l="0" r="0" t="0"/>
          <a:stretch/>
        </p:blipFill>
        <p:spPr>
          <a:xfrm>
            <a:off x="942380" y="19587707"/>
            <a:ext cx="235595" cy="314678"/>
          </a:xfrm>
          <a:prstGeom prst="rect">
            <a:avLst/>
          </a:prstGeom>
          <a:noFill/>
          <a:ln>
            <a:noFill/>
          </a:ln>
        </p:spPr>
      </p:pic>
      <p:pic>
        <p:nvPicPr>
          <p:cNvPr descr="image.png" id="201" name="Google Shape;201;p9"/>
          <p:cNvPicPr preferRelativeResize="0"/>
          <p:nvPr/>
        </p:nvPicPr>
        <p:blipFill rotWithShape="1">
          <a:blip r:embed="rId17">
            <a:alphaModFix/>
          </a:blip>
          <a:srcRect b="0" l="0" r="0" t="0"/>
          <a:stretch/>
        </p:blipFill>
        <p:spPr>
          <a:xfrm>
            <a:off x="942380" y="23410552"/>
            <a:ext cx="235595" cy="314678"/>
          </a:xfrm>
          <a:prstGeom prst="rect">
            <a:avLst/>
          </a:prstGeom>
          <a:noFill/>
          <a:ln>
            <a:noFill/>
          </a:ln>
        </p:spPr>
      </p:pic>
      <p:pic>
        <p:nvPicPr>
          <p:cNvPr descr="image.png" id="202" name="Google Shape;202;p9"/>
          <p:cNvPicPr preferRelativeResize="0"/>
          <p:nvPr/>
        </p:nvPicPr>
        <p:blipFill rotWithShape="1">
          <a:blip r:embed="rId17">
            <a:alphaModFix/>
          </a:blip>
          <a:srcRect b="0" l="0" r="0" t="0"/>
          <a:stretch/>
        </p:blipFill>
        <p:spPr>
          <a:xfrm>
            <a:off x="942380" y="27233394"/>
            <a:ext cx="235595" cy="314678"/>
          </a:xfrm>
          <a:prstGeom prst="rect">
            <a:avLst/>
          </a:prstGeom>
          <a:noFill/>
          <a:ln>
            <a:noFill/>
          </a:ln>
        </p:spPr>
      </p:pic>
      <p:pic>
        <p:nvPicPr>
          <p:cNvPr descr="image.png" id="203" name="Google Shape;203;p9"/>
          <p:cNvPicPr preferRelativeResize="0"/>
          <p:nvPr/>
        </p:nvPicPr>
        <p:blipFill rotWithShape="1">
          <a:blip r:embed="rId17">
            <a:alphaModFix/>
          </a:blip>
          <a:srcRect b="0" l="0" r="0" t="0"/>
          <a:stretch/>
        </p:blipFill>
        <p:spPr>
          <a:xfrm>
            <a:off x="942380" y="31056237"/>
            <a:ext cx="235595" cy="314678"/>
          </a:xfrm>
          <a:prstGeom prst="rect">
            <a:avLst/>
          </a:prstGeom>
          <a:noFill/>
          <a:ln>
            <a:noFill/>
          </a:ln>
        </p:spPr>
      </p:pic>
      <p:pic>
        <p:nvPicPr>
          <p:cNvPr descr="image.png" id="204" name="Google Shape;204;p9"/>
          <p:cNvPicPr preferRelativeResize="0"/>
          <p:nvPr/>
        </p:nvPicPr>
        <p:blipFill rotWithShape="1">
          <a:blip r:embed="rId17">
            <a:alphaModFix/>
          </a:blip>
          <a:srcRect b="0" l="0" r="0" t="0"/>
          <a:stretch/>
        </p:blipFill>
        <p:spPr>
          <a:xfrm>
            <a:off x="942380" y="34879081"/>
            <a:ext cx="235595" cy="314678"/>
          </a:xfrm>
          <a:prstGeom prst="rect">
            <a:avLst/>
          </a:prstGeom>
          <a:noFill/>
          <a:ln>
            <a:noFill/>
          </a:ln>
        </p:spPr>
      </p:pic>
      <p:pic>
        <p:nvPicPr>
          <p:cNvPr descr="image.png" id="205" name="Google Shape;205;p9"/>
          <p:cNvPicPr preferRelativeResize="0"/>
          <p:nvPr/>
        </p:nvPicPr>
        <p:blipFill rotWithShape="1">
          <a:blip r:embed="rId18">
            <a:alphaModFix/>
          </a:blip>
          <a:srcRect b="0" l="0" r="0" t="0"/>
          <a:stretch/>
        </p:blipFill>
        <p:spPr>
          <a:xfrm>
            <a:off x="942380" y="39104613"/>
            <a:ext cx="235595" cy="314678"/>
          </a:xfrm>
          <a:prstGeom prst="rect">
            <a:avLst/>
          </a:prstGeom>
          <a:noFill/>
          <a:ln>
            <a:noFill/>
          </a:ln>
        </p:spPr>
      </p:pic>
      <p:pic>
        <p:nvPicPr>
          <p:cNvPr descr="image.png" id="206" name="Google Shape;206;p9"/>
          <p:cNvPicPr preferRelativeResize="0"/>
          <p:nvPr/>
        </p:nvPicPr>
        <p:blipFill rotWithShape="1">
          <a:blip r:embed="rId18">
            <a:alphaModFix/>
          </a:blip>
          <a:srcRect b="0" l="0" r="0" t="0"/>
          <a:stretch/>
        </p:blipFill>
        <p:spPr>
          <a:xfrm>
            <a:off x="942380" y="42927457"/>
            <a:ext cx="235595" cy="314678"/>
          </a:xfrm>
          <a:prstGeom prst="rect">
            <a:avLst/>
          </a:prstGeom>
          <a:noFill/>
          <a:ln>
            <a:noFill/>
          </a:ln>
        </p:spPr>
      </p:pic>
      <p:pic>
        <p:nvPicPr>
          <p:cNvPr descr="image.png" id="207" name="Google Shape;207;p9"/>
          <p:cNvPicPr preferRelativeResize="0"/>
          <p:nvPr/>
        </p:nvPicPr>
        <p:blipFill rotWithShape="1">
          <a:blip r:embed="rId18">
            <a:alphaModFix/>
          </a:blip>
          <a:srcRect b="0" l="0" r="0" t="0"/>
          <a:stretch/>
        </p:blipFill>
        <p:spPr>
          <a:xfrm>
            <a:off x="942380" y="46750300"/>
            <a:ext cx="235595" cy="314678"/>
          </a:xfrm>
          <a:prstGeom prst="rect">
            <a:avLst/>
          </a:prstGeom>
          <a:noFill/>
          <a:ln>
            <a:noFill/>
          </a:ln>
        </p:spPr>
      </p:pic>
      <p:pic>
        <p:nvPicPr>
          <p:cNvPr descr="image.png" id="208" name="Google Shape;208;p9"/>
          <p:cNvPicPr preferRelativeResize="0"/>
          <p:nvPr/>
        </p:nvPicPr>
        <p:blipFill rotWithShape="1">
          <a:blip r:embed="rId18">
            <a:alphaModFix/>
          </a:blip>
          <a:srcRect b="0" l="0" r="0" t="0"/>
          <a:stretch/>
        </p:blipFill>
        <p:spPr>
          <a:xfrm>
            <a:off x="942380" y="50573143"/>
            <a:ext cx="235595" cy="314678"/>
          </a:xfrm>
          <a:prstGeom prst="rect">
            <a:avLst/>
          </a:prstGeom>
          <a:noFill/>
          <a:ln>
            <a:noFill/>
          </a:ln>
        </p:spPr>
      </p:pic>
      <p:pic>
        <p:nvPicPr>
          <p:cNvPr descr="image.png" id="209" name="Google Shape;209;p9"/>
          <p:cNvPicPr preferRelativeResize="0"/>
          <p:nvPr/>
        </p:nvPicPr>
        <p:blipFill rotWithShape="1">
          <a:blip r:embed="rId18">
            <a:alphaModFix/>
          </a:blip>
          <a:srcRect b="0" l="0" r="0" t="0"/>
          <a:stretch/>
        </p:blipFill>
        <p:spPr>
          <a:xfrm>
            <a:off x="942380" y="55201365"/>
            <a:ext cx="235595" cy="314678"/>
          </a:xfrm>
          <a:prstGeom prst="rect">
            <a:avLst/>
          </a:prstGeom>
          <a:noFill/>
          <a:ln>
            <a:noFill/>
          </a:ln>
        </p:spPr>
      </p:pic>
      <p:pic>
        <p:nvPicPr>
          <p:cNvPr descr="image.png" id="210" name="Google Shape;210;p9"/>
          <p:cNvPicPr preferRelativeResize="0"/>
          <p:nvPr/>
        </p:nvPicPr>
        <p:blipFill rotWithShape="1">
          <a:blip r:embed="rId19">
            <a:alphaModFix/>
          </a:blip>
          <a:srcRect b="0" l="0" r="0" t="0"/>
          <a:stretch/>
        </p:blipFill>
        <p:spPr>
          <a:xfrm>
            <a:off x="942380" y="59426898"/>
            <a:ext cx="235595" cy="31412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4" name="Shape 214"/>
        <p:cNvGrpSpPr/>
        <p:nvPr/>
      </p:nvGrpSpPr>
      <p:grpSpPr>
        <a:xfrm>
          <a:off x="0" y="0"/>
          <a:ext cx="0" cy="0"/>
          <a:chOff x="0" y="0"/>
          <a:chExt cx="0" cy="0"/>
        </a:xfrm>
      </p:grpSpPr>
      <p:sp>
        <p:nvSpPr>
          <p:cNvPr id="215" name="Google Shape;215;p10"/>
          <p:cNvSpPr txBox="1"/>
          <p:nvPr/>
        </p:nvSpPr>
        <p:spPr>
          <a:xfrm>
            <a:off x="927515" y="3364814"/>
            <a:ext cx="7277700" cy="31140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500">
                <a:solidFill>
                  <a:srgbClr val="0180CA"/>
                </a:solidFill>
                <a:latin typeface="Arial"/>
                <a:ea typeface="Arial"/>
                <a:cs typeface="Arial"/>
                <a:sym typeface="Arial"/>
              </a:rPr>
              <a:t>Stock </a:t>
            </a:r>
            <a:r>
              <a:rPr lang="en-US" sz="4500">
                <a:solidFill>
                  <a:srgbClr val="0085C6"/>
                </a:solidFill>
                <a:latin typeface="Arial"/>
                <a:ea typeface="Arial"/>
                <a:cs typeface="Arial"/>
                <a:sym typeface="Arial"/>
              </a:rPr>
              <a:t>Technologique</a:t>
            </a:r>
            <a:endParaRPr sz="4500">
              <a:latin typeface="Arial"/>
              <a:ea typeface="Arial"/>
              <a:cs typeface="Arial"/>
              <a:sym typeface="Arial"/>
            </a:endParaRPr>
          </a:p>
          <a:p>
            <a:pPr indent="0" lvl="0" marL="481965" rtl="0" algn="l">
              <a:lnSpc>
                <a:spcPct val="100000"/>
              </a:lnSpc>
              <a:spcBef>
                <a:spcPts val="2835"/>
              </a:spcBef>
              <a:spcAft>
                <a:spcPts val="0"/>
              </a:spcAft>
              <a:buNone/>
            </a:pPr>
            <a:r>
              <a:rPr lang="en-US" sz="2700">
                <a:solidFill>
                  <a:srgbClr val="3A3A3A"/>
                </a:solidFill>
                <a:latin typeface="Calibri"/>
                <a:ea typeface="Calibri"/>
                <a:cs typeface="Calibri"/>
                <a:sym typeface="Calibri"/>
              </a:rPr>
              <a:t>Streaming </a:t>
            </a:r>
            <a:r>
              <a:rPr lang="en-US" sz="2700">
                <a:solidFill>
                  <a:srgbClr val="3B4D60"/>
                </a:solidFill>
                <a:latin typeface="Calibri"/>
                <a:ea typeface="Calibri"/>
                <a:cs typeface="Calibri"/>
                <a:sym typeface="Calibri"/>
              </a:rPr>
              <a:t>&amp; </a:t>
            </a:r>
            <a:r>
              <a:rPr lang="en-US" sz="2700">
                <a:solidFill>
                  <a:srgbClr val="333333"/>
                </a:solidFill>
                <a:latin typeface="Calibri"/>
                <a:ea typeface="Calibri"/>
                <a:cs typeface="Calibri"/>
                <a:sym typeface="Calibri"/>
              </a:rPr>
              <a:t>Messages: Apache Kafka, </a:t>
            </a:r>
            <a:r>
              <a:rPr lang="en-US" sz="2700">
                <a:solidFill>
                  <a:srgbClr val="313131"/>
                </a:solidFill>
                <a:latin typeface="Calibri"/>
                <a:ea typeface="Calibri"/>
                <a:cs typeface="Calibri"/>
                <a:sym typeface="Calibri"/>
              </a:rPr>
              <a:t>Zookeeper</a:t>
            </a:r>
            <a:endParaRPr sz="2700">
              <a:latin typeface="Calibri"/>
              <a:ea typeface="Calibri"/>
              <a:cs typeface="Calibri"/>
              <a:sym typeface="Calibri"/>
            </a:endParaRPr>
          </a:p>
          <a:p>
            <a:pPr indent="1270" lvl="0" marL="481965" marR="909955" rtl="0" algn="l">
              <a:lnSpc>
                <a:spcPct val="252156"/>
              </a:lnSpc>
              <a:spcBef>
                <a:spcPts val="545"/>
              </a:spcBef>
              <a:spcAft>
                <a:spcPts val="0"/>
              </a:spcAft>
              <a:buNone/>
            </a:pPr>
            <a:r>
              <a:rPr lang="en-US" sz="2550">
                <a:solidFill>
                  <a:srgbClr val="3F3F3F"/>
                </a:solidFill>
                <a:latin typeface="Calibri"/>
                <a:ea typeface="Calibri"/>
                <a:cs typeface="Calibri"/>
                <a:sym typeface="Calibri"/>
              </a:rPr>
              <a:t>Traitement </a:t>
            </a:r>
            <a:r>
              <a:rPr lang="en-US" sz="2550">
                <a:solidFill>
                  <a:srgbClr val="2D2D2D"/>
                </a:solidFill>
                <a:latin typeface="Calibri"/>
                <a:ea typeface="Calibri"/>
                <a:cs typeface="Calibri"/>
                <a:sym typeface="Calibri"/>
              </a:rPr>
              <a:t>: </a:t>
            </a:r>
            <a:r>
              <a:rPr lang="en-US" sz="2550">
                <a:solidFill>
                  <a:srgbClr val="333333"/>
                </a:solidFill>
                <a:latin typeface="Calibri"/>
                <a:ea typeface="Calibri"/>
                <a:cs typeface="Calibri"/>
                <a:sym typeface="Calibri"/>
              </a:rPr>
              <a:t>Python, Pandas, </a:t>
            </a:r>
            <a:r>
              <a:rPr lang="en-US" sz="2550">
                <a:solidFill>
                  <a:srgbClr val="262626"/>
                </a:solidFill>
                <a:latin typeface="Calibri"/>
                <a:ea typeface="Calibri"/>
                <a:cs typeface="Calibri"/>
                <a:sym typeface="Calibri"/>
              </a:rPr>
              <a:t>BeautifulSoup </a:t>
            </a:r>
            <a:r>
              <a:rPr lang="en-US" sz="2550">
                <a:solidFill>
                  <a:srgbClr val="313131"/>
                </a:solidFill>
                <a:latin typeface="Calibri"/>
                <a:ea typeface="Calibri"/>
                <a:cs typeface="Calibri"/>
                <a:sym typeface="Calibri"/>
              </a:rPr>
              <a:t>Data Lake </a:t>
            </a:r>
            <a:r>
              <a:rPr lang="en-US" sz="2550">
                <a:solidFill>
                  <a:srgbClr val="363636"/>
                </a:solidFill>
                <a:latin typeface="Calibri"/>
                <a:ea typeface="Calibri"/>
                <a:cs typeface="Calibri"/>
                <a:sym typeface="Calibri"/>
              </a:rPr>
              <a:t>: </a:t>
            </a:r>
            <a:r>
              <a:rPr lang="en-US" sz="2550">
                <a:solidFill>
                  <a:srgbClr val="343434"/>
                </a:solidFill>
                <a:latin typeface="Calibri"/>
                <a:ea typeface="Calibri"/>
                <a:cs typeface="Calibri"/>
                <a:sym typeface="Calibri"/>
              </a:rPr>
              <a:t>MinIO </a:t>
            </a:r>
            <a:r>
              <a:rPr lang="en-US" sz="2550">
                <a:solidFill>
                  <a:srgbClr val="333333"/>
                </a:solidFill>
                <a:latin typeface="Calibri"/>
                <a:ea typeface="Calibri"/>
                <a:cs typeface="Calibri"/>
                <a:sym typeface="Calibri"/>
              </a:rPr>
              <a:t>(Compatib</a:t>
            </a:r>
            <a:r>
              <a:rPr lang="en-US" sz="2550">
                <a:solidFill>
                  <a:srgbClr val="333333"/>
                </a:solidFill>
                <a:latin typeface="Calibri"/>
                <a:ea typeface="Calibri"/>
                <a:cs typeface="Calibri"/>
                <a:sym typeface="Calibri"/>
              </a:rPr>
              <a:t>l</a:t>
            </a:r>
            <a:r>
              <a:rPr lang="en-US" sz="2550">
                <a:solidFill>
                  <a:srgbClr val="333333"/>
                </a:solidFill>
                <a:latin typeface="Calibri"/>
                <a:ea typeface="Calibri"/>
                <a:cs typeface="Calibri"/>
                <a:sym typeface="Calibri"/>
              </a:rPr>
              <a:t>e </a:t>
            </a:r>
            <a:r>
              <a:rPr lang="en-US" sz="2550">
                <a:solidFill>
                  <a:srgbClr val="343434"/>
                </a:solidFill>
                <a:latin typeface="Calibri"/>
                <a:ea typeface="Calibri"/>
                <a:cs typeface="Calibri"/>
                <a:sym typeface="Calibri"/>
              </a:rPr>
              <a:t>S3)</a:t>
            </a:r>
            <a:endParaRPr sz="2550">
              <a:latin typeface="Calibri"/>
              <a:ea typeface="Calibri"/>
              <a:cs typeface="Calibri"/>
              <a:sym typeface="Calibri"/>
            </a:endParaRPr>
          </a:p>
        </p:txBody>
      </p:sp>
      <p:sp>
        <p:nvSpPr>
          <p:cNvPr id="216" name="Google Shape;216;p10"/>
          <p:cNvSpPr txBox="1"/>
          <p:nvPr/>
        </p:nvSpPr>
        <p:spPr>
          <a:xfrm>
            <a:off x="1395574" y="6860782"/>
            <a:ext cx="6489600" cy="4383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2700">
                <a:solidFill>
                  <a:srgbClr val="313131"/>
                </a:solidFill>
                <a:latin typeface="Calibri"/>
                <a:ea typeface="Calibri"/>
                <a:cs typeface="Calibri"/>
                <a:sym typeface="Calibri"/>
              </a:rPr>
              <a:t>Data </a:t>
            </a:r>
            <a:r>
              <a:rPr lang="en-US" sz="2700">
                <a:solidFill>
                  <a:srgbClr val="363636"/>
                </a:solidFill>
                <a:latin typeface="Calibri"/>
                <a:ea typeface="Calibri"/>
                <a:cs typeface="Calibri"/>
                <a:sym typeface="Calibri"/>
              </a:rPr>
              <a:t>Warehouse: PostgreSQL </a:t>
            </a:r>
            <a:r>
              <a:rPr lang="en-US" sz="2700">
                <a:solidFill>
                  <a:srgbClr val="333333"/>
                </a:solidFill>
                <a:latin typeface="Calibri"/>
                <a:ea typeface="Calibri"/>
                <a:cs typeface="Calibri"/>
                <a:sym typeface="Calibri"/>
              </a:rPr>
              <a:t>(Base”newsdw')</a:t>
            </a:r>
            <a:endParaRPr sz="2700">
              <a:latin typeface="Calibri"/>
              <a:ea typeface="Calibri"/>
              <a:cs typeface="Calibri"/>
              <a:sym typeface="Calibri"/>
            </a:endParaRPr>
          </a:p>
        </p:txBody>
      </p:sp>
      <p:sp>
        <p:nvSpPr>
          <p:cNvPr id="217" name="Google Shape;217;p10"/>
          <p:cNvSpPr txBox="1"/>
          <p:nvPr/>
        </p:nvSpPr>
        <p:spPr>
          <a:xfrm>
            <a:off x="1392904" y="7693871"/>
            <a:ext cx="4320000" cy="41850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US" sz="2550">
                <a:solidFill>
                  <a:srgbClr val="313131"/>
                </a:solidFill>
                <a:latin typeface="Calibri"/>
                <a:ea typeface="Calibri"/>
                <a:cs typeface="Calibri"/>
                <a:sym typeface="Calibri"/>
              </a:rPr>
              <a:t>Orchestration: </a:t>
            </a:r>
            <a:r>
              <a:rPr lang="en-US" sz="2550">
                <a:solidFill>
                  <a:srgbClr val="343434"/>
                </a:solidFill>
                <a:latin typeface="Calibri"/>
                <a:ea typeface="Calibri"/>
                <a:cs typeface="Calibri"/>
                <a:sym typeface="Calibri"/>
              </a:rPr>
              <a:t>Apache </a:t>
            </a:r>
            <a:r>
              <a:rPr lang="en-US" sz="2550">
                <a:solidFill>
                  <a:srgbClr val="363636"/>
                </a:solidFill>
                <a:latin typeface="Calibri"/>
                <a:ea typeface="Calibri"/>
                <a:cs typeface="Calibri"/>
                <a:sym typeface="Calibri"/>
              </a:rPr>
              <a:t>Airflow</a:t>
            </a:r>
            <a:endParaRPr sz="2550">
              <a:latin typeface="Calibri"/>
              <a:ea typeface="Calibri"/>
              <a:cs typeface="Calibri"/>
              <a:sym typeface="Calibri"/>
            </a:endParaRPr>
          </a:p>
        </p:txBody>
      </p:sp>
      <p:sp>
        <p:nvSpPr>
          <p:cNvPr id="218" name="Google Shape;218;p10"/>
          <p:cNvSpPr txBox="1"/>
          <p:nvPr/>
        </p:nvSpPr>
        <p:spPr>
          <a:xfrm>
            <a:off x="1395574" y="8494239"/>
            <a:ext cx="6477000" cy="4383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2700">
                <a:solidFill>
                  <a:srgbClr val="333333"/>
                </a:solidFill>
                <a:latin typeface="Calibri"/>
                <a:ea typeface="Calibri"/>
                <a:cs typeface="Calibri"/>
                <a:sym typeface="Calibri"/>
              </a:rPr>
              <a:t>Infrastructure: </a:t>
            </a:r>
            <a:r>
              <a:rPr lang="en-US" sz="2700">
                <a:solidFill>
                  <a:srgbClr val="343434"/>
                </a:solidFill>
                <a:latin typeface="Calibri"/>
                <a:ea typeface="Calibri"/>
                <a:cs typeface="Calibri"/>
                <a:sym typeface="Calibri"/>
              </a:rPr>
              <a:t>Conteneurisation 100% Docker</a:t>
            </a:r>
            <a:endParaRPr sz="2700">
              <a:latin typeface="Calibri"/>
              <a:ea typeface="Calibri"/>
              <a:cs typeface="Calibri"/>
              <a:sym typeface="Calibri"/>
            </a:endParaRPr>
          </a:p>
        </p:txBody>
      </p:sp>
      <p:pic>
        <p:nvPicPr>
          <p:cNvPr id="219" name="Google Shape;219;p10"/>
          <p:cNvPicPr preferRelativeResize="0"/>
          <p:nvPr/>
        </p:nvPicPr>
        <p:blipFill>
          <a:blip r:embed="rId3">
            <a:alphaModFix/>
          </a:blip>
          <a:stretch>
            <a:fillRect/>
          </a:stretch>
        </p:blipFill>
        <p:spPr>
          <a:xfrm>
            <a:off x="8674099" y="3364824"/>
            <a:ext cx="11430000" cy="6029325"/>
          </a:xfrm>
          <a:prstGeom prst="rect">
            <a:avLst/>
          </a:prstGeom>
          <a:noFill/>
          <a:ln>
            <a:noFill/>
          </a:ln>
        </p:spPr>
      </p:pic>
      <p:sp>
        <p:nvSpPr>
          <p:cNvPr id="220" name="Google Shape;220;p10"/>
          <p:cNvSpPr txBox="1"/>
          <p:nvPr/>
        </p:nvSpPr>
        <p:spPr>
          <a:xfrm>
            <a:off x="927525" y="1688100"/>
            <a:ext cx="11601600" cy="708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4600" u="none" cap="none" strike="noStrike">
                <a:solidFill>
                  <a:srgbClr val="0369A1"/>
                </a:solidFill>
                <a:latin typeface="Poppins SemiBold"/>
                <a:ea typeface="Poppins SemiBold"/>
                <a:cs typeface="Poppins SemiBold"/>
                <a:sym typeface="Poppins SemiBold"/>
              </a:rPr>
              <a:t>Architecture Globale</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4" name="Shape 224"/>
        <p:cNvGrpSpPr/>
        <p:nvPr/>
      </p:nvGrpSpPr>
      <p:grpSpPr>
        <a:xfrm>
          <a:off x="0" y="0"/>
          <a:ext cx="0" cy="0"/>
          <a:chOff x="0" y="0"/>
          <a:chExt cx="0" cy="0"/>
        </a:xfrm>
      </p:grpSpPr>
      <p:sp>
        <p:nvSpPr>
          <p:cNvPr descr="$PPTXTitle" id="225" name="Google Shape;225;p11"/>
          <p:cNvSpPr txBox="1"/>
          <p:nvPr>
            <p:ph type="title"/>
          </p:nvPr>
        </p:nvSpPr>
        <p:spPr>
          <a:xfrm>
            <a:off x="913592" y="318441"/>
            <a:ext cx="15012418" cy="1494433"/>
          </a:xfrm>
          <a:prstGeom prst="rect">
            <a:avLst/>
          </a:prstGeom>
          <a:noFill/>
          <a:ln>
            <a:noFill/>
          </a:ln>
        </p:spPr>
        <p:txBody>
          <a:bodyPr anchorCtr="0" anchor="t" bIns="0" lIns="0" spcFirstLastPara="1" rIns="0" wrap="square" tIns="581300">
            <a:spAutoFit/>
          </a:bodyPr>
          <a:lstStyle/>
          <a:p>
            <a:pPr indent="0" lvl="0" marL="12700" rtl="0" algn="l">
              <a:lnSpc>
                <a:spcPct val="100000"/>
              </a:lnSpc>
              <a:spcBef>
                <a:spcPts val="0"/>
              </a:spcBef>
              <a:spcAft>
                <a:spcPts val="0"/>
              </a:spcAft>
              <a:buNone/>
            </a:pPr>
            <a:r>
              <a:rPr lang="en-US">
                <a:solidFill>
                  <a:srgbClr val="0567A5"/>
                </a:solidFill>
              </a:rPr>
              <a:t>Extraction </a:t>
            </a:r>
            <a:r>
              <a:rPr lang="en-US">
                <a:solidFill>
                  <a:srgbClr val="116297"/>
                </a:solidFill>
              </a:rPr>
              <a:t>&amp; </a:t>
            </a:r>
            <a:r>
              <a:rPr lang="en-US">
                <a:solidFill>
                  <a:srgbClr val="006B9E"/>
                </a:solidFill>
              </a:rPr>
              <a:t>Streoming</a:t>
            </a:r>
            <a:endParaRPr/>
          </a:p>
        </p:txBody>
      </p:sp>
      <p:sp>
        <p:nvSpPr>
          <p:cNvPr id="226" name="Google Shape;226;p11"/>
          <p:cNvSpPr txBox="1"/>
          <p:nvPr/>
        </p:nvSpPr>
        <p:spPr>
          <a:xfrm>
            <a:off x="5825891" y="2798732"/>
            <a:ext cx="180340" cy="732790"/>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None/>
            </a:pPr>
            <a:r>
              <a:rPr lang="en-US" sz="4600">
                <a:solidFill>
                  <a:srgbClr val="0080CA"/>
                </a:solidFill>
                <a:latin typeface="Calibri"/>
                <a:ea typeface="Calibri"/>
                <a:cs typeface="Calibri"/>
                <a:sym typeface="Calibri"/>
              </a:rPr>
              <a:t>.</a:t>
            </a:r>
            <a:endParaRPr sz="4600">
              <a:latin typeface="Calibri"/>
              <a:ea typeface="Calibri"/>
              <a:cs typeface="Calibri"/>
              <a:sym typeface="Calibri"/>
            </a:endParaRPr>
          </a:p>
        </p:txBody>
      </p:sp>
      <p:sp>
        <p:nvSpPr>
          <p:cNvPr id="227" name="Google Shape;227;p11"/>
          <p:cNvSpPr txBox="1"/>
          <p:nvPr/>
        </p:nvSpPr>
        <p:spPr>
          <a:xfrm>
            <a:off x="911626" y="3112859"/>
            <a:ext cx="5247005" cy="732790"/>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None/>
            </a:pPr>
            <a:r>
              <a:rPr lang="en-US" sz="4600">
                <a:solidFill>
                  <a:srgbClr val="0C7CCD"/>
                </a:solidFill>
                <a:latin typeface="Calibri"/>
                <a:ea typeface="Calibri"/>
                <a:cs typeface="Calibri"/>
                <a:sym typeface="Calibri"/>
              </a:rPr>
              <a:t>Producer </a:t>
            </a:r>
            <a:r>
              <a:rPr lang="en-US" sz="4600">
                <a:solidFill>
                  <a:srgbClr val="0A80C4"/>
                </a:solidFill>
                <a:latin typeface="Calibri"/>
                <a:ea typeface="Calibri"/>
                <a:cs typeface="Calibri"/>
                <a:sym typeface="Calibri"/>
              </a:rPr>
              <a:t>Kafka </a:t>
            </a:r>
            <a:r>
              <a:rPr lang="en-US" sz="4600">
                <a:solidFill>
                  <a:srgbClr val="007EDB"/>
                </a:solidFill>
                <a:latin typeface="Calibri"/>
                <a:ea typeface="Calibri"/>
                <a:cs typeface="Calibri"/>
                <a:sym typeface="Calibri"/>
              </a:rPr>
              <a:t>Actif</a:t>
            </a:r>
            <a:endParaRPr sz="4600">
              <a:latin typeface="Calibri"/>
              <a:ea typeface="Calibri"/>
              <a:cs typeface="Calibri"/>
              <a:sym typeface="Calibri"/>
            </a:endParaRPr>
          </a:p>
        </p:txBody>
      </p:sp>
      <p:graphicFrame>
        <p:nvGraphicFramePr>
          <p:cNvPr id="228" name="Google Shape;228;p11"/>
          <p:cNvGraphicFramePr/>
          <p:nvPr/>
        </p:nvGraphicFramePr>
        <p:xfrm>
          <a:off x="1373678" y="4273593"/>
          <a:ext cx="3000000" cy="3000000"/>
        </p:xfrm>
        <a:graphic>
          <a:graphicData uri="http://schemas.openxmlformats.org/drawingml/2006/table">
            <a:tbl>
              <a:tblPr bandRow="1" firstRow="1">
                <a:noFill/>
                <a:tableStyleId>{906578A3-1490-40C9-9EC2-DAE12AC14E86}</a:tableStyleId>
              </a:tblPr>
              <a:tblGrid>
                <a:gridCol w="8492500"/>
                <a:gridCol w="528325"/>
                <a:gridCol w="225425"/>
              </a:tblGrid>
              <a:tr h="1076325">
                <a:tc>
                  <a:txBody>
                    <a:bodyPr/>
                    <a:lstStyle/>
                    <a:p>
                      <a:pPr indent="0" lvl="0" marL="35560" marR="0" rtl="0" algn="l">
                        <a:lnSpc>
                          <a:spcPct val="95185"/>
                        </a:lnSpc>
                        <a:spcBef>
                          <a:spcPts val="0"/>
                        </a:spcBef>
                        <a:spcAft>
                          <a:spcPts val="0"/>
                        </a:spcAft>
                        <a:buNone/>
                      </a:pPr>
                      <a:r>
                        <a:rPr lang="en-US" sz="2700" u="none" cap="none" strike="noStrike">
                          <a:solidFill>
                            <a:srgbClr val="313131"/>
                          </a:solidFill>
                          <a:latin typeface="Calibri"/>
                          <a:ea typeface="Calibri"/>
                          <a:cs typeface="Calibri"/>
                          <a:sym typeface="Calibri"/>
                        </a:rPr>
                        <a:t>Scraping </a:t>
                      </a:r>
                      <a:r>
                        <a:rPr lang="en-US" sz="2700" u="none" cap="none" strike="noStrike">
                          <a:solidFill>
                            <a:srgbClr val="3A3A3A"/>
                          </a:solidFill>
                          <a:latin typeface="Calibri"/>
                          <a:ea typeface="Calibri"/>
                          <a:cs typeface="Calibri"/>
                          <a:sym typeface="Calibri"/>
                        </a:rPr>
                        <a:t>Multi-Sources: Extraction </a:t>
                      </a:r>
                      <a:r>
                        <a:rPr lang="en-US" sz="2700" u="none" cap="none" strike="noStrike">
                          <a:solidFill>
                            <a:srgbClr val="363636"/>
                          </a:solidFill>
                          <a:latin typeface="Calibri"/>
                          <a:ea typeface="Calibri"/>
                          <a:cs typeface="Calibri"/>
                          <a:sym typeface="Calibri"/>
                        </a:rPr>
                        <a:t>en </a:t>
                      </a:r>
                      <a:r>
                        <a:rPr lang="en-US" sz="2700" u="none" cap="none" strike="noStrike">
                          <a:solidFill>
                            <a:srgbClr val="3D3D3D"/>
                          </a:solidFill>
                          <a:latin typeface="Calibri"/>
                          <a:ea typeface="Calibri"/>
                          <a:cs typeface="Calibri"/>
                          <a:sym typeface="Calibri"/>
                        </a:rPr>
                        <a:t>Python </a:t>
                      </a:r>
                      <a:r>
                        <a:rPr lang="en-US" sz="2700" u="none" cap="none" strike="noStrike">
                          <a:solidFill>
                            <a:srgbClr val="232323"/>
                          </a:solidFill>
                          <a:latin typeface="Calibri"/>
                          <a:ea typeface="Calibri"/>
                          <a:cs typeface="Calibri"/>
                          <a:sym typeface="Calibri"/>
                        </a:rPr>
                        <a:t>('scraper.py')</a:t>
                      </a:r>
                      <a:endParaRPr sz="2700" u="none" cap="none" strike="noStrike">
                        <a:latin typeface="Calibri"/>
                        <a:ea typeface="Calibri"/>
                        <a:cs typeface="Calibri"/>
                        <a:sym typeface="Calibri"/>
                      </a:endParaRPr>
                    </a:p>
                    <a:p>
                      <a:pPr indent="0" lvl="0" marL="33655" marR="0" rtl="0" algn="l">
                        <a:lnSpc>
                          <a:spcPct val="100000"/>
                        </a:lnSpc>
                        <a:spcBef>
                          <a:spcPts val="715"/>
                        </a:spcBef>
                        <a:spcAft>
                          <a:spcPts val="0"/>
                        </a:spcAft>
                        <a:buNone/>
                      </a:pPr>
                      <a:r>
                        <a:rPr lang="en-US" sz="2700" u="none" cap="none" strike="noStrike">
                          <a:solidFill>
                            <a:srgbClr val="363636"/>
                          </a:solidFill>
                          <a:latin typeface="Calibri"/>
                          <a:ea typeface="Calibri"/>
                          <a:cs typeface="Calibri"/>
                          <a:sym typeface="Calibri"/>
                        </a:rPr>
                        <a:t>sur </a:t>
                      </a:r>
                      <a:r>
                        <a:rPr lang="en-US" sz="2700" u="none" cap="none" strike="noStrike">
                          <a:solidFill>
                            <a:srgbClr val="3A3A3A"/>
                          </a:solidFill>
                          <a:latin typeface="Calibri"/>
                          <a:ea typeface="Calibri"/>
                          <a:cs typeface="Calibri"/>
                          <a:sym typeface="Calibri"/>
                        </a:rPr>
                        <a:t>BBC </a:t>
                      </a:r>
                      <a:r>
                        <a:rPr lang="en-US" sz="2700" u="none" cap="none" strike="noStrike">
                          <a:solidFill>
                            <a:srgbClr val="3B3B3B"/>
                          </a:solidFill>
                          <a:latin typeface="Calibri"/>
                          <a:ea typeface="Calibri"/>
                          <a:cs typeface="Calibri"/>
                          <a:sym typeface="Calibri"/>
                        </a:rPr>
                        <a:t>News et </a:t>
                      </a:r>
                      <a:r>
                        <a:rPr lang="en-US" sz="2700" u="none" cap="none" strike="noStrike">
                          <a:solidFill>
                            <a:srgbClr val="363636"/>
                          </a:solidFill>
                          <a:latin typeface="Calibri"/>
                          <a:ea typeface="Calibri"/>
                          <a:cs typeface="Calibri"/>
                          <a:sym typeface="Calibri"/>
                        </a:rPr>
                        <a:t>Hespress </a:t>
                      </a:r>
                      <a:r>
                        <a:rPr lang="en-US" sz="2700" u="none" cap="none" strike="noStrike">
                          <a:solidFill>
                            <a:srgbClr val="3B3B3B"/>
                          </a:solidFill>
                          <a:latin typeface="Calibri"/>
                          <a:ea typeface="Calibri"/>
                          <a:cs typeface="Calibri"/>
                          <a:sym typeface="Calibri"/>
                        </a:rPr>
                        <a:t>via </a:t>
                      </a:r>
                      <a:r>
                        <a:rPr lang="en-US" sz="2700" u="none" cap="none" strike="noStrike">
                          <a:solidFill>
                            <a:srgbClr val="343434"/>
                          </a:solidFill>
                          <a:latin typeface="Calibri"/>
                          <a:ea typeface="Calibri"/>
                          <a:cs typeface="Calibri"/>
                          <a:sym typeface="Calibri"/>
                        </a:rPr>
                        <a:t>BeautifulSoup.</a:t>
                      </a:r>
                      <a:endParaRPr sz="2700" u="none" cap="none" strike="noStrike">
                        <a:latin typeface="Calibri"/>
                        <a:ea typeface="Calibri"/>
                        <a:cs typeface="Calibri"/>
                        <a:sym typeface="Calibri"/>
                      </a:endParaRPr>
                    </a:p>
                  </a:txBody>
                  <a:tcPr marT="0" marB="0" marR="0" marL="0"/>
                </a:tc>
                <a:tc>
                  <a:txBody>
                    <a:bodyPr/>
                    <a:lstStyle/>
                    <a:p>
                      <a:pPr indent="0" lvl="0" marL="0" marR="0" rtl="0" algn="l">
                        <a:lnSpc>
                          <a:spcPct val="100000"/>
                        </a:lnSpc>
                        <a:spcBef>
                          <a:spcPts val="0"/>
                        </a:spcBef>
                        <a:spcAft>
                          <a:spcPts val="0"/>
                        </a:spcAft>
                        <a:buNone/>
                      </a:pPr>
                      <a:r>
                        <a:t/>
                      </a:r>
                      <a:endParaRPr sz="2700" u="none" cap="none" strike="noStrike">
                        <a:latin typeface="Times New Roman"/>
                        <a:ea typeface="Times New Roman"/>
                        <a:cs typeface="Times New Roman"/>
                        <a:sym typeface="Times New Roman"/>
                      </a:endParaRPr>
                    </a:p>
                    <a:p>
                      <a:pPr indent="0" lvl="0" marL="0" marR="132715" rtl="0" algn="r">
                        <a:lnSpc>
                          <a:spcPct val="100000"/>
                        </a:lnSpc>
                        <a:spcBef>
                          <a:spcPts val="0"/>
                        </a:spcBef>
                        <a:spcAft>
                          <a:spcPts val="0"/>
                        </a:spcAft>
                        <a:buNone/>
                      </a:pPr>
                      <a:r>
                        <a:rPr lang="en-US" sz="2700" u="none" cap="none" strike="noStrike">
                          <a:solidFill>
                            <a:srgbClr val="0082BC"/>
                          </a:solidFill>
                          <a:latin typeface="Calibri"/>
                          <a:ea typeface="Calibri"/>
                          <a:cs typeface="Calibri"/>
                          <a:sym typeface="Calibri"/>
                        </a:rPr>
                        <a:t>,</a:t>
                      </a:r>
                      <a:endParaRPr sz="2700" u="none" cap="none" strike="noStrike">
                        <a:latin typeface="Calibri"/>
                        <a:ea typeface="Calibri"/>
                        <a:cs typeface="Calibri"/>
                        <a:sym typeface="Calibri"/>
                      </a:endParaRPr>
                    </a:p>
                  </a:txBody>
                  <a:tcPr marT="22850" marB="0" marR="0" marL="0"/>
                </a:tc>
                <a:tc>
                  <a:txBody>
                    <a:bodyPr/>
                    <a:lstStyle/>
                    <a:p>
                      <a:pPr indent="0" lvl="0" marL="88900" marR="0" rtl="0" algn="ctr">
                        <a:lnSpc>
                          <a:spcPct val="95185"/>
                        </a:lnSpc>
                        <a:spcBef>
                          <a:spcPts val="0"/>
                        </a:spcBef>
                        <a:spcAft>
                          <a:spcPts val="0"/>
                        </a:spcAft>
                        <a:buNone/>
                      </a:pPr>
                      <a:r>
                        <a:rPr lang="en-US" sz="2700" u="none" cap="none" strike="noStrike">
                          <a:solidFill>
                            <a:srgbClr val="0382CF"/>
                          </a:solidFill>
                          <a:latin typeface="Calibri"/>
                          <a:ea typeface="Calibri"/>
                          <a:cs typeface="Calibri"/>
                          <a:sym typeface="Calibri"/>
                        </a:rPr>
                        <a:t>,</a:t>
                      </a:r>
                      <a:endParaRPr sz="2700" u="none" cap="none" strike="noStrike">
                        <a:latin typeface="Calibri"/>
                        <a:ea typeface="Calibri"/>
                        <a:cs typeface="Calibri"/>
                        <a:sym typeface="Calibri"/>
                      </a:endParaRPr>
                    </a:p>
                  </a:txBody>
                  <a:tcPr marT="0" marB="0" marR="0" marL="0"/>
                </a:tc>
              </a:tr>
              <a:tr h="1830075">
                <a:tc>
                  <a:txBody>
                    <a:bodyPr/>
                    <a:lstStyle/>
                    <a:p>
                      <a:pPr indent="-5080" lvl="0" marL="36195" marR="508000" rtl="0" algn="l">
                        <a:lnSpc>
                          <a:spcPct val="117800"/>
                        </a:lnSpc>
                        <a:spcBef>
                          <a:spcPts val="0"/>
                        </a:spcBef>
                        <a:spcAft>
                          <a:spcPts val="0"/>
                        </a:spcAft>
                        <a:buNone/>
                      </a:pPr>
                      <a:r>
                        <a:rPr lang="en-US" sz="2800" u="none" cap="none" strike="noStrike">
                          <a:solidFill>
                            <a:srgbClr val="3D3D3D"/>
                          </a:solidFill>
                          <a:latin typeface="Calibri"/>
                          <a:ea typeface="Calibri"/>
                          <a:cs typeface="Calibri"/>
                          <a:sym typeface="Calibri"/>
                        </a:rPr>
                        <a:t>Gënëration </a:t>
                      </a:r>
                      <a:r>
                        <a:rPr lang="en-US" sz="2800" u="none" cap="none" strike="noStrike">
                          <a:solidFill>
                            <a:srgbClr val="333333"/>
                          </a:solidFill>
                          <a:latin typeface="Calibri"/>
                          <a:ea typeface="Calibri"/>
                          <a:cs typeface="Calibri"/>
                          <a:sym typeface="Calibri"/>
                        </a:rPr>
                        <a:t>d’ID </a:t>
                      </a:r>
                      <a:r>
                        <a:rPr lang="en-US" sz="2800" u="none" cap="none" strike="noStrike">
                          <a:solidFill>
                            <a:srgbClr val="383838"/>
                          </a:solidFill>
                          <a:latin typeface="Calibri"/>
                          <a:ea typeface="Calibri"/>
                          <a:cs typeface="Calibri"/>
                          <a:sym typeface="Calibri"/>
                        </a:rPr>
                        <a:t>unique: </a:t>
                      </a:r>
                      <a:r>
                        <a:rPr lang="en-US" sz="2800" u="none" cap="none" strike="noStrike">
                          <a:solidFill>
                            <a:srgbClr val="343434"/>
                          </a:solidFill>
                          <a:latin typeface="Calibri"/>
                          <a:ea typeface="Calibri"/>
                          <a:cs typeface="Calibri"/>
                          <a:sym typeface="Calibri"/>
                        </a:rPr>
                        <a:t>Création </a:t>
                      </a:r>
                      <a:r>
                        <a:rPr lang="en-US" sz="2800" u="none" cap="none" strike="noStrike">
                          <a:solidFill>
                            <a:srgbClr val="3F3F3F"/>
                          </a:solidFill>
                          <a:latin typeface="Calibri"/>
                          <a:ea typeface="Calibri"/>
                          <a:cs typeface="Calibri"/>
                          <a:sym typeface="Calibri"/>
                        </a:rPr>
                        <a:t>d'un </a:t>
                      </a:r>
                      <a:r>
                        <a:rPr lang="en-US" sz="2800" u="none" cap="none" strike="noStrike">
                          <a:solidFill>
                            <a:srgbClr val="363636"/>
                          </a:solidFill>
                          <a:latin typeface="Calibri"/>
                          <a:ea typeface="Calibri"/>
                          <a:cs typeface="Calibri"/>
                          <a:sym typeface="Calibri"/>
                        </a:rPr>
                        <a:t>hash </a:t>
                      </a:r>
                      <a:r>
                        <a:rPr lang="en-US" sz="2800" u="none" cap="none" strike="noStrike">
                          <a:solidFill>
                            <a:srgbClr val="3D3D3D"/>
                          </a:solidFill>
                          <a:latin typeface="Calibri"/>
                          <a:ea typeface="Calibri"/>
                          <a:cs typeface="Calibri"/>
                          <a:sym typeface="Calibri"/>
                        </a:rPr>
                        <a:t>MD5 </a:t>
                      </a:r>
                      <a:r>
                        <a:rPr lang="en-US" sz="2800" u="none" cap="none" strike="noStrike">
                          <a:solidFill>
                            <a:srgbClr val="343434"/>
                          </a:solidFill>
                          <a:latin typeface="Calibri"/>
                          <a:ea typeface="Calibri"/>
                          <a:cs typeface="Calibri"/>
                          <a:sym typeface="Calibri"/>
                        </a:rPr>
                        <a:t>basé </a:t>
                      </a:r>
                      <a:r>
                        <a:rPr lang="en-US" sz="2800" u="none" cap="none" strike="noStrike">
                          <a:solidFill>
                            <a:srgbClr val="363636"/>
                          </a:solidFill>
                          <a:latin typeface="Calibri"/>
                          <a:ea typeface="Calibri"/>
                          <a:cs typeface="Calibri"/>
                          <a:sym typeface="Calibri"/>
                        </a:rPr>
                        <a:t>sur </a:t>
                      </a:r>
                      <a:r>
                        <a:rPr lang="en-US" sz="2800" u="none" cap="none" strike="noStrike">
                          <a:solidFill>
                            <a:srgbClr val="383838"/>
                          </a:solidFill>
                          <a:latin typeface="Calibri"/>
                          <a:ea typeface="Calibri"/>
                          <a:cs typeface="Calibri"/>
                          <a:sym typeface="Calibri"/>
                        </a:rPr>
                        <a:t>l'URL </a:t>
                      </a:r>
                      <a:r>
                        <a:rPr lang="en-US" sz="2800" u="none" cap="none" strike="noStrike">
                          <a:solidFill>
                            <a:srgbClr val="3B3B3B"/>
                          </a:solidFill>
                          <a:latin typeface="Calibri"/>
                          <a:ea typeface="Calibri"/>
                          <a:cs typeface="Calibri"/>
                          <a:sym typeface="Calibri"/>
                        </a:rPr>
                        <a:t>pour </a:t>
                      </a:r>
                      <a:r>
                        <a:rPr lang="en-US" sz="2800" u="none" cap="none" strike="noStrike">
                          <a:solidFill>
                            <a:srgbClr val="3A3A3A"/>
                          </a:solidFill>
                          <a:latin typeface="Calibri"/>
                          <a:ea typeface="Calibri"/>
                          <a:cs typeface="Calibri"/>
                          <a:sym typeface="Calibri"/>
                        </a:rPr>
                        <a:t>identifier formellement </a:t>
                      </a:r>
                      <a:r>
                        <a:rPr lang="en-US" sz="2800" u="none" cap="none" strike="noStrike">
                          <a:solidFill>
                            <a:srgbClr val="363636"/>
                          </a:solidFill>
                          <a:latin typeface="Calibri"/>
                          <a:ea typeface="Calibri"/>
                          <a:cs typeface="Calibri"/>
                          <a:sym typeface="Calibri"/>
                        </a:rPr>
                        <a:t>chaque </a:t>
                      </a:r>
                      <a:r>
                        <a:rPr lang="en-US" sz="2800" u="none" cap="none" strike="noStrike">
                          <a:solidFill>
                            <a:srgbClr val="333333"/>
                          </a:solidFill>
                          <a:latin typeface="Calibri"/>
                          <a:ea typeface="Calibri"/>
                          <a:cs typeface="Calibri"/>
                          <a:sym typeface="Calibri"/>
                        </a:rPr>
                        <a:t>article </a:t>
                      </a:r>
                      <a:r>
                        <a:rPr lang="en-US" sz="2800" u="none" cap="none" strike="noStrike">
                          <a:solidFill>
                            <a:srgbClr val="383838"/>
                          </a:solidFill>
                          <a:latin typeface="Calibri"/>
                          <a:ea typeface="Calibri"/>
                          <a:cs typeface="Calibri"/>
                          <a:sym typeface="Calibri"/>
                        </a:rPr>
                        <a:t>et éviter </a:t>
                      </a:r>
                      <a:r>
                        <a:rPr lang="en-US" sz="2800" u="none" cap="none" strike="noStrike">
                          <a:solidFill>
                            <a:srgbClr val="3A3A3A"/>
                          </a:solidFill>
                          <a:latin typeface="Calibri"/>
                          <a:ea typeface="Calibri"/>
                          <a:cs typeface="Calibri"/>
                          <a:sym typeface="Calibri"/>
                        </a:rPr>
                        <a:t>les </a:t>
                      </a:r>
                      <a:r>
                        <a:rPr lang="en-US" sz="2800" u="none" cap="none" strike="noStrike">
                          <a:solidFill>
                            <a:srgbClr val="383838"/>
                          </a:solidFill>
                          <a:latin typeface="Calibri"/>
                          <a:ea typeface="Calibri"/>
                          <a:cs typeface="Calibri"/>
                          <a:sym typeface="Calibri"/>
                        </a:rPr>
                        <a:t>doublons </a:t>
                      </a:r>
                      <a:r>
                        <a:rPr lang="en-US" sz="2800" u="none" cap="none" strike="noStrike">
                          <a:solidFill>
                            <a:srgbClr val="1F1F1F"/>
                          </a:solidFill>
                          <a:latin typeface="Calibri"/>
                          <a:ea typeface="Calibri"/>
                          <a:cs typeface="Calibri"/>
                          <a:sym typeface="Calibri"/>
                        </a:rPr>
                        <a:t>ultérieurs.</a:t>
                      </a:r>
                      <a:endParaRPr sz="2800" u="none" cap="none" strike="noStrike">
                        <a:latin typeface="Calibri"/>
                        <a:ea typeface="Calibri"/>
                        <a:cs typeface="Calibri"/>
                        <a:sym typeface="Calibri"/>
                      </a:endParaRPr>
                    </a:p>
                  </a:txBody>
                  <a:tcPr marT="68575" marB="0" marR="0" marL="0"/>
                </a:tc>
                <a:tc>
                  <a:txBody>
                    <a:bodyPr/>
                    <a:lstStyle/>
                    <a:p>
                      <a:pPr indent="0" lvl="0" marL="327025" marR="0" rtl="0" algn="l">
                        <a:lnSpc>
                          <a:spcPct val="100000"/>
                        </a:lnSpc>
                        <a:spcBef>
                          <a:spcPts val="0"/>
                        </a:spcBef>
                        <a:spcAft>
                          <a:spcPts val="0"/>
                        </a:spcAft>
                        <a:buNone/>
                      </a:pPr>
                      <a:r>
                        <a:rPr lang="en-US" sz="2800" u="none" cap="none" strike="noStrike">
                          <a:solidFill>
                            <a:srgbClr val="0583BD"/>
                          </a:solidFill>
                          <a:latin typeface="Calibri"/>
                          <a:ea typeface="Calibri"/>
                          <a:cs typeface="Calibri"/>
                          <a:sym typeface="Calibri"/>
                        </a:rPr>
                        <a:t>,</a:t>
                      </a:r>
                      <a:endParaRPr sz="2800" u="none" cap="none" strike="noStrike">
                        <a:latin typeface="Calibri"/>
                        <a:ea typeface="Calibri"/>
                        <a:cs typeface="Calibri"/>
                        <a:sym typeface="Calibri"/>
                      </a:endParaRPr>
                    </a:p>
                    <a:p>
                      <a:pPr indent="0" lvl="0" marL="0" marR="0" rtl="0" algn="l">
                        <a:lnSpc>
                          <a:spcPct val="100000"/>
                        </a:lnSpc>
                        <a:spcBef>
                          <a:spcPts val="1335"/>
                        </a:spcBef>
                        <a:spcAft>
                          <a:spcPts val="0"/>
                        </a:spcAft>
                        <a:buNone/>
                      </a:pPr>
                      <a:r>
                        <a:t/>
                      </a:r>
                      <a:endParaRPr sz="2800" u="none" cap="none" strike="noStrike">
                        <a:latin typeface="Times New Roman"/>
                        <a:ea typeface="Times New Roman"/>
                        <a:cs typeface="Times New Roman"/>
                        <a:sym typeface="Times New Roman"/>
                      </a:endParaRPr>
                    </a:p>
                    <a:p>
                      <a:pPr indent="0" lvl="0" marL="327025" marR="0" rtl="0" algn="l">
                        <a:lnSpc>
                          <a:spcPct val="100000"/>
                        </a:lnSpc>
                        <a:spcBef>
                          <a:spcPts val="0"/>
                        </a:spcBef>
                        <a:spcAft>
                          <a:spcPts val="0"/>
                        </a:spcAft>
                        <a:buNone/>
                      </a:pPr>
                      <a:r>
                        <a:rPr lang="en-US" sz="2800" u="none" cap="none" strike="noStrike">
                          <a:solidFill>
                            <a:srgbClr val="0582CC"/>
                          </a:solidFill>
                          <a:latin typeface="Calibri"/>
                          <a:ea typeface="Calibri"/>
                          <a:cs typeface="Calibri"/>
                          <a:sym typeface="Calibri"/>
                        </a:rPr>
                        <a:t>,</a:t>
                      </a:r>
                      <a:endParaRPr sz="2800" u="none" cap="none" strike="noStrike">
                        <a:latin typeface="Calibri"/>
                        <a:ea typeface="Calibri"/>
                        <a:cs typeface="Calibri"/>
                        <a:sym typeface="Calibri"/>
                      </a:endParaRPr>
                    </a:p>
                  </a:txBody>
                  <a:tcPr marT="144775" marB="0" marR="0" marL="0"/>
                </a:tc>
                <a:tc>
                  <a:txBody>
                    <a:bodyPr/>
                    <a:lstStyle/>
                    <a:p>
                      <a:pPr indent="0" lvl="0" marL="0" marR="0" rtl="0" algn="l">
                        <a:lnSpc>
                          <a:spcPct val="100000"/>
                        </a:lnSpc>
                        <a:spcBef>
                          <a:spcPts val="0"/>
                        </a:spcBef>
                        <a:spcAft>
                          <a:spcPts val="0"/>
                        </a:spcAft>
                        <a:buNone/>
                      </a:pPr>
                      <a:r>
                        <a:t/>
                      </a:r>
                      <a:endParaRPr sz="3000" u="none" cap="none" strike="noStrike">
                        <a:latin typeface="Times New Roman"/>
                        <a:ea typeface="Times New Roman"/>
                        <a:cs typeface="Times New Roman"/>
                        <a:sym typeface="Times New Roman"/>
                      </a:endParaRPr>
                    </a:p>
                  </a:txBody>
                  <a:tcPr marT="0" marB="0" marR="0" marL="0"/>
                </a:tc>
              </a:tr>
              <a:tr h="657225">
                <a:tc>
                  <a:txBody>
                    <a:bodyPr/>
                    <a:lstStyle/>
                    <a:p>
                      <a:pPr indent="0" lvl="0" marL="35560" marR="0" rtl="0" algn="l">
                        <a:lnSpc>
                          <a:spcPct val="100000"/>
                        </a:lnSpc>
                        <a:spcBef>
                          <a:spcPts val="0"/>
                        </a:spcBef>
                        <a:spcAft>
                          <a:spcPts val="0"/>
                        </a:spcAft>
                        <a:buNone/>
                      </a:pPr>
                      <a:r>
                        <a:rPr lang="en-US" sz="2700" u="none" cap="none" strike="noStrike">
                          <a:solidFill>
                            <a:srgbClr val="213A5B"/>
                          </a:solidFill>
                          <a:latin typeface="Calibri"/>
                          <a:ea typeface="Calibri"/>
                          <a:cs typeface="Calibri"/>
                          <a:sym typeface="Calibri"/>
                        </a:rPr>
                        <a:t>Streaming </a:t>
                      </a:r>
                      <a:r>
                        <a:rPr lang="en-US" sz="2700" u="none" cap="none" strike="noStrike">
                          <a:solidFill>
                            <a:srgbClr val="414141"/>
                          </a:solidFill>
                          <a:latin typeface="Calibri"/>
                          <a:ea typeface="Calibri"/>
                          <a:cs typeface="Calibri"/>
                          <a:sym typeface="Calibri"/>
                        </a:rPr>
                        <a:t>Temps </a:t>
                      </a:r>
                      <a:r>
                        <a:rPr lang="en-US" sz="2700" u="none" cap="none" strike="noStrike">
                          <a:solidFill>
                            <a:srgbClr val="2D445B"/>
                          </a:solidFill>
                          <a:latin typeface="Calibri"/>
                          <a:ea typeface="Calibri"/>
                          <a:cs typeface="Calibri"/>
                          <a:sym typeface="Calibri"/>
                        </a:rPr>
                        <a:t>Réel </a:t>
                      </a:r>
                      <a:r>
                        <a:rPr lang="en-US" sz="2700" u="none" cap="none" strike="noStrike">
                          <a:solidFill>
                            <a:srgbClr val="363636"/>
                          </a:solidFill>
                          <a:latin typeface="Calibri"/>
                          <a:ea typeface="Calibri"/>
                          <a:cs typeface="Calibri"/>
                          <a:sym typeface="Calibri"/>
                        </a:rPr>
                        <a:t>: </a:t>
                      </a:r>
                      <a:r>
                        <a:rPr lang="en-US" sz="2700" u="none" cap="none" strike="noStrike">
                          <a:solidFill>
                            <a:srgbClr val="3D3D3D"/>
                          </a:solidFill>
                          <a:latin typeface="Calibri"/>
                          <a:ea typeface="Calibri"/>
                          <a:cs typeface="Calibri"/>
                          <a:sym typeface="Calibri"/>
                        </a:rPr>
                        <a:t>Envoi </a:t>
                      </a:r>
                      <a:r>
                        <a:rPr lang="en-US" sz="2700" u="none" cap="none" strike="noStrike">
                          <a:solidFill>
                            <a:srgbClr val="363636"/>
                          </a:solidFill>
                          <a:latin typeface="Calibri"/>
                          <a:ea typeface="Calibri"/>
                          <a:cs typeface="Calibri"/>
                          <a:sym typeface="Calibri"/>
                        </a:rPr>
                        <a:t>asynchrone </a:t>
                      </a:r>
                      <a:r>
                        <a:rPr lang="en-US" sz="2700" u="none" cap="none" strike="noStrike">
                          <a:solidFill>
                            <a:srgbClr val="343434"/>
                          </a:solidFill>
                          <a:latin typeface="Calibri"/>
                          <a:ea typeface="Calibri"/>
                          <a:cs typeface="Calibri"/>
                          <a:sym typeface="Calibri"/>
                        </a:rPr>
                        <a:t>des métadonnées</a:t>
                      </a:r>
                      <a:endParaRPr sz="2700" u="none" cap="none" strike="noStrike">
                        <a:latin typeface="Calibri"/>
                        <a:ea typeface="Calibri"/>
                        <a:cs typeface="Calibri"/>
                        <a:sym typeface="Calibri"/>
                      </a:endParaRPr>
                    </a:p>
                  </a:txBody>
                  <a:tcPr marT="149225" marB="0" marR="0" marL="0"/>
                </a:tc>
                <a:tc>
                  <a:txBody>
                    <a:bodyPr/>
                    <a:lstStyle/>
                    <a:p>
                      <a:pPr indent="0" lvl="0" marL="0" marR="0" rtl="0" algn="l">
                        <a:lnSpc>
                          <a:spcPct val="100000"/>
                        </a:lnSpc>
                        <a:spcBef>
                          <a:spcPts val="0"/>
                        </a:spcBef>
                        <a:spcAft>
                          <a:spcPts val="0"/>
                        </a:spcAft>
                        <a:buNone/>
                      </a:pPr>
                      <a:r>
                        <a:t/>
                      </a:r>
                      <a:endParaRPr sz="3000" u="none" cap="none" strike="noStrike">
                        <a:latin typeface="Times New Roman"/>
                        <a:ea typeface="Times New Roman"/>
                        <a:cs typeface="Times New Roman"/>
                        <a:sym typeface="Times New Roman"/>
                      </a:endParaRPr>
                    </a:p>
                  </a:txBody>
                  <a:tcPr marT="0" marB="0" marR="0" marL="0"/>
                </a:tc>
                <a:tc>
                  <a:txBody>
                    <a:bodyPr/>
                    <a:lstStyle/>
                    <a:p>
                      <a:pPr indent="0" lvl="0" marL="84455" marR="0" rtl="0" algn="ctr">
                        <a:lnSpc>
                          <a:spcPct val="100000"/>
                        </a:lnSpc>
                        <a:spcBef>
                          <a:spcPts val="0"/>
                        </a:spcBef>
                        <a:spcAft>
                          <a:spcPts val="0"/>
                        </a:spcAft>
                        <a:buNone/>
                      </a:pPr>
                      <a:r>
                        <a:rPr lang="en-US" sz="2700" u="none" cap="none" strike="noStrike">
                          <a:solidFill>
                            <a:srgbClr val="017CBF"/>
                          </a:solidFill>
                          <a:latin typeface="Calibri"/>
                          <a:ea typeface="Calibri"/>
                          <a:cs typeface="Calibri"/>
                          <a:sym typeface="Calibri"/>
                        </a:rPr>
                        <a:t>;</a:t>
                      </a:r>
                      <a:endParaRPr sz="2700" u="none" cap="none" strike="noStrike">
                        <a:latin typeface="Calibri"/>
                        <a:ea typeface="Calibri"/>
                        <a:cs typeface="Calibri"/>
                        <a:sym typeface="Calibri"/>
                      </a:endParaRPr>
                    </a:p>
                  </a:txBody>
                  <a:tcPr marT="149225" marB="0" marR="0" marL="0"/>
                </a:tc>
              </a:tr>
              <a:tr h="653425">
                <a:tc>
                  <a:txBody>
                    <a:bodyPr/>
                    <a:lstStyle/>
                    <a:p>
                      <a:pPr indent="0" lvl="0" marL="33655" marR="0" rtl="0" algn="l">
                        <a:lnSpc>
                          <a:spcPct val="118333"/>
                        </a:lnSpc>
                        <a:spcBef>
                          <a:spcPts val="0"/>
                        </a:spcBef>
                        <a:spcAft>
                          <a:spcPts val="0"/>
                        </a:spcAft>
                        <a:buNone/>
                      </a:pPr>
                      <a:r>
                        <a:rPr lang="en-US" sz="2700" u="none" cap="none" strike="noStrike">
                          <a:solidFill>
                            <a:srgbClr val="3A3A3A"/>
                          </a:solidFill>
                          <a:latin typeface="Calibri"/>
                          <a:ea typeface="Calibri"/>
                          <a:cs typeface="Calibri"/>
                          <a:sym typeface="Calibri"/>
                        </a:rPr>
                        <a:t>vers </a:t>
                      </a:r>
                      <a:r>
                        <a:rPr lang="en-US" sz="2700" u="none" cap="none" strike="noStrike">
                          <a:solidFill>
                            <a:srgbClr val="363636"/>
                          </a:solidFill>
                          <a:latin typeface="Calibri"/>
                          <a:ea typeface="Calibri"/>
                          <a:cs typeface="Calibri"/>
                          <a:sym typeface="Calibri"/>
                        </a:rPr>
                        <a:t>Ie </a:t>
                      </a:r>
                      <a:r>
                        <a:rPr lang="en-US" sz="2700" u="none" cap="none" strike="noStrike">
                          <a:solidFill>
                            <a:srgbClr val="3B3B3B"/>
                          </a:solidFill>
                          <a:latin typeface="Calibri"/>
                          <a:ea typeface="Calibri"/>
                          <a:cs typeface="Calibri"/>
                          <a:sym typeface="Calibri"/>
                        </a:rPr>
                        <a:t>topic </a:t>
                      </a:r>
                      <a:r>
                        <a:rPr lang="en-US" sz="2700" u="none" cap="none" strike="noStrike">
                          <a:solidFill>
                            <a:srgbClr val="3D3D3D"/>
                          </a:solidFill>
                          <a:latin typeface="Calibri"/>
                          <a:ea typeface="Calibri"/>
                          <a:cs typeface="Calibri"/>
                          <a:sym typeface="Calibri"/>
                        </a:rPr>
                        <a:t>Kafka </a:t>
                      </a:r>
                      <a:r>
                        <a:rPr lang="en-US" sz="2700" u="none" cap="none" strike="noStrike">
                          <a:solidFill>
                            <a:srgbClr val="2F2F2F"/>
                          </a:solidFill>
                          <a:latin typeface="Calibri"/>
                          <a:ea typeface="Calibri"/>
                          <a:cs typeface="Calibri"/>
                          <a:sym typeface="Calibri"/>
                        </a:rPr>
                        <a:t>'news-topic”.</a:t>
                      </a:r>
                      <a:endParaRPr sz="2700" u="none" cap="none" strike="noStrike">
                        <a:latin typeface="Calibri"/>
                        <a:ea typeface="Calibri"/>
                        <a:cs typeface="Calibri"/>
                        <a:sym typeface="Calibri"/>
                      </a:endParaRPr>
                    </a:p>
                  </a:txBody>
                  <a:tcPr marT="0" marB="0" marR="0" marL="0"/>
                </a:tc>
                <a:tc>
                  <a:txBody>
                    <a:bodyPr/>
                    <a:lstStyle/>
                    <a:p>
                      <a:pPr indent="0" lvl="0" marL="0" marR="96520" rtl="0" algn="r">
                        <a:lnSpc>
                          <a:spcPct val="118333"/>
                        </a:lnSpc>
                        <a:spcBef>
                          <a:spcPts val="0"/>
                        </a:spcBef>
                        <a:spcAft>
                          <a:spcPts val="0"/>
                        </a:spcAft>
                        <a:buNone/>
                      </a:pPr>
                      <a:r>
                        <a:rPr lang="en-US" sz="2700" u="none" cap="none" strike="noStrike">
                          <a:solidFill>
                            <a:srgbClr val="0583BD"/>
                          </a:solidFill>
                          <a:latin typeface="Calibri"/>
                          <a:ea typeface="Calibri"/>
                          <a:cs typeface="Calibri"/>
                          <a:sym typeface="Calibri"/>
                        </a:rPr>
                        <a:t>.</a:t>
                      </a:r>
                      <a:endParaRPr sz="2700" u="none" cap="none" strike="noStrike">
                        <a:latin typeface="Calibri"/>
                        <a:ea typeface="Calibri"/>
                        <a:cs typeface="Calibri"/>
                        <a:sym typeface="Calibri"/>
                      </a:endParaRPr>
                    </a:p>
                  </a:txBody>
                  <a:tcPr marT="0" marB="0" marR="0" marL="0"/>
                </a:tc>
                <a:tc>
                  <a:txBody>
                    <a:bodyPr/>
                    <a:lstStyle/>
                    <a:p>
                      <a:pPr indent="0" lvl="0" marL="0" marR="0" rtl="0" algn="l">
                        <a:lnSpc>
                          <a:spcPct val="100000"/>
                        </a:lnSpc>
                        <a:spcBef>
                          <a:spcPts val="0"/>
                        </a:spcBef>
                        <a:spcAft>
                          <a:spcPts val="0"/>
                        </a:spcAft>
                        <a:buNone/>
                      </a:pPr>
                      <a:r>
                        <a:t/>
                      </a:r>
                      <a:endParaRPr sz="3000" u="none" cap="none" strike="noStrike">
                        <a:latin typeface="Times New Roman"/>
                        <a:ea typeface="Times New Roman"/>
                        <a:cs typeface="Times New Roman"/>
                        <a:sym typeface="Times New Roman"/>
                      </a:endParaRPr>
                    </a:p>
                  </a:txBody>
                  <a:tcPr marT="0" marB="0" marR="0" marL="0"/>
                </a:tc>
              </a:tr>
              <a:tr h="589925">
                <a:tc>
                  <a:txBody>
                    <a:bodyPr/>
                    <a:lstStyle/>
                    <a:p>
                      <a:pPr indent="0" lvl="0" marL="33020" marR="0" rtl="0" algn="l">
                        <a:lnSpc>
                          <a:spcPct val="100000"/>
                        </a:lnSpc>
                        <a:spcBef>
                          <a:spcPts val="0"/>
                        </a:spcBef>
                        <a:spcAft>
                          <a:spcPts val="0"/>
                        </a:spcAft>
                        <a:buNone/>
                      </a:pPr>
                      <a:r>
                        <a:rPr lang="en-US" sz="2800" u="none" cap="none" strike="noStrike">
                          <a:solidFill>
                            <a:srgbClr val="2D2D2D"/>
                          </a:solidFill>
                          <a:latin typeface="Calibri"/>
                          <a:ea typeface="Calibri"/>
                          <a:cs typeface="Calibri"/>
                          <a:sym typeface="Calibri"/>
                        </a:rPr>
                        <a:t>Résilience: </a:t>
                      </a:r>
                      <a:r>
                        <a:rPr lang="en-US" sz="2800" u="none" cap="none" strike="noStrike">
                          <a:solidFill>
                            <a:srgbClr val="363636"/>
                          </a:solidFill>
                          <a:latin typeface="Calibri"/>
                          <a:ea typeface="Calibri"/>
                          <a:cs typeface="Calibri"/>
                          <a:sym typeface="Calibri"/>
                        </a:rPr>
                        <a:t>Le </a:t>
                      </a:r>
                      <a:r>
                        <a:rPr lang="en-US" sz="2800" u="none" cap="none" strike="noStrike">
                          <a:solidFill>
                            <a:srgbClr val="383838"/>
                          </a:solidFill>
                          <a:latin typeface="Calibri"/>
                          <a:ea typeface="Calibri"/>
                          <a:cs typeface="Calibri"/>
                          <a:sym typeface="Calibri"/>
                        </a:rPr>
                        <a:t>Producer </a:t>
                      </a:r>
                      <a:r>
                        <a:rPr lang="en-US" sz="2800" u="none" cap="none" strike="noStrike">
                          <a:solidFill>
                            <a:srgbClr val="313131"/>
                          </a:solidFill>
                          <a:latin typeface="Calibri"/>
                          <a:ea typeface="Calibri"/>
                          <a:cs typeface="Calibri"/>
                          <a:sym typeface="Calibri"/>
                        </a:rPr>
                        <a:t>gère </a:t>
                      </a:r>
                      <a:r>
                        <a:rPr lang="en-US" sz="2800" u="none" cap="none" strike="noStrike">
                          <a:solidFill>
                            <a:srgbClr val="383838"/>
                          </a:solidFill>
                          <a:latin typeface="Calibri"/>
                          <a:ea typeface="Calibri"/>
                          <a:cs typeface="Calibri"/>
                          <a:sym typeface="Calibri"/>
                        </a:rPr>
                        <a:t>les </a:t>
                      </a:r>
                      <a:r>
                        <a:rPr lang="en-US" sz="2800" u="none" cap="none" strike="noStrike">
                          <a:solidFill>
                            <a:srgbClr val="343434"/>
                          </a:solidFill>
                          <a:latin typeface="Calibri"/>
                          <a:ea typeface="Calibri"/>
                          <a:cs typeface="Calibri"/>
                          <a:sym typeface="Calibri"/>
                        </a:rPr>
                        <a:t>pertes </a:t>
                      </a:r>
                      <a:r>
                        <a:rPr lang="en-US" sz="2800" u="none" cap="none" strike="noStrike">
                          <a:solidFill>
                            <a:srgbClr val="3A3A3A"/>
                          </a:solidFill>
                          <a:latin typeface="Calibri"/>
                          <a:ea typeface="Calibri"/>
                          <a:cs typeface="Calibri"/>
                          <a:sym typeface="Calibri"/>
                        </a:rPr>
                        <a:t>de </a:t>
                      </a:r>
                      <a:r>
                        <a:rPr lang="en-US" sz="2800" u="none" cap="none" strike="noStrike">
                          <a:solidFill>
                            <a:srgbClr val="343434"/>
                          </a:solidFill>
                          <a:latin typeface="Calibri"/>
                          <a:ea typeface="Calibri"/>
                          <a:cs typeface="Calibri"/>
                          <a:sym typeface="Calibri"/>
                        </a:rPr>
                        <a:t>connexion et </a:t>
                      </a:r>
                      <a:r>
                        <a:rPr lang="en-US" sz="2800" u="none" cap="none" strike="noStrike">
                          <a:solidFill>
                            <a:srgbClr val="3B3B3B"/>
                          </a:solidFill>
                          <a:latin typeface="Calibri"/>
                          <a:ea typeface="Calibri"/>
                          <a:cs typeface="Calibri"/>
                          <a:sym typeface="Calibri"/>
                        </a:rPr>
                        <a:t>met</a:t>
                      </a:r>
                      <a:endParaRPr sz="2800" u="none" cap="none" strike="noStrike">
                        <a:latin typeface="Calibri"/>
                        <a:ea typeface="Calibri"/>
                        <a:cs typeface="Calibri"/>
                        <a:sym typeface="Calibri"/>
                      </a:endParaRPr>
                    </a:p>
                  </a:txBody>
                  <a:tcPr marT="144775" marB="0" marR="0" marL="0"/>
                </a:tc>
                <a:tc>
                  <a:txBody>
                    <a:bodyPr/>
                    <a:lstStyle/>
                    <a:p>
                      <a:pPr indent="0" lvl="0" marL="0" marR="0" rtl="0" algn="l">
                        <a:lnSpc>
                          <a:spcPct val="100000"/>
                        </a:lnSpc>
                        <a:spcBef>
                          <a:spcPts val="0"/>
                        </a:spcBef>
                        <a:spcAft>
                          <a:spcPts val="0"/>
                        </a:spcAft>
                        <a:buNone/>
                      </a:pPr>
                      <a:r>
                        <a:t/>
                      </a:r>
                      <a:endParaRPr sz="3000" u="none" cap="none" strike="noStrike">
                        <a:latin typeface="Times New Roman"/>
                        <a:ea typeface="Times New Roman"/>
                        <a:cs typeface="Times New Roman"/>
                        <a:sym typeface="Times New Roman"/>
                      </a:endParaRPr>
                    </a:p>
                  </a:txBody>
                  <a:tcPr marT="0" marB="0" marR="0" marL="0"/>
                </a:tc>
                <a:tc>
                  <a:txBody>
                    <a:bodyPr/>
                    <a:lstStyle/>
                    <a:p>
                      <a:pPr indent="0" lvl="0" marL="52705" marR="0" rtl="0" algn="ctr">
                        <a:lnSpc>
                          <a:spcPct val="100000"/>
                        </a:lnSpc>
                        <a:spcBef>
                          <a:spcPts val="0"/>
                        </a:spcBef>
                        <a:spcAft>
                          <a:spcPts val="0"/>
                        </a:spcAft>
                        <a:buNone/>
                      </a:pPr>
                      <a:r>
                        <a:rPr lang="en-US" sz="2800" u="none" cap="none" strike="noStrike">
                          <a:solidFill>
                            <a:srgbClr val="017CBF"/>
                          </a:solidFill>
                          <a:latin typeface="Calibri"/>
                          <a:ea typeface="Calibri"/>
                          <a:cs typeface="Calibri"/>
                          <a:sym typeface="Calibri"/>
                        </a:rPr>
                        <a:t>'</a:t>
                      </a:r>
                      <a:endParaRPr sz="2800" u="none" cap="none" strike="noStrike">
                        <a:latin typeface="Calibri"/>
                        <a:ea typeface="Calibri"/>
                        <a:cs typeface="Calibri"/>
                        <a:sym typeface="Calibri"/>
                      </a:endParaRPr>
                    </a:p>
                  </a:txBody>
                  <a:tcPr marT="144775" marB="0" marR="0" marL="0"/>
                </a:tc>
              </a:tr>
            </a:tbl>
          </a:graphicData>
        </a:graphic>
      </p:graphicFrame>
      <p:sp>
        <p:nvSpPr>
          <p:cNvPr id="229" name="Google Shape;229;p11"/>
          <p:cNvSpPr txBox="1"/>
          <p:nvPr/>
        </p:nvSpPr>
        <p:spPr>
          <a:xfrm>
            <a:off x="1392379" y="9121838"/>
            <a:ext cx="3956050" cy="457834"/>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None/>
            </a:pPr>
            <a:r>
              <a:rPr lang="en-US" sz="2800">
                <a:solidFill>
                  <a:srgbClr val="313131"/>
                </a:solidFill>
                <a:latin typeface="Calibri"/>
                <a:ea typeface="Calibri"/>
                <a:cs typeface="Calibri"/>
                <a:sym typeface="Calibri"/>
              </a:rPr>
              <a:t>en </a:t>
            </a:r>
            <a:r>
              <a:rPr lang="en-US" sz="2800">
                <a:solidFill>
                  <a:srgbClr val="3D3D3D"/>
                </a:solidFill>
                <a:latin typeface="Calibri"/>
                <a:ea typeface="Calibri"/>
                <a:cs typeface="Calibri"/>
                <a:sym typeface="Calibri"/>
              </a:rPr>
              <a:t>file </a:t>
            </a:r>
            <a:r>
              <a:rPr lang="en-US" sz="2800">
                <a:solidFill>
                  <a:srgbClr val="343434"/>
                </a:solidFill>
                <a:latin typeface="Calibri"/>
                <a:ea typeface="Calibri"/>
                <a:cs typeface="Calibri"/>
                <a:sym typeface="Calibri"/>
              </a:rPr>
              <a:t>d'attente </a:t>
            </a:r>
            <a:r>
              <a:rPr lang="en-US" sz="2800">
                <a:solidFill>
                  <a:srgbClr val="3A3A3A"/>
                </a:solidFill>
                <a:latin typeface="Calibri"/>
                <a:ea typeface="Calibri"/>
                <a:cs typeface="Calibri"/>
                <a:sym typeface="Calibri"/>
              </a:rPr>
              <a:t>les </a:t>
            </a:r>
            <a:r>
              <a:rPr lang="en-US" sz="2800">
                <a:solidFill>
                  <a:srgbClr val="363636"/>
                </a:solidFill>
                <a:latin typeface="Calibri"/>
                <a:ea typeface="Calibri"/>
                <a:cs typeface="Calibri"/>
                <a:sym typeface="Calibri"/>
              </a:rPr>
              <a:t>messages.</a:t>
            </a:r>
            <a:endParaRPr sz="2800">
              <a:latin typeface="Calibri"/>
              <a:ea typeface="Calibri"/>
              <a:cs typeface="Calibri"/>
              <a:sym typeface="Calibri"/>
            </a:endParaRPr>
          </a:p>
        </p:txBody>
      </p:sp>
      <p:pic>
        <p:nvPicPr>
          <p:cNvPr id="230" name="Google Shape;230;p11"/>
          <p:cNvPicPr preferRelativeResize="0"/>
          <p:nvPr/>
        </p:nvPicPr>
        <p:blipFill>
          <a:blip r:embed="rId3">
            <a:alphaModFix/>
          </a:blip>
          <a:stretch>
            <a:fillRect/>
          </a:stretch>
        </p:blipFill>
        <p:spPr>
          <a:xfrm>
            <a:off x="14385253" y="1058836"/>
            <a:ext cx="4124482" cy="92107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4" name="Shape 234"/>
        <p:cNvGrpSpPr/>
        <p:nvPr/>
      </p:nvGrpSpPr>
      <p:grpSpPr>
        <a:xfrm>
          <a:off x="0" y="0"/>
          <a:ext cx="0" cy="0"/>
          <a:chOff x="0" y="0"/>
          <a:chExt cx="0" cy="0"/>
        </a:xfrm>
      </p:grpSpPr>
      <p:pic>
        <p:nvPicPr>
          <p:cNvPr id="235" name="Google Shape;235;p12"/>
          <p:cNvPicPr preferRelativeResize="0"/>
          <p:nvPr/>
        </p:nvPicPr>
        <p:blipFill rotWithShape="1">
          <a:blip r:embed="rId3">
            <a:alphaModFix/>
          </a:blip>
          <a:srcRect b="0" l="0" r="0" t="0"/>
          <a:stretch/>
        </p:blipFill>
        <p:spPr>
          <a:xfrm>
            <a:off x="3282622" y="4397771"/>
            <a:ext cx="958086" cy="706784"/>
          </a:xfrm>
          <a:prstGeom prst="rect">
            <a:avLst/>
          </a:prstGeom>
          <a:noFill/>
          <a:ln>
            <a:noFill/>
          </a:ln>
        </p:spPr>
      </p:pic>
      <p:sp>
        <p:nvSpPr>
          <p:cNvPr descr="$PPTXTitle" id="236" name="Google Shape;236;p12"/>
          <p:cNvSpPr txBox="1"/>
          <p:nvPr>
            <p:ph type="title"/>
          </p:nvPr>
        </p:nvSpPr>
        <p:spPr>
          <a:xfrm>
            <a:off x="913592" y="318441"/>
            <a:ext cx="15012418" cy="1494433"/>
          </a:xfrm>
          <a:prstGeom prst="rect">
            <a:avLst/>
          </a:prstGeom>
          <a:noFill/>
          <a:ln>
            <a:noFill/>
          </a:ln>
        </p:spPr>
        <p:txBody>
          <a:bodyPr anchorCtr="0" anchor="t" bIns="0" lIns="0" spcFirstLastPara="1" rIns="0" wrap="square" tIns="593850">
            <a:spAutoFit/>
          </a:bodyPr>
          <a:lstStyle/>
          <a:p>
            <a:pPr indent="0" lvl="0" marL="34290" rtl="0" algn="l">
              <a:lnSpc>
                <a:spcPct val="100000"/>
              </a:lnSpc>
              <a:spcBef>
                <a:spcPts val="0"/>
              </a:spcBef>
              <a:spcAft>
                <a:spcPts val="0"/>
              </a:spcAft>
              <a:buNone/>
            </a:pPr>
            <a:r>
              <a:rPr lang="en-US" sz="5800">
                <a:solidFill>
                  <a:srgbClr val="0064A3"/>
                </a:solidFill>
              </a:rPr>
              <a:t>Structure </a:t>
            </a:r>
            <a:r>
              <a:rPr lang="en-US" sz="5800">
                <a:solidFill>
                  <a:srgbClr val="0567A5"/>
                </a:solidFill>
              </a:rPr>
              <a:t>des </a:t>
            </a:r>
            <a:r>
              <a:rPr lang="en-US" sz="5800">
                <a:solidFill>
                  <a:srgbClr val="0366A8"/>
                </a:solidFill>
              </a:rPr>
              <a:t>Données </a:t>
            </a:r>
            <a:r>
              <a:rPr lang="en-US" sz="5800">
                <a:solidFill>
                  <a:srgbClr val="0370A8"/>
                </a:solidFill>
              </a:rPr>
              <a:t>: </a:t>
            </a:r>
            <a:r>
              <a:rPr lang="en-US" sz="5800">
                <a:solidFill>
                  <a:srgbClr val="0369A1"/>
                </a:solidFill>
              </a:rPr>
              <a:t>Architecture </a:t>
            </a:r>
            <a:r>
              <a:rPr lang="en-US" sz="5800">
                <a:solidFill>
                  <a:srgbClr val="0169A3"/>
                </a:solidFill>
              </a:rPr>
              <a:t>Medollion</a:t>
            </a:r>
            <a:endParaRPr sz="5800"/>
          </a:p>
        </p:txBody>
      </p:sp>
      <p:sp>
        <p:nvSpPr>
          <p:cNvPr id="237" name="Google Shape;237;p12"/>
          <p:cNvSpPr txBox="1"/>
          <p:nvPr/>
        </p:nvSpPr>
        <p:spPr>
          <a:xfrm>
            <a:off x="1510999" y="5828744"/>
            <a:ext cx="4498975" cy="3044190"/>
          </a:xfrm>
          <a:prstGeom prst="rect">
            <a:avLst/>
          </a:prstGeom>
          <a:noFill/>
          <a:ln>
            <a:noFill/>
          </a:ln>
        </p:spPr>
        <p:txBody>
          <a:bodyPr anchorCtr="0" anchor="t" bIns="0" lIns="0" spcFirstLastPara="1" rIns="0" wrap="square" tIns="12050">
            <a:spAutoFit/>
          </a:bodyPr>
          <a:lstStyle/>
          <a:p>
            <a:pPr indent="0" lvl="0" marL="0" marR="32384" rtl="0" algn="ctr">
              <a:lnSpc>
                <a:spcPct val="100000"/>
              </a:lnSpc>
              <a:spcBef>
                <a:spcPts val="0"/>
              </a:spcBef>
              <a:spcAft>
                <a:spcPts val="0"/>
              </a:spcAft>
              <a:buNone/>
            </a:pPr>
            <a:r>
              <a:rPr lang="en-US" sz="4900">
                <a:solidFill>
                  <a:srgbClr val="CF7C3A"/>
                </a:solidFill>
                <a:latin typeface="Calibri"/>
                <a:ea typeface="Calibri"/>
                <a:cs typeface="Calibri"/>
                <a:sym typeface="Calibri"/>
              </a:rPr>
              <a:t>Bronze </a:t>
            </a:r>
            <a:r>
              <a:rPr lang="en-US" sz="4900">
                <a:solidFill>
                  <a:srgbClr val="CC8034"/>
                </a:solidFill>
                <a:latin typeface="Calibri"/>
                <a:ea typeface="Calibri"/>
                <a:cs typeface="Calibri"/>
                <a:sym typeface="Calibri"/>
              </a:rPr>
              <a:t>Loyer</a:t>
            </a:r>
            <a:endParaRPr sz="4900">
              <a:latin typeface="Calibri"/>
              <a:ea typeface="Calibri"/>
              <a:cs typeface="Calibri"/>
              <a:sym typeface="Calibri"/>
            </a:endParaRPr>
          </a:p>
          <a:p>
            <a:pPr indent="12700" lvl="0" marL="12065" marR="5080" rtl="0" algn="ctr">
              <a:lnSpc>
                <a:spcPct val="117800"/>
              </a:lnSpc>
              <a:spcBef>
                <a:spcPts val="2050"/>
              </a:spcBef>
              <a:spcAft>
                <a:spcPts val="0"/>
              </a:spcAft>
              <a:buNone/>
            </a:pPr>
            <a:r>
              <a:rPr lang="en-US" sz="2800">
                <a:solidFill>
                  <a:srgbClr val="383838"/>
                </a:solidFill>
                <a:latin typeface="Calibri"/>
                <a:ea typeface="Calibri"/>
                <a:cs typeface="Calibri"/>
                <a:sym typeface="Calibri"/>
              </a:rPr>
              <a:t>Ingestion </a:t>
            </a:r>
            <a:r>
              <a:rPr lang="en-US" sz="2800">
                <a:solidFill>
                  <a:srgbClr val="333333"/>
                </a:solidFill>
                <a:latin typeface="Calibri"/>
                <a:ea typeface="Calibri"/>
                <a:cs typeface="Calibri"/>
                <a:sym typeface="Calibri"/>
              </a:rPr>
              <a:t>brute. </a:t>
            </a:r>
            <a:r>
              <a:rPr lang="en-US" sz="2800">
                <a:solidFill>
                  <a:srgbClr val="343434"/>
                </a:solidFill>
                <a:latin typeface="Calibri"/>
                <a:ea typeface="Calibri"/>
                <a:cs typeface="Calibri"/>
                <a:sym typeface="Calibri"/>
              </a:rPr>
              <a:t>Données </a:t>
            </a:r>
            <a:r>
              <a:rPr lang="en-US" sz="2800">
                <a:solidFill>
                  <a:srgbClr val="282828"/>
                </a:solidFill>
                <a:latin typeface="Calibri"/>
                <a:ea typeface="Calibri"/>
                <a:cs typeface="Calibri"/>
                <a:sym typeface="Calibri"/>
              </a:rPr>
              <a:t>JSON </a:t>
            </a:r>
            <a:r>
              <a:rPr lang="en-US" sz="2800">
                <a:solidFill>
                  <a:srgbClr val="383838"/>
                </a:solidFill>
                <a:latin typeface="Calibri"/>
                <a:ea typeface="Calibri"/>
                <a:cs typeface="Calibri"/>
                <a:sym typeface="Calibri"/>
              </a:rPr>
              <a:t>immuables </a:t>
            </a:r>
            <a:r>
              <a:rPr lang="en-US" sz="2800">
                <a:solidFill>
                  <a:srgbClr val="313131"/>
                </a:solidFill>
                <a:latin typeface="Calibri"/>
                <a:ea typeface="Calibri"/>
                <a:cs typeface="Calibri"/>
                <a:sym typeface="Calibri"/>
              </a:rPr>
              <a:t>stockées </a:t>
            </a:r>
            <a:r>
              <a:rPr lang="en-US" sz="2800">
                <a:solidFill>
                  <a:srgbClr val="333333"/>
                </a:solidFill>
                <a:latin typeface="Calibri"/>
                <a:ea typeface="Calibri"/>
                <a:cs typeface="Calibri"/>
                <a:sym typeface="Calibri"/>
              </a:rPr>
              <a:t>telles </a:t>
            </a:r>
            <a:r>
              <a:rPr lang="en-US" sz="2800">
                <a:solidFill>
                  <a:srgbClr val="363636"/>
                </a:solidFill>
                <a:latin typeface="Calibri"/>
                <a:ea typeface="Calibri"/>
                <a:cs typeface="Calibri"/>
                <a:sym typeface="Calibri"/>
              </a:rPr>
              <a:t>quelles </a:t>
            </a:r>
            <a:r>
              <a:rPr lang="en-US" sz="2800">
                <a:solidFill>
                  <a:srgbClr val="343434"/>
                </a:solidFill>
                <a:latin typeface="Calibri"/>
                <a:ea typeface="Calibri"/>
                <a:cs typeface="Calibri"/>
                <a:sym typeface="Calibri"/>
              </a:rPr>
              <a:t>depuis </a:t>
            </a:r>
            <a:r>
              <a:rPr lang="en-US" sz="2800">
                <a:solidFill>
                  <a:srgbClr val="424242"/>
                </a:solidFill>
                <a:latin typeface="Calibri"/>
                <a:ea typeface="Calibri"/>
                <a:cs typeface="Calibri"/>
                <a:sym typeface="Calibri"/>
              </a:rPr>
              <a:t>Kafka. </a:t>
            </a:r>
            <a:r>
              <a:rPr lang="en-US" sz="2800">
                <a:solidFill>
                  <a:srgbClr val="363636"/>
                </a:solidFill>
                <a:latin typeface="Calibri"/>
                <a:ea typeface="Calibri"/>
                <a:cs typeface="Calibri"/>
                <a:sym typeface="Calibri"/>
              </a:rPr>
              <a:t>Conserve </a:t>
            </a:r>
            <a:r>
              <a:rPr lang="en-US" sz="2800">
                <a:solidFill>
                  <a:srgbClr val="343434"/>
                </a:solidFill>
                <a:latin typeface="Calibri"/>
                <a:ea typeface="Calibri"/>
                <a:cs typeface="Calibri"/>
                <a:sym typeface="Calibri"/>
              </a:rPr>
              <a:t>l'historique </a:t>
            </a:r>
            <a:r>
              <a:rPr lang="en-US" sz="2800">
                <a:solidFill>
                  <a:srgbClr val="313131"/>
                </a:solidFill>
                <a:latin typeface="Calibri"/>
                <a:ea typeface="Calibri"/>
                <a:cs typeface="Calibri"/>
                <a:sym typeface="Calibri"/>
              </a:rPr>
              <a:t>exact </a:t>
            </a:r>
            <a:r>
              <a:rPr lang="en-US" sz="2800">
                <a:solidFill>
                  <a:srgbClr val="343434"/>
                </a:solidFill>
                <a:latin typeface="Calibri"/>
                <a:ea typeface="Calibri"/>
                <a:cs typeface="Calibri"/>
                <a:sym typeface="Calibri"/>
              </a:rPr>
              <a:t>de </a:t>
            </a:r>
            <a:r>
              <a:rPr lang="en-US" sz="2800">
                <a:solidFill>
                  <a:srgbClr val="2F3B64"/>
                </a:solidFill>
                <a:latin typeface="Calibri"/>
                <a:ea typeface="Calibri"/>
                <a:cs typeface="Calibri"/>
                <a:sym typeface="Calibri"/>
              </a:rPr>
              <a:t>la </a:t>
            </a:r>
            <a:r>
              <a:rPr lang="en-US" sz="2800">
                <a:solidFill>
                  <a:srgbClr val="2A2A2A"/>
                </a:solidFill>
                <a:latin typeface="Calibri"/>
                <a:ea typeface="Calibri"/>
                <a:cs typeface="Calibri"/>
                <a:sym typeface="Calibri"/>
              </a:rPr>
              <a:t>source.</a:t>
            </a:r>
            <a:endParaRPr sz="2800">
              <a:latin typeface="Calibri"/>
              <a:ea typeface="Calibri"/>
              <a:cs typeface="Calibri"/>
              <a:sym typeface="Calibri"/>
            </a:endParaRPr>
          </a:p>
        </p:txBody>
      </p:sp>
      <p:sp>
        <p:nvSpPr>
          <p:cNvPr id="238" name="Google Shape;238;p12"/>
          <p:cNvSpPr txBox="1"/>
          <p:nvPr/>
        </p:nvSpPr>
        <p:spPr>
          <a:xfrm>
            <a:off x="7745060" y="5845105"/>
            <a:ext cx="4582795" cy="3027680"/>
          </a:xfrm>
          <a:prstGeom prst="rect">
            <a:avLst/>
          </a:prstGeom>
          <a:noFill/>
          <a:ln>
            <a:noFill/>
          </a:ln>
        </p:spPr>
        <p:txBody>
          <a:bodyPr anchorCtr="0" anchor="t" bIns="0" lIns="0" spcFirstLastPara="1" rIns="0" wrap="square" tIns="14600">
            <a:spAutoFit/>
          </a:bodyPr>
          <a:lstStyle/>
          <a:p>
            <a:pPr indent="0" lvl="0" marL="1905" rtl="0" algn="ctr">
              <a:lnSpc>
                <a:spcPct val="100000"/>
              </a:lnSpc>
              <a:spcBef>
                <a:spcPts val="0"/>
              </a:spcBef>
              <a:spcAft>
                <a:spcPts val="0"/>
              </a:spcAft>
              <a:buNone/>
            </a:pPr>
            <a:r>
              <a:rPr lang="en-US" sz="4750">
                <a:solidFill>
                  <a:srgbClr val="677590"/>
                </a:solidFill>
                <a:latin typeface="Calibri"/>
                <a:ea typeface="Calibri"/>
                <a:cs typeface="Calibri"/>
                <a:sym typeface="Calibri"/>
              </a:rPr>
              <a:t>Silver </a:t>
            </a:r>
            <a:r>
              <a:rPr lang="en-US" sz="4750">
                <a:solidFill>
                  <a:srgbClr val="5B6D80"/>
                </a:solidFill>
                <a:latin typeface="Calibri"/>
                <a:ea typeface="Calibri"/>
                <a:cs typeface="Calibri"/>
                <a:sym typeface="Calibri"/>
              </a:rPr>
              <a:t>Loyer</a:t>
            </a:r>
            <a:endParaRPr sz="4750">
              <a:latin typeface="Calibri"/>
              <a:ea typeface="Calibri"/>
              <a:cs typeface="Calibri"/>
              <a:sym typeface="Calibri"/>
            </a:endParaRPr>
          </a:p>
          <a:p>
            <a:pPr indent="0" lvl="0" marL="15875" rtl="0" algn="ctr">
              <a:lnSpc>
                <a:spcPct val="100000"/>
              </a:lnSpc>
              <a:spcBef>
                <a:spcPts val="2680"/>
              </a:spcBef>
              <a:spcAft>
                <a:spcPts val="0"/>
              </a:spcAft>
              <a:buNone/>
            </a:pPr>
            <a:r>
              <a:rPr lang="en-US" sz="2800">
                <a:solidFill>
                  <a:srgbClr val="343434"/>
                </a:solidFill>
                <a:latin typeface="Calibri"/>
                <a:ea typeface="Calibri"/>
                <a:cs typeface="Calibri"/>
                <a:sym typeface="Calibri"/>
              </a:rPr>
              <a:t>Nettoyage </a:t>
            </a:r>
            <a:r>
              <a:rPr lang="en-US" sz="2800">
                <a:solidFill>
                  <a:srgbClr val="383838"/>
                </a:solidFill>
                <a:latin typeface="Calibri"/>
                <a:ea typeface="Calibri"/>
                <a:cs typeface="Calibri"/>
                <a:sym typeface="Calibri"/>
              </a:rPr>
              <a:t>et </a:t>
            </a:r>
            <a:r>
              <a:rPr lang="en-US" sz="2800">
                <a:solidFill>
                  <a:srgbClr val="333333"/>
                </a:solidFill>
                <a:latin typeface="Calibri"/>
                <a:ea typeface="Calibri"/>
                <a:cs typeface="Calibri"/>
                <a:sym typeface="Calibri"/>
              </a:rPr>
              <a:t>validation.</a:t>
            </a:r>
            <a:endParaRPr sz="2800">
              <a:latin typeface="Calibri"/>
              <a:ea typeface="Calibri"/>
              <a:cs typeface="Calibri"/>
              <a:sym typeface="Calibri"/>
            </a:endParaRPr>
          </a:p>
          <a:p>
            <a:pPr indent="33020" lvl="0" marL="12065" marR="5080" rtl="0" algn="ctr">
              <a:lnSpc>
                <a:spcPct val="117800"/>
              </a:lnSpc>
              <a:spcBef>
                <a:spcPts val="0"/>
              </a:spcBef>
              <a:spcAft>
                <a:spcPts val="0"/>
              </a:spcAft>
              <a:buNone/>
            </a:pPr>
            <a:r>
              <a:rPr lang="en-US" sz="2800">
                <a:solidFill>
                  <a:srgbClr val="313131"/>
                </a:solidFill>
                <a:latin typeface="Calibri"/>
                <a:ea typeface="Calibri"/>
                <a:cs typeface="Calibri"/>
                <a:sym typeface="Calibri"/>
              </a:rPr>
              <a:t>Suppression </a:t>
            </a:r>
            <a:r>
              <a:rPr lang="en-US" sz="2800">
                <a:solidFill>
                  <a:srgbClr val="333333"/>
                </a:solidFill>
                <a:latin typeface="Calibri"/>
                <a:ea typeface="Calibri"/>
                <a:cs typeface="Calibri"/>
                <a:sym typeface="Calibri"/>
              </a:rPr>
              <a:t>du code HTML, </a:t>
            </a:r>
            <a:r>
              <a:rPr lang="en-US" sz="2800">
                <a:solidFill>
                  <a:srgbClr val="343434"/>
                </a:solidFill>
                <a:latin typeface="Calibri"/>
                <a:ea typeface="Calibri"/>
                <a:cs typeface="Calibri"/>
                <a:sym typeface="Calibri"/>
              </a:rPr>
              <a:t>détection </a:t>
            </a:r>
            <a:r>
              <a:rPr lang="en-US" sz="2800">
                <a:solidFill>
                  <a:srgbClr val="383838"/>
                </a:solidFill>
                <a:latin typeface="Calibri"/>
                <a:ea typeface="Calibri"/>
                <a:cs typeface="Calibri"/>
                <a:sym typeface="Calibri"/>
              </a:rPr>
              <a:t>de </a:t>
            </a:r>
            <a:r>
              <a:rPr lang="en-US" sz="2800">
                <a:solidFill>
                  <a:srgbClr val="344160"/>
                </a:solidFill>
                <a:latin typeface="Calibri"/>
                <a:ea typeface="Calibri"/>
                <a:cs typeface="Calibri"/>
                <a:sym typeface="Calibri"/>
              </a:rPr>
              <a:t>la </a:t>
            </a:r>
            <a:r>
              <a:rPr lang="en-US" sz="2800">
                <a:solidFill>
                  <a:srgbClr val="383838"/>
                </a:solidFill>
                <a:latin typeface="Calibri"/>
                <a:ea typeface="Calibri"/>
                <a:cs typeface="Calibri"/>
                <a:sym typeface="Calibri"/>
              </a:rPr>
              <a:t>Iangue, </a:t>
            </a:r>
            <a:r>
              <a:rPr lang="en-US" sz="2800">
                <a:solidFill>
                  <a:srgbClr val="282828"/>
                </a:solidFill>
                <a:latin typeface="Calibri"/>
                <a:ea typeface="Calibri"/>
                <a:cs typeface="Calibri"/>
                <a:sym typeface="Calibri"/>
              </a:rPr>
              <a:t>vérification </a:t>
            </a:r>
            <a:r>
              <a:rPr lang="en-US" sz="2800">
                <a:solidFill>
                  <a:srgbClr val="343434"/>
                </a:solidFill>
                <a:latin typeface="Calibri"/>
                <a:ea typeface="Calibri"/>
                <a:cs typeface="Calibri"/>
                <a:sym typeface="Calibri"/>
              </a:rPr>
              <a:t>de </a:t>
            </a:r>
            <a:r>
              <a:rPr lang="en-US" sz="2800">
                <a:solidFill>
                  <a:srgbClr val="3F3F3F"/>
                </a:solidFill>
                <a:latin typeface="Calibri"/>
                <a:ea typeface="Calibri"/>
                <a:cs typeface="Calibri"/>
                <a:sym typeface="Calibri"/>
              </a:rPr>
              <a:t>la </a:t>
            </a:r>
            <a:r>
              <a:rPr lang="en-US" sz="2800">
                <a:solidFill>
                  <a:srgbClr val="383838"/>
                </a:solidFill>
                <a:latin typeface="Calibri"/>
                <a:ea typeface="Calibri"/>
                <a:cs typeface="Calibri"/>
                <a:sym typeface="Calibri"/>
              </a:rPr>
              <a:t>qualité </a:t>
            </a:r>
            <a:r>
              <a:rPr lang="en-US" sz="2800">
                <a:solidFill>
                  <a:srgbClr val="333333"/>
                </a:solidFill>
                <a:latin typeface="Calibri"/>
                <a:ea typeface="Calibri"/>
                <a:cs typeface="Calibri"/>
                <a:sym typeface="Calibri"/>
              </a:rPr>
              <a:t>des </a:t>
            </a:r>
            <a:r>
              <a:rPr lang="en-US" sz="2800">
                <a:solidFill>
                  <a:srgbClr val="2F2F2F"/>
                </a:solidFill>
                <a:latin typeface="Calibri"/>
                <a:ea typeface="Calibri"/>
                <a:cs typeface="Calibri"/>
                <a:sym typeface="Calibri"/>
              </a:rPr>
              <a:t>données.</a:t>
            </a:r>
            <a:endParaRPr sz="2800">
              <a:latin typeface="Calibri"/>
              <a:ea typeface="Calibri"/>
              <a:cs typeface="Calibri"/>
              <a:sym typeface="Calibri"/>
            </a:endParaRPr>
          </a:p>
        </p:txBody>
      </p:sp>
      <p:sp>
        <p:nvSpPr>
          <p:cNvPr id="239" name="Google Shape;239;p12"/>
          <p:cNvSpPr txBox="1"/>
          <p:nvPr/>
        </p:nvSpPr>
        <p:spPr>
          <a:xfrm>
            <a:off x="13991164" y="5845105"/>
            <a:ext cx="4669155" cy="3027680"/>
          </a:xfrm>
          <a:prstGeom prst="rect">
            <a:avLst/>
          </a:prstGeom>
          <a:noFill/>
          <a:ln>
            <a:noFill/>
          </a:ln>
        </p:spPr>
        <p:txBody>
          <a:bodyPr anchorCtr="0" anchor="t" bIns="0" lIns="0" spcFirstLastPara="1" rIns="0" wrap="square" tIns="14600">
            <a:spAutoFit/>
          </a:bodyPr>
          <a:lstStyle/>
          <a:p>
            <a:pPr indent="0" lvl="0" marL="0" marR="17145" rtl="0" algn="ctr">
              <a:lnSpc>
                <a:spcPct val="100000"/>
              </a:lnSpc>
              <a:spcBef>
                <a:spcPts val="0"/>
              </a:spcBef>
              <a:spcAft>
                <a:spcPts val="0"/>
              </a:spcAft>
              <a:buNone/>
            </a:pPr>
            <a:r>
              <a:rPr lang="en-US" sz="4750">
                <a:solidFill>
                  <a:srgbClr val="DD7C05"/>
                </a:solidFill>
                <a:latin typeface="Calibri"/>
                <a:ea typeface="Calibri"/>
                <a:cs typeface="Calibri"/>
                <a:sym typeface="Calibri"/>
              </a:rPr>
              <a:t>Gold </a:t>
            </a:r>
            <a:r>
              <a:rPr lang="en-US" sz="4750">
                <a:solidFill>
                  <a:srgbClr val="D67505"/>
                </a:solidFill>
                <a:latin typeface="Calibri"/>
                <a:ea typeface="Calibri"/>
                <a:cs typeface="Calibri"/>
                <a:sym typeface="Calibri"/>
              </a:rPr>
              <a:t>Loyer</a:t>
            </a:r>
            <a:endParaRPr sz="4750">
              <a:latin typeface="Calibri"/>
              <a:ea typeface="Calibri"/>
              <a:cs typeface="Calibri"/>
              <a:sym typeface="Calibri"/>
            </a:endParaRPr>
          </a:p>
          <a:p>
            <a:pPr indent="0" lvl="0" marL="12065" marR="5080" rtl="0" algn="ctr">
              <a:lnSpc>
                <a:spcPct val="117800"/>
              </a:lnSpc>
              <a:spcBef>
                <a:spcPts val="2085"/>
              </a:spcBef>
              <a:spcAft>
                <a:spcPts val="0"/>
              </a:spcAft>
              <a:buNone/>
            </a:pPr>
            <a:r>
              <a:rPr lang="en-US" sz="2800">
                <a:solidFill>
                  <a:srgbClr val="2F2F2F"/>
                </a:solidFill>
                <a:latin typeface="Calibri"/>
                <a:ea typeface="Calibri"/>
                <a:cs typeface="Calibri"/>
                <a:sym typeface="Calibri"/>
              </a:rPr>
              <a:t>Agrégations </a:t>
            </a:r>
            <a:r>
              <a:rPr lang="en-US" sz="2800">
                <a:solidFill>
                  <a:srgbClr val="333333"/>
                </a:solidFill>
                <a:latin typeface="Calibri"/>
                <a:ea typeface="Calibri"/>
                <a:cs typeface="Calibri"/>
                <a:sym typeface="Calibri"/>
              </a:rPr>
              <a:t>métier. </a:t>
            </a:r>
            <a:r>
              <a:rPr lang="en-US" sz="2800">
                <a:solidFill>
                  <a:srgbClr val="2F2F2F"/>
                </a:solidFill>
                <a:latin typeface="Calibri"/>
                <a:ea typeface="Calibri"/>
                <a:cs typeface="Calibri"/>
                <a:sym typeface="Calibri"/>
              </a:rPr>
              <a:t>Extraction </a:t>
            </a:r>
            <a:r>
              <a:rPr lang="en-US" sz="2800">
                <a:solidFill>
                  <a:srgbClr val="333333"/>
                </a:solidFill>
                <a:latin typeface="Calibri"/>
                <a:ea typeface="Calibri"/>
                <a:cs typeface="Calibri"/>
                <a:sym typeface="Calibri"/>
              </a:rPr>
              <a:t>des </a:t>
            </a:r>
            <a:r>
              <a:rPr lang="en-US" sz="2800">
                <a:solidFill>
                  <a:srgbClr val="2D2D2D"/>
                </a:solidFill>
                <a:latin typeface="Calibri"/>
                <a:ea typeface="Calibri"/>
                <a:cs typeface="Calibri"/>
                <a:sym typeface="Calibri"/>
              </a:rPr>
              <a:t>mots-clés, </a:t>
            </a:r>
            <a:r>
              <a:rPr lang="en-US" sz="2800">
                <a:solidFill>
                  <a:srgbClr val="313131"/>
                </a:solidFill>
                <a:latin typeface="Calibri"/>
                <a:ea typeface="Calibri"/>
                <a:cs typeface="Calibri"/>
                <a:sym typeface="Calibri"/>
              </a:rPr>
              <a:t>calculs </a:t>
            </a:r>
            <a:r>
              <a:rPr lang="en-US" sz="2800">
                <a:solidFill>
                  <a:srgbClr val="343434"/>
                </a:solidFill>
                <a:latin typeface="Calibri"/>
                <a:ea typeface="Calibri"/>
                <a:cs typeface="Calibri"/>
                <a:sym typeface="Calibri"/>
              </a:rPr>
              <a:t>des </a:t>
            </a:r>
            <a:r>
              <a:rPr lang="en-US" sz="2800">
                <a:solidFill>
                  <a:srgbClr val="363636"/>
                </a:solidFill>
                <a:latin typeface="Calibri"/>
                <a:ea typeface="Calibri"/>
                <a:cs typeface="Calibri"/>
                <a:sym typeface="Calibri"/>
              </a:rPr>
              <a:t>tops </a:t>
            </a:r>
            <a:r>
              <a:rPr lang="en-US" sz="2800">
                <a:solidFill>
                  <a:srgbClr val="2B2B2B"/>
                </a:solidFill>
                <a:latin typeface="Calibri"/>
                <a:ea typeface="Calibri"/>
                <a:cs typeface="Calibri"/>
                <a:sym typeface="Calibri"/>
              </a:rPr>
              <a:t>auteurs, </a:t>
            </a:r>
            <a:r>
              <a:rPr lang="en-US" sz="2800">
                <a:solidFill>
                  <a:srgbClr val="333333"/>
                </a:solidFill>
                <a:latin typeface="Calibri"/>
                <a:ea typeface="Calibri"/>
                <a:cs typeface="Calibri"/>
                <a:sym typeface="Calibri"/>
              </a:rPr>
              <a:t>données </a:t>
            </a:r>
            <a:r>
              <a:rPr lang="en-US" sz="2800">
                <a:solidFill>
                  <a:srgbClr val="313131"/>
                </a:solidFill>
                <a:latin typeface="Calibri"/>
                <a:ea typeface="Calibri"/>
                <a:cs typeface="Calibri"/>
                <a:sym typeface="Calibri"/>
              </a:rPr>
              <a:t>prêtes </a:t>
            </a:r>
            <a:r>
              <a:rPr lang="en-US" sz="2800">
                <a:solidFill>
                  <a:srgbClr val="383838"/>
                </a:solidFill>
                <a:latin typeface="Calibri"/>
                <a:ea typeface="Calibri"/>
                <a:cs typeface="Calibri"/>
                <a:sym typeface="Calibri"/>
              </a:rPr>
              <a:t>pour </a:t>
            </a:r>
            <a:r>
              <a:rPr lang="en-US" sz="2800">
                <a:solidFill>
                  <a:srgbClr val="3B3B3B"/>
                </a:solidFill>
                <a:latin typeface="Calibri"/>
                <a:ea typeface="Calibri"/>
                <a:cs typeface="Calibri"/>
                <a:sym typeface="Calibri"/>
              </a:rPr>
              <a:t>le </a:t>
            </a:r>
            <a:r>
              <a:rPr lang="en-US" sz="2800">
                <a:solidFill>
                  <a:srgbClr val="313131"/>
                </a:solidFill>
                <a:latin typeface="Calibri"/>
                <a:ea typeface="Calibri"/>
                <a:cs typeface="Calibri"/>
                <a:sym typeface="Calibri"/>
              </a:rPr>
              <a:t>reporting </a:t>
            </a:r>
            <a:r>
              <a:rPr lang="en-US" sz="2800">
                <a:solidFill>
                  <a:srgbClr val="2F2F2F"/>
                </a:solidFill>
                <a:latin typeface="Calibri"/>
                <a:ea typeface="Calibri"/>
                <a:cs typeface="Calibri"/>
                <a:sym typeface="Calibri"/>
              </a:rPr>
              <a:t>BI.</a:t>
            </a:r>
            <a:endParaRPr sz="2800">
              <a:latin typeface="Calibri"/>
              <a:ea typeface="Calibri"/>
              <a:cs typeface="Calibri"/>
              <a:sym typeface="Calibri"/>
            </a:endParaRPr>
          </a:p>
        </p:txBody>
      </p:sp>
      <p:pic>
        <p:nvPicPr>
          <p:cNvPr descr="image.png" id="240" name="Google Shape;240;p12"/>
          <p:cNvPicPr preferRelativeResize="0"/>
          <p:nvPr/>
        </p:nvPicPr>
        <p:blipFill rotWithShape="1">
          <a:blip r:embed="rId4">
            <a:alphaModFix/>
          </a:blip>
          <a:srcRect b="0" l="0" r="0" t="0"/>
          <a:stretch/>
        </p:blipFill>
        <p:spPr>
          <a:xfrm>
            <a:off x="9560200" y="4274913"/>
            <a:ext cx="952500" cy="952500"/>
          </a:xfrm>
          <a:prstGeom prst="rect">
            <a:avLst/>
          </a:prstGeom>
          <a:noFill/>
          <a:ln>
            <a:noFill/>
          </a:ln>
        </p:spPr>
      </p:pic>
      <p:pic>
        <p:nvPicPr>
          <p:cNvPr descr="image.png" id="241" name="Google Shape;241;p12"/>
          <p:cNvPicPr preferRelativeResize="0"/>
          <p:nvPr/>
        </p:nvPicPr>
        <p:blipFill rotWithShape="1">
          <a:blip r:embed="rId5">
            <a:alphaModFix/>
          </a:blip>
          <a:srcRect b="0" l="0" r="0" t="0"/>
          <a:stretch/>
        </p:blipFill>
        <p:spPr>
          <a:xfrm>
            <a:off x="9798325" y="4513038"/>
            <a:ext cx="476250" cy="476250"/>
          </a:xfrm>
          <a:prstGeom prst="rect">
            <a:avLst/>
          </a:prstGeom>
          <a:noFill/>
          <a:ln>
            <a:noFill/>
          </a:ln>
        </p:spPr>
      </p:pic>
      <p:pic>
        <p:nvPicPr>
          <p:cNvPr descr="image.png" id="242" name="Google Shape;242;p12"/>
          <p:cNvPicPr preferRelativeResize="0"/>
          <p:nvPr/>
        </p:nvPicPr>
        <p:blipFill rotWithShape="1">
          <a:blip r:embed="rId6">
            <a:alphaModFix/>
          </a:blip>
          <a:srcRect b="0" l="0" r="0" t="0"/>
          <a:stretch/>
        </p:blipFill>
        <p:spPr>
          <a:xfrm>
            <a:off x="15605775" y="4274913"/>
            <a:ext cx="952500" cy="952500"/>
          </a:xfrm>
          <a:prstGeom prst="rect">
            <a:avLst/>
          </a:prstGeom>
          <a:noFill/>
          <a:ln>
            <a:noFill/>
          </a:ln>
        </p:spPr>
      </p:pic>
      <p:pic>
        <p:nvPicPr>
          <p:cNvPr descr="image.png" id="243" name="Google Shape;243;p12"/>
          <p:cNvPicPr preferRelativeResize="0"/>
          <p:nvPr/>
        </p:nvPicPr>
        <p:blipFill rotWithShape="1">
          <a:blip r:embed="rId7">
            <a:alphaModFix/>
          </a:blip>
          <a:srcRect b="0" l="0" r="0" t="0"/>
          <a:stretch/>
        </p:blipFill>
        <p:spPr>
          <a:xfrm>
            <a:off x="15815325" y="4513038"/>
            <a:ext cx="533400" cy="476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7" name="Shape 247"/>
        <p:cNvGrpSpPr/>
        <p:nvPr/>
      </p:nvGrpSpPr>
      <p:grpSpPr>
        <a:xfrm>
          <a:off x="0" y="0"/>
          <a:ext cx="0" cy="0"/>
          <a:chOff x="0" y="0"/>
          <a:chExt cx="0" cy="0"/>
        </a:xfrm>
      </p:grpSpPr>
      <p:sp>
        <p:nvSpPr>
          <p:cNvPr descr="$PPTXTitle" id="248" name="Google Shape;248;p13"/>
          <p:cNvSpPr txBox="1"/>
          <p:nvPr>
            <p:ph type="title"/>
          </p:nvPr>
        </p:nvSpPr>
        <p:spPr>
          <a:xfrm>
            <a:off x="913592" y="318441"/>
            <a:ext cx="15012418" cy="1494433"/>
          </a:xfrm>
          <a:prstGeom prst="rect">
            <a:avLst/>
          </a:prstGeom>
          <a:noFill/>
          <a:ln>
            <a:noFill/>
          </a:ln>
        </p:spPr>
        <p:txBody>
          <a:bodyPr anchorCtr="0" anchor="t" bIns="0" lIns="0" spcFirstLastPara="1" rIns="0" wrap="square" tIns="573425">
            <a:spAutoFit/>
          </a:bodyPr>
          <a:lstStyle/>
          <a:p>
            <a:pPr indent="0" lvl="0" marL="22860" rtl="0" algn="l">
              <a:lnSpc>
                <a:spcPct val="100000"/>
              </a:lnSpc>
              <a:spcBef>
                <a:spcPts val="0"/>
              </a:spcBef>
              <a:spcAft>
                <a:spcPts val="0"/>
              </a:spcAft>
              <a:buNone/>
            </a:pPr>
            <a:r>
              <a:rPr b="1" lang="en-US">
                <a:solidFill>
                  <a:srgbClr val="006D9E"/>
                </a:solidFill>
                <a:latin typeface="Calibri"/>
                <a:ea typeface="Calibri"/>
                <a:cs typeface="Calibri"/>
                <a:sym typeface="Calibri"/>
              </a:rPr>
              <a:t>Couche </a:t>
            </a:r>
            <a:r>
              <a:rPr b="1" lang="en-US">
                <a:solidFill>
                  <a:srgbClr val="086DA1"/>
                </a:solidFill>
                <a:latin typeface="Calibri"/>
                <a:ea typeface="Calibri"/>
                <a:cs typeface="Calibri"/>
                <a:sym typeface="Calibri"/>
              </a:rPr>
              <a:t>Bronze: </a:t>
            </a:r>
            <a:r>
              <a:rPr b="1" lang="en-US">
                <a:solidFill>
                  <a:srgbClr val="0767A3"/>
                </a:solidFill>
                <a:latin typeface="Calibri"/>
                <a:ea typeface="Calibri"/>
                <a:cs typeface="Calibri"/>
                <a:sym typeface="Calibri"/>
              </a:rPr>
              <a:t>Ingestion </a:t>
            </a:r>
            <a:r>
              <a:rPr b="1" lang="en-US">
                <a:solidFill>
                  <a:srgbClr val="006EA0"/>
                </a:solidFill>
                <a:latin typeface="Calibri"/>
                <a:ea typeface="Calibri"/>
                <a:cs typeface="Calibri"/>
                <a:sym typeface="Calibri"/>
              </a:rPr>
              <a:t>via </a:t>
            </a:r>
            <a:r>
              <a:rPr b="1" lang="en-US">
                <a:solidFill>
                  <a:srgbClr val="0766A8"/>
                </a:solidFill>
                <a:latin typeface="Calibri"/>
                <a:ea typeface="Calibri"/>
                <a:cs typeface="Calibri"/>
                <a:sym typeface="Calibri"/>
              </a:rPr>
              <a:t>Doto </a:t>
            </a:r>
            <a:r>
              <a:rPr b="1" lang="en-US">
                <a:solidFill>
                  <a:srgbClr val="036B95"/>
                </a:solidFill>
                <a:latin typeface="Calibri"/>
                <a:ea typeface="Calibri"/>
                <a:cs typeface="Calibri"/>
                <a:sym typeface="Calibri"/>
              </a:rPr>
              <a:t>Lake</a:t>
            </a:r>
            <a:endParaRPr/>
          </a:p>
        </p:txBody>
      </p:sp>
      <p:sp>
        <p:nvSpPr>
          <p:cNvPr id="249" name="Google Shape;249;p13"/>
          <p:cNvSpPr txBox="1"/>
          <p:nvPr/>
        </p:nvSpPr>
        <p:spPr>
          <a:xfrm>
            <a:off x="892302" y="2677663"/>
            <a:ext cx="7404734" cy="1549400"/>
          </a:xfrm>
          <a:prstGeom prst="rect">
            <a:avLst/>
          </a:prstGeom>
          <a:noFill/>
          <a:ln>
            <a:noFill/>
          </a:ln>
        </p:spPr>
        <p:txBody>
          <a:bodyPr anchorCtr="0" anchor="t" bIns="0" lIns="0" spcFirstLastPara="1" rIns="0" wrap="square" tIns="12050">
            <a:spAutoFit/>
          </a:bodyPr>
          <a:lstStyle/>
          <a:p>
            <a:pPr indent="1270" lvl="0" marL="38100" marR="30480" rtl="0" algn="l">
              <a:lnSpc>
                <a:spcPct val="111100"/>
              </a:lnSpc>
              <a:spcBef>
                <a:spcPts val="0"/>
              </a:spcBef>
              <a:spcAft>
                <a:spcPts val="0"/>
              </a:spcAft>
              <a:buNone/>
            </a:pPr>
            <a:r>
              <a:rPr lang="en-US" sz="4500">
                <a:solidFill>
                  <a:srgbClr val="0083D8"/>
                </a:solidFill>
                <a:latin typeface="Arial"/>
                <a:ea typeface="Arial"/>
                <a:cs typeface="Arial"/>
                <a:sym typeface="Arial"/>
              </a:rPr>
              <a:t>Kafka </a:t>
            </a:r>
            <a:r>
              <a:rPr lang="en-US" sz="4500">
                <a:solidFill>
                  <a:srgbClr val="0589D1"/>
                </a:solidFill>
                <a:latin typeface="Arial"/>
                <a:ea typeface="Arial"/>
                <a:cs typeface="Arial"/>
                <a:sym typeface="Arial"/>
              </a:rPr>
              <a:t>Consumer </a:t>
            </a:r>
            <a:r>
              <a:rPr lang="en-US" sz="4500">
                <a:solidFill>
                  <a:srgbClr val="0079CD"/>
                </a:solidFill>
                <a:latin typeface="Arial"/>
                <a:ea typeface="Arial"/>
                <a:cs typeface="Arial"/>
                <a:sym typeface="Arial"/>
              </a:rPr>
              <a:t>&amp; </a:t>
            </a:r>
            <a:r>
              <a:rPr lang="en-US" sz="4500">
                <a:solidFill>
                  <a:srgbClr val="187CD6"/>
                </a:solidFill>
                <a:latin typeface="Arial"/>
                <a:ea typeface="Arial"/>
                <a:cs typeface="Arial"/>
                <a:sym typeface="Arial"/>
              </a:rPr>
              <a:t>Stockage </a:t>
            </a:r>
            <a:r>
              <a:rPr lang="en-US" sz="4500">
                <a:solidFill>
                  <a:srgbClr val="0A82B6"/>
                </a:solidFill>
                <a:latin typeface="Arial"/>
                <a:ea typeface="Arial"/>
                <a:cs typeface="Arial"/>
                <a:sym typeface="Arial"/>
              </a:rPr>
              <a:t>Ob</a:t>
            </a:r>
            <a:r>
              <a:rPr baseline="30000" lang="en-US" sz="6750">
                <a:solidFill>
                  <a:srgbClr val="0089D8"/>
                </a:solidFill>
                <a:latin typeface="Arial"/>
                <a:ea typeface="Arial"/>
                <a:cs typeface="Arial"/>
                <a:sym typeface="Arial"/>
              </a:rPr>
              <a:t>-</a:t>
            </a:r>
            <a:r>
              <a:rPr lang="en-US" sz="4500">
                <a:solidFill>
                  <a:srgbClr val="0A82B6"/>
                </a:solidFill>
                <a:latin typeface="Arial"/>
                <a:ea typeface="Arial"/>
                <a:cs typeface="Arial"/>
                <a:sym typeface="Arial"/>
              </a:rPr>
              <a:t>jet</a:t>
            </a:r>
            <a:endParaRPr sz="4500">
              <a:latin typeface="Arial"/>
              <a:ea typeface="Arial"/>
              <a:cs typeface="Arial"/>
              <a:sym typeface="Arial"/>
            </a:endParaRPr>
          </a:p>
        </p:txBody>
      </p:sp>
      <p:graphicFrame>
        <p:nvGraphicFramePr>
          <p:cNvPr id="250" name="Google Shape;250;p13"/>
          <p:cNvGraphicFramePr/>
          <p:nvPr/>
        </p:nvGraphicFramePr>
        <p:xfrm>
          <a:off x="1366352" y="4650545"/>
          <a:ext cx="3000000" cy="3000000"/>
        </p:xfrm>
        <a:graphic>
          <a:graphicData uri="http://schemas.openxmlformats.org/drawingml/2006/table">
            <a:tbl>
              <a:tblPr bandRow="1" firstRow="1">
                <a:noFill/>
                <a:tableStyleId>{906578A3-1490-40C9-9EC2-DAE12AC14E86}</a:tableStyleId>
              </a:tblPr>
              <a:tblGrid>
                <a:gridCol w="8503925"/>
                <a:gridCol w="511800"/>
                <a:gridCol w="237500"/>
              </a:tblGrid>
              <a:tr h="1082675">
                <a:tc>
                  <a:txBody>
                    <a:bodyPr/>
                    <a:lstStyle/>
                    <a:p>
                      <a:pPr indent="0" lvl="0" marL="38735" marR="0" rtl="0" algn="l">
                        <a:lnSpc>
                          <a:spcPct val="95185"/>
                        </a:lnSpc>
                        <a:spcBef>
                          <a:spcPts val="0"/>
                        </a:spcBef>
                        <a:spcAft>
                          <a:spcPts val="0"/>
                        </a:spcAft>
                        <a:buNone/>
                      </a:pPr>
                      <a:r>
                        <a:rPr lang="en-US" sz="2700" u="none" cap="none" strike="noStrike">
                          <a:solidFill>
                            <a:srgbClr val="313131"/>
                          </a:solidFill>
                          <a:latin typeface="Calibri"/>
                          <a:ea typeface="Calibri"/>
                          <a:cs typeface="Calibri"/>
                          <a:sym typeface="Calibri"/>
                        </a:rPr>
                        <a:t>Consommation </a:t>
                      </a:r>
                      <a:r>
                        <a:rPr lang="en-US" sz="2700" u="none" cap="none" strike="noStrike">
                          <a:solidFill>
                            <a:srgbClr val="344B62"/>
                          </a:solidFill>
                          <a:latin typeface="Calibri"/>
                          <a:ea typeface="Calibri"/>
                          <a:cs typeface="Calibri"/>
                          <a:sym typeface="Calibri"/>
                        </a:rPr>
                        <a:t>continue: </a:t>
                      </a:r>
                      <a:r>
                        <a:rPr lang="en-US" sz="2700" u="none" cap="none" strike="noStrike">
                          <a:solidFill>
                            <a:srgbClr val="3F3F3F"/>
                          </a:solidFill>
                          <a:latin typeface="Calibri"/>
                          <a:ea typeface="Calibri"/>
                          <a:cs typeface="Calibri"/>
                          <a:sym typeface="Calibri"/>
                        </a:rPr>
                        <a:t>Le </a:t>
                      </a:r>
                      <a:r>
                        <a:rPr lang="en-US" sz="2700" u="none" cap="none" strike="noStrike">
                          <a:solidFill>
                            <a:srgbClr val="363636"/>
                          </a:solidFill>
                          <a:latin typeface="Calibri"/>
                          <a:ea typeface="Calibri"/>
                          <a:cs typeface="Calibri"/>
                          <a:sym typeface="Calibri"/>
                        </a:rPr>
                        <a:t>script'consumer_bronze.py' </a:t>
                      </a:r>
                      <a:r>
                        <a:rPr lang="en-US" sz="2700" u="none" cap="none" strike="noStrike">
                          <a:solidFill>
                            <a:srgbClr val="2A4159"/>
                          </a:solidFill>
                          <a:latin typeface="Calibri"/>
                          <a:ea typeface="Calibri"/>
                          <a:cs typeface="Calibri"/>
                          <a:sym typeface="Calibri"/>
                        </a:rPr>
                        <a:t>Iit</a:t>
                      </a:r>
                      <a:endParaRPr sz="2700" u="none" cap="none" strike="noStrike">
                        <a:latin typeface="Calibri"/>
                        <a:ea typeface="Calibri"/>
                        <a:cs typeface="Calibri"/>
                        <a:sym typeface="Calibri"/>
                      </a:endParaRPr>
                    </a:p>
                    <a:p>
                      <a:pPr indent="0" lvl="0" marL="45085" marR="0" rtl="0" algn="l">
                        <a:lnSpc>
                          <a:spcPct val="100000"/>
                        </a:lnSpc>
                        <a:spcBef>
                          <a:spcPts val="715"/>
                        </a:spcBef>
                        <a:spcAft>
                          <a:spcPts val="0"/>
                        </a:spcAft>
                        <a:buNone/>
                      </a:pPr>
                      <a:r>
                        <a:rPr lang="en-US" sz="2700" u="none" cap="none" strike="noStrike">
                          <a:solidFill>
                            <a:srgbClr val="383838"/>
                          </a:solidFill>
                          <a:latin typeface="Calibri"/>
                          <a:ea typeface="Calibri"/>
                          <a:cs typeface="Calibri"/>
                          <a:sym typeface="Calibri"/>
                        </a:rPr>
                        <a:t>le </a:t>
                      </a:r>
                      <a:r>
                        <a:rPr lang="en-US" sz="2700" u="none" cap="none" strike="noStrike">
                          <a:solidFill>
                            <a:srgbClr val="3A3A3A"/>
                          </a:solidFill>
                          <a:latin typeface="Calibri"/>
                          <a:ea typeface="Calibri"/>
                          <a:cs typeface="Calibri"/>
                          <a:sym typeface="Calibri"/>
                        </a:rPr>
                        <a:t>topic </a:t>
                      </a:r>
                      <a:r>
                        <a:rPr lang="en-US" sz="2700" u="none" cap="none" strike="noStrike">
                          <a:solidFill>
                            <a:srgbClr val="383838"/>
                          </a:solidFill>
                          <a:latin typeface="Calibri"/>
                          <a:ea typeface="Calibri"/>
                          <a:cs typeface="Calibri"/>
                          <a:sym typeface="Calibri"/>
                        </a:rPr>
                        <a:t>Kafka de </a:t>
                      </a:r>
                      <a:r>
                        <a:rPr lang="en-US" sz="2700" u="none" cap="none" strike="noStrike">
                          <a:solidFill>
                            <a:srgbClr val="343434"/>
                          </a:solidFill>
                          <a:latin typeface="Calibri"/>
                          <a:ea typeface="Calibri"/>
                          <a:cs typeface="Calibri"/>
                          <a:sym typeface="Calibri"/>
                        </a:rPr>
                        <a:t>manière </a:t>
                      </a:r>
                      <a:r>
                        <a:rPr lang="en-US" sz="2700" u="none" cap="none" strike="noStrike">
                          <a:solidFill>
                            <a:srgbClr val="333333"/>
                          </a:solidFill>
                          <a:latin typeface="Calibri"/>
                          <a:ea typeface="Calibri"/>
                          <a:cs typeface="Calibri"/>
                          <a:sym typeface="Calibri"/>
                        </a:rPr>
                        <a:t>fiable.</a:t>
                      </a:r>
                      <a:endParaRPr sz="2700" u="none" cap="none" strike="noStrike">
                        <a:latin typeface="Calibri"/>
                        <a:ea typeface="Calibri"/>
                        <a:cs typeface="Calibri"/>
                        <a:sym typeface="Calibri"/>
                      </a:endParaRPr>
                    </a:p>
                  </a:txBody>
                  <a:tcPr marT="0" marB="0" marR="0" marL="0"/>
                </a:tc>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tc>
                <a:tc>
                  <a:txBody>
                    <a:bodyPr/>
                    <a:lstStyle/>
                    <a:p>
                      <a:pPr indent="0" lvl="0" marL="0" marR="24130" rtl="0" algn="r">
                        <a:lnSpc>
                          <a:spcPct val="95185"/>
                        </a:lnSpc>
                        <a:spcBef>
                          <a:spcPts val="0"/>
                        </a:spcBef>
                        <a:spcAft>
                          <a:spcPts val="0"/>
                        </a:spcAft>
                        <a:buNone/>
                      </a:pPr>
                      <a:r>
                        <a:rPr lang="en-US" sz="2700" u="none" cap="none" strike="noStrike">
                          <a:solidFill>
                            <a:srgbClr val="0582CA"/>
                          </a:solidFill>
                          <a:latin typeface="Calibri"/>
                          <a:ea typeface="Calibri"/>
                          <a:cs typeface="Calibri"/>
                          <a:sym typeface="Calibri"/>
                        </a:rPr>
                        <a:t>;</a:t>
                      </a:r>
                      <a:endParaRPr sz="2700" u="none" cap="none" strike="noStrike">
                        <a:latin typeface="Calibri"/>
                        <a:ea typeface="Calibri"/>
                        <a:cs typeface="Calibri"/>
                        <a:sym typeface="Calibri"/>
                      </a:endParaRPr>
                    </a:p>
                  </a:txBody>
                  <a:tcPr marT="0" marB="0" marR="0" marL="0"/>
                </a:tc>
              </a:tr>
              <a:tr h="1318900">
                <a:tc>
                  <a:txBody>
                    <a:bodyPr/>
                    <a:lstStyle/>
                    <a:p>
                      <a:pPr indent="10160" lvl="0" marL="31750" marR="1458595" rtl="0" algn="l">
                        <a:lnSpc>
                          <a:spcPct val="122100"/>
                        </a:lnSpc>
                        <a:spcBef>
                          <a:spcPts val="0"/>
                        </a:spcBef>
                        <a:spcAft>
                          <a:spcPts val="0"/>
                        </a:spcAft>
                        <a:buNone/>
                      </a:pPr>
                      <a:r>
                        <a:rPr lang="en-US" sz="2700" u="none" cap="none" strike="noStrike">
                          <a:solidFill>
                            <a:srgbClr val="3F3F3F"/>
                          </a:solidFill>
                          <a:latin typeface="Calibri"/>
                          <a:ea typeface="Calibri"/>
                          <a:cs typeface="Calibri"/>
                          <a:sym typeface="Calibri"/>
                        </a:rPr>
                        <a:t>Horodatage mëtier: </a:t>
                      </a:r>
                      <a:r>
                        <a:rPr lang="en-US" sz="2700" u="none" cap="none" strike="noStrike">
                          <a:solidFill>
                            <a:srgbClr val="313131"/>
                          </a:solidFill>
                          <a:latin typeface="Calibri"/>
                          <a:ea typeface="Calibri"/>
                          <a:cs typeface="Calibri"/>
                          <a:sym typeface="Calibri"/>
                        </a:rPr>
                        <a:t>Ajout </a:t>
                      </a:r>
                      <a:r>
                        <a:rPr lang="en-US" sz="2700" u="none" cap="none" strike="noStrike">
                          <a:solidFill>
                            <a:srgbClr val="363636"/>
                          </a:solidFill>
                          <a:latin typeface="Calibri"/>
                          <a:ea typeface="Calibri"/>
                          <a:cs typeface="Calibri"/>
                          <a:sym typeface="Calibri"/>
                        </a:rPr>
                        <a:t>automatique </a:t>
                      </a:r>
                      <a:r>
                        <a:rPr lang="en-US" sz="2700" u="none" cap="none" strike="noStrike">
                          <a:solidFill>
                            <a:srgbClr val="3B3B3B"/>
                          </a:solidFill>
                          <a:latin typeface="Calibri"/>
                          <a:ea typeface="Calibri"/>
                          <a:cs typeface="Calibri"/>
                          <a:sym typeface="Calibri"/>
                        </a:rPr>
                        <a:t>d'un </a:t>
                      </a:r>
                      <a:r>
                        <a:rPr lang="en-US" sz="2700" u="none" cap="none" strike="noStrike">
                          <a:solidFill>
                            <a:srgbClr val="363636"/>
                          </a:solidFill>
                          <a:latin typeface="Calibri"/>
                          <a:ea typeface="Calibri"/>
                          <a:cs typeface="Calibri"/>
                          <a:sym typeface="Calibri"/>
                        </a:rPr>
                        <a:t>champ </a:t>
                      </a:r>
                      <a:r>
                        <a:rPr lang="en-US" sz="2700" u="none" cap="none" strike="noStrike">
                          <a:solidFill>
                            <a:srgbClr val="242424"/>
                          </a:solidFill>
                          <a:latin typeface="Calibri"/>
                          <a:ea typeface="Calibri"/>
                          <a:cs typeface="Calibri"/>
                          <a:sym typeface="Calibri"/>
                        </a:rPr>
                        <a:t>'ingested_at' </a:t>
                      </a:r>
                      <a:r>
                        <a:rPr lang="en-US" sz="2700" u="none" cap="none" strike="noStrike">
                          <a:solidFill>
                            <a:srgbClr val="363636"/>
                          </a:solidFill>
                          <a:latin typeface="Calibri"/>
                          <a:ea typeface="Calibri"/>
                          <a:cs typeface="Calibri"/>
                          <a:sym typeface="Calibri"/>
                        </a:rPr>
                        <a:t>pour la </a:t>
                      </a:r>
                      <a:r>
                        <a:rPr lang="en-US" sz="2700" u="none" cap="none" strike="noStrike">
                          <a:solidFill>
                            <a:srgbClr val="2F2F2F"/>
                          </a:solidFill>
                          <a:latin typeface="Calibri"/>
                          <a:ea typeface="Calibri"/>
                          <a:cs typeface="Calibri"/>
                          <a:sym typeface="Calibri"/>
                        </a:rPr>
                        <a:t>traçabilité.</a:t>
                      </a:r>
                      <a:endParaRPr sz="2700" u="none" cap="none" strike="noStrike">
                        <a:latin typeface="Calibri"/>
                        <a:ea typeface="Calibri"/>
                        <a:cs typeface="Calibri"/>
                        <a:sym typeface="Calibri"/>
                      </a:endParaRPr>
                    </a:p>
                  </a:txBody>
                  <a:tcPr marT="60325" marB="0" marR="0" marL="0"/>
                </a:tc>
                <a:tc>
                  <a:txBody>
                    <a:bodyPr/>
                    <a:lstStyle/>
                    <a:p>
                      <a:pPr indent="0" lvl="0" marL="0" marR="0" rtl="0" algn="l">
                        <a:lnSpc>
                          <a:spcPct val="100000"/>
                        </a:lnSpc>
                        <a:spcBef>
                          <a:spcPts val="0"/>
                        </a:spcBef>
                        <a:spcAft>
                          <a:spcPts val="0"/>
                        </a:spcAft>
                        <a:buNone/>
                      </a:pPr>
                      <a:r>
                        <a:t/>
                      </a:r>
                      <a:endParaRPr sz="2700" u="none" cap="none" strike="noStrike">
                        <a:latin typeface="Times New Roman"/>
                        <a:ea typeface="Times New Roman"/>
                        <a:cs typeface="Times New Roman"/>
                        <a:sym typeface="Times New Roman"/>
                      </a:endParaRPr>
                    </a:p>
                    <a:p>
                      <a:pPr indent="0" lvl="0" marL="0" marR="120650" rtl="0" algn="r">
                        <a:lnSpc>
                          <a:spcPct val="100000"/>
                        </a:lnSpc>
                        <a:spcBef>
                          <a:spcPts val="5"/>
                        </a:spcBef>
                        <a:spcAft>
                          <a:spcPts val="0"/>
                        </a:spcAft>
                        <a:buNone/>
                      </a:pPr>
                      <a:r>
                        <a:rPr lang="en-US" sz="2700" u="none" cap="none" strike="noStrike">
                          <a:solidFill>
                            <a:srgbClr val="0082BF"/>
                          </a:solidFill>
                          <a:latin typeface="Calibri"/>
                          <a:ea typeface="Calibri"/>
                          <a:cs typeface="Calibri"/>
                          <a:sym typeface="Calibri"/>
                        </a:rPr>
                        <a:t>,</a:t>
                      </a:r>
                      <a:endParaRPr sz="2700" u="none" cap="none" strike="noStrike">
                        <a:latin typeface="Calibri"/>
                        <a:ea typeface="Calibri"/>
                        <a:cs typeface="Calibri"/>
                        <a:sym typeface="Calibri"/>
                      </a:endParaRPr>
                    </a:p>
                  </a:txBody>
                  <a:tcPr marT="259075" marB="0" marR="0" marL="0"/>
                </a:tc>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tc>
              </a:tr>
              <a:tr h="1821825">
                <a:tc>
                  <a:txBody>
                    <a:bodyPr/>
                    <a:lstStyle/>
                    <a:p>
                      <a:pPr indent="1905" lvl="0" marL="40640" marR="767080" rtl="0" algn="just">
                        <a:lnSpc>
                          <a:spcPct val="122100"/>
                        </a:lnSpc>
                        <a:spcBef>
                          <a:spcPts val="0"/>
                        </a:spcBef>
                        <a:spcAft>
                          <a:spcPts val="0"/>
                        </a:spcAft>
                        <a:buNone/>
                      </a:pPr>
                      <a:r>
                        <a:rPr lang="en-US" sz="2700" u="none" cap="none" strike="noStrike">
                          <a:solidFill>
                            <a:srgbClr val="383838"/>
                          </a:solidFill>
                          <a:latin typeface="Calibri"/>
                          <a:ea typeface="Calibri"/>
                          <a:cs typeface="Calibri"/>
                          <a:sym typeface="Calibri"/>
                        </a:rPr>
                        <a:t>Stockage </a:t>
                      </a:r>
                      <a:r>
                        <a:rPr lang="en-US" sz="2700" u="none" cap="none" strike="noStrike">
                          <a:solidFill>
                            <a:srgbClr val="3B3B3B"/>
                          </a:solidFill>
                          <a:latin typeface="Calibri"/>
                          <a:ea typeface="Calibri"/>
                          <a:cs typeface="Calibri"/>
                          <a:sym typeface="Calibri"/>
                        </a:rPr>
                        <a:t>S3-Compatible: Les </a:t>
                      </a:r>
                      <a:r>
                        <a:rPr lang="en-US" sz="2700" u="none" cap="none" strike="noStrike">
                          <a:solidFill>
                            <a:srgbClr val="363636"/>
                          </a:solidFill>
                          <a:latin typeface="Calibri"/>
                          <a:ea typeface="Calibri"/>
                          <a:cs typeface="Calibri"/>
                          <a:sym typeface="Calibri"/>
                        </a:rPr>
                        <a:t>données sont déposées </a:t>
                      </a:r>
                      <a:r>
                        <a:rPr lang="en-US" sz="2700" u="none" cap="none" strike="noStrike">
                          <a:solidFill>
                            <a:srgbClr val="3F3F3F"/>
                          </a:solidFill>
                          <a:latin typeface="Calibri"/>
                          <a:ea typeface="Calibri"/>
                          <a:cs typeface="Calibri"/>
                          <a:sym typeface="Calibri"/>
                        </a:rPr>
                        <a:t>au </a:t>
                      </a:r>
                      <a:r>
                        <a:rPr lang="en-US" sz="2700" u="none" cap="none" strike="noStrike">
                          <a:solidFill>
                            <a:srgbClr val="3D3D3D"/>
                          </a:solidFill>
                          <a:latin typeface="Calibri"/>
                          <a:ea typeface="Calibri"/>
                          <a:cs typeface="Calibri"/>
                          <a:sym typeface="Calibri"/>
                        </a:rPr>
                        <a:t>format </a:t>
                      </a:r>
                      <a:r>
                        <a:rPr lang="en-US" sz="2700" u="none" cap="none" strike="noStrike">
                          <a:solidFill>
                            <a:srgbClr val="3B3B3B"/>
                          </a:solidFill>
                          <a:latin typeface="Calibri"/>
                          <a:ea typeface="Calibri"/>
                          <a:cs typeface="Calibri"/>
                          <a:sym typeface="Calibri"/>
                        </a:rPr>
                        <a:t>JSON </a:t>
                      </a:r>
                      <a:r>
                        <a:rPr lang="en-US" sz="2700" u="none" cap="none" strike="noStrike">
                          <a:solidFill>
                            <a:srgbClr val="363636"/>
                          </a:solidFill>
                          <a:latin typeface="Calibri"/>
                          <a:ea typeface="Calibri"/>
                          <a:cs typeface="Calibri"/>
                          <a:sym typeface="Calibri"/>
                        </a:rPr>
                        <a:t>brut </a:t>
                      </a:r>
                      <a:r>
                        <a:rPr lang="en-US" sz="2700" u="none" cap="none" strike="noStrike">
                          <a:solidFill>
                            <a:srgbClr val="3D3D3D"/>
                          </a:solidFill>
                          <a:latin typeface="Calibri"/>
                          <a:ea typeface="Calibri"/>
                          <a:cs typeface="Calibri"/>
                          <a:sym typeface="Calibri"/>
                        </a:rPr>
                        <a:t>dans </a:t>
                      </a:r>
                      <a:r>
                        <a:rPr lang="en-US" sz="2700" u="none" cap="none" strike="noStrike">
                          <a:solidFill>
                            <a:srgbClr val="383838"/>
                          </a:solidFill>
                          <a:latin typeface="Calibri"/>
                          <a:ea typeface="Calibri"/>
                          <a:cs typeface="Calibri"/>
                          <a:sym typeface="Calibri"/>
                        </a:rPr>
                        <a:t>un </a:t>
                      </a:r>
                      <a:r>
                        <a:rPr lang="en-US" sz="2700" u="none" cap="none" strike="noStrike">
                          <a:solidFill>
                            <a:srgbClr val="343434"/>
                          </a:solidFill>
                          <a:latin typeface="Calibri"/>
                          <a:ea typeface="Calibri"/>
                          <a:cs typeface="Calibri"/>
                          <a:sym typeface="Calibri"/>
                        </a:rPr>
                        <a:t>bucket </a:t>
                      </a:r>
                      <a:r>
                        <a:rPr lang="en-US" sz="2700" u="none" cap="none" strike="noStrike">
                          <a:solidFill>
                            <a:srgbClr val="2F2F2F"/>
                          </a:solidFill>
                          <a:latin typeface="Calibri"/>
                          <a:ea typeface="Calibri"/>
                          <a:cs typeface="Calibri"/>
                          <a:sym typeface="Calibri"/>
                        </a:rPr>
                        <a:t>sécurisé </a:t>
                      </a:r>
                      <a:r>
                        <a:rPr lang="en-US" sz="2700" u="none" cap="none" strike="noStrike">
                          <a:solidFill>
                            <a:srgbClr val="383838"/>
                          </a:solidFill>
                          <a:latin typeface="Calibri"/>
                          <a:ea typeface="Calibri"/>
                          <a:cs typeface="Calibri"/>
                          <a:sym typeface="Calibri"/>
                        </a:rPr>
                        <a:t>MinIO ('news-</a:t>
                      </a:r>
                      <a:r>
                        <a:rPr lang="en-US" sz="2700" u="none" cap="none" strike="noStrike">
                          <a:solidFill>
                            <a:srgbClr val="1F1F1F"/>
                          </a:solidFill>
                          <a:latin typeface="Calibri"/>
                          <a:ea typeface="Calibri"/>
                          <a:cs typeface="Calibri"/>
                          <a:sym typeface="Calibri"/>
                        </a:rPr>
                        <a:t>bronze”).</a:t>
                      </a:r>
                      <a:endParaRPr sz="2700" u="none" cap="none" strike="noStrike">
                        <a:latin typeface="Calibri"/>
                        <a:ea typeface="Calibri"/>
                        <a:cs typeface="Calibri"/>
                        <a:sym typeface="Calibri"/>
                      </a:endParaRPr>
                    </a:p>
                  </a:txBody>
                  <a:tcPr marT="60325" marB="0" marR="0" marL="0"/>
                </a:tc>
                <a:tc>
                  <a:txBody>
                    <a:bodyPr/>
                    <a:lstStyle/>
                    <a:p>
                      <a:pPr indent="0" lvl="0" marL="0" marR="0" rtl="0" algn="l">
                        <a:lnSpc>
                          <a:spcPct val="100000"/>
                        </a:lnSpc>
                        <a:spcBef>
                          <a:spcPts val="0"/>
                        </a:spcBef>
                        <a:spcAft>
                          <a:spcPts val="0"/>
                        </a:spcAft>
                        <a:buNone/>
                      </a:pPr>
                      <a:r>
                        <a:t/>
                      </a:r>
                      <a:endParaRPr sz="2700" u="none" cap="none" strike="noStrike">
                        <a:latin typeface="Times New Roman"/>
                        <a:ea typeface="Times New Roman"/>
                        <a:cs typeface="Times New Roman"/>
                        <a:sym typeface="Times New Roman"/>
                      </a:endParaRPr>
                    </a:p>
                    <a:p>
                      <a:pPr indent="0" lvl="0" marL="0" marR="0" rtl="0" algn="l">
                        <a:lnSpc>
                          <a:spcPct val="100000"/>
                        </a:lnSpc>
                        <a:spcBef>
                          <a:spcPts val="2895"/>
                        </a:spcBef>
                        <a:spcAft>
                          <a:spcPts val="0"/>
                        </a:spcAft>
                        <a:buNone/>
                      </a:pPr>
                      <a:r>
                        <a:t/>
                      </a:r>
                      <a:endParaRPr sz="2700" u="none" cap="none" strike="noStrike">
                        <a:latin typeface="Times New Roman"/>
                        <a:ea typeface="Times New Roman"/>
                        <a:cs typeface="Times New Roman"/>
                        <a:sym typeface="Times New Roman"/>
                      </a:endParaRPr>
                    </a:p>
                    <a:p>
                      <a:pPr indent="0" lvl="0" marL="0" marR="120650" rtl="0" algn="r">
                        <a:lnSpc>
                          <a:spcPct val="100000"/>
                        </a:lnSpc>
                        <a:spcBef>
                          <a:spcPts val="0"/>
                        </a:spcBef>
                        <a:spcAft>
                          <a:spcPts val="0"/>
                        </a:spcAft>
                        <a:buNone/>
                      </a:pPr>
                      <a:r>
                        <a:rPr lang="en-US" sz="2700" u="none" cap="none" strike="noStrike">
                          <a:solidFill>
                            <a:srgbClr val="0A7CBF"/>
                          </a:solidFill>
                          <a:latin typeface="Calibri"/>
                          <a:ea typeface="Calibri"/>
                          <a:cs typeface="Calibri"/>
                          <a:sym typeface="Calibri"/>
                        </a:rPr>
                        <a:t>,</a:t>
                      </a:r>
                      <a:endParaRPr sz="2700" u="none" cap="none" strike="noStrike">
                        <a:latin typeface="Calibri"/>
                        <a:ea typeface="Calibri"/>
                        <a:cs typeface="Calibri"/>
                        <a:sym typeface="Calibri"/>
                      </a:endParaRPr>
                    </a:p>
                  </a:txBody>
                  <a:tcPr marT="0" marB="0" marR="0" marL="0"/>
                </a:tc>
                <a:tc>
                  <a:txBody>
                    <a:bodyPr/>
                    <a:lstStyle/>
                    <a:p>
                      <a:pPr indent="0" lvl="0" marL="0" marR="24765" rtl="0" algn="r">
                        <a:lnSpc>
                          <a:spcPct val="100000"/>
                        </a:lnSpc>
                        <a:spcBef>
                          <a:spcPts val="0"/>
                        </a:spcBef>
                        <a:spcAft>
                          <a:spcPts val="0"/>
                        </a:spcAft>
                        <a:buNone/>
                      </a:pPr>
                      <a:r>
                        <a:rPr lang="en-US" sz="2700" u="none" cap="none" strike="noStrike">
                          <a:solidFill>
                            <a:srgbClr val="0382CF"/>
                          </a:solidFill>
                          <a:latin typeface="Calibri"/>
                          <a:ea typeface="Calibri"/>
                          <a:cs typeface="Calibri"/>
                          <a:sym typeface="Calibri"/>
                        </a:rPr>
                        <a:t>,</a:t>
                      </a:r>
                      <a:endParaRPr sz="2700" u="none" cap="none" strike="noStrike">
                        <a:latin typeface="Calibri"/>
                        <a:ea typeface="Calibri"/>
                        <a:cs typeface="Calibri"/>
                        <a:sym typeface="Calibri"/>
                      </a:endParaRPr>
                    </a:p>
                  </a:txBody>
                  <a:tcPr marT="151125" marB="0" marR="0" marL="0"/>
                </a:tc>
              </a:tr>
              <a:tr h="1082675">
                <a:tc>
                  <a:txBody>
                    <a:bodyPr/>
                    <a:lstStyle/>
                    <a:p>
                      <a:pPr indent="-5715" lvl="0" marL="46990" marR="765810" rtl="0" algn="l">
                        <a:lnSpc>
                          <a:spcPct val="122100"/>
                        </a:lnSpc>
                        <a:spcBef>
                          <a:spcPts val="0"/>
                        </a:spcBef>
                        <a:spcAft>
                          <a:spcPts val="0"/>
                        </a:spcAft>
                        <a:buNone/>
                      </a:pPr>
                      <a:r>
                        <a:rPr lang="en-US" sz="2700" u="none" cap="none" strike="noStrike">
                          <a:solidFill>
                            <a:srgbClr val="3B3B3B"/>
                          </a:solidFill>
                          <a:latin typeface="Calibri"/>
                          <a:ea typeface="Calibri"/>
                          <a:cs typeface="Calibri"/>
                          <a:sym typeface="Calibri"/>
                        </a:rPr>
                        <a:t>Immutabilité : </a:t>
                      </a:r>
                      <a:r>
                        <a:rPr lang="en-US" sz="2700" u="none" cap="none" strike="noStrike">
                          <a:solidFill>
                            <a:srgbClr val="2F2F2F"/>
                          </a:solidFill>
                          <a:latin typeface="Calibri"/>
                          <a:ea typeface="Calibri"/>
                          <a:cs typeface="Calibri"/>
                          <a:sym typeface="Calibri"/>
                        </a:rPr>
                        <a:t>Ces </a:t>
                      </a:r>
                      <a:r>
                        <a:rPr lang="en-US" sz="2700" u="none" cap="none" strike="noStrike">
                          <a:solidFill>
                            <a:srgbClr val="313131"/>
                          </a:solidFill>
                          <a:latin typeface="Calibri"/>
                          <a:ea typeface="Calibri"/>
                          <a:cs typeface="Calibri"/>
                          <a:sym typeface="Calibri"/>
                        </a:rPr>
                        <a:t>fichiers </a:t>
                      </a:r>
                      <a:r>
                        <a:rPr lang="en-US" sz="2700" u="none" cap="none" strike="noStrike">
                          <a:solidFill>
                            <a:srgbClr val="363636"/>
                          </a:solidFill>
                          <a:latin typeface="Calibri"/>
                          <a:ea typeface="Calibri"/>
                          <a:cs typeface="Calibri"/>
                          <a:sym typeface="Calibri"/>
                        </a:rPr>
                        <a:t>constituent </a:t>
                      </a:r>
                      <a:r>
                        <a:rPr lang="en-US" sz="2700" u="none" cap="none" strike="noStrike">
                          <a:solidFill>
                            <a:srgbClr val="3B3B3B"/>
                          </a:solidFill>
                          <a:latin typeface="Calibri"/>
                          <a:ea typeface="Calibri"/>
                          <a:cs typeface="Calibri"/>
                          <a:sym typeface="Calibri"/>
                        </a:rPr>
                        <a:t>la </a:t>
                      </a:r>
                      <a:r>
                        <a:rPr lang="en-US" sz="2700" u="none" cap="none" strike="noStrike">
                          <a:solidFill>
                            <a:srgbClr val="383838"/>
                          </a:solidFill>
                          <a:latin typeface="Calibri"/>
                          <a:ea typeface="Calibri"/>
                          <a:cs typeface="Calibri"/>
                          <a:sym typeface="Calibri"/>
                        </a:rPr>
                        <a:t>source de </a:t>
                      </a:r>
                      <a:r>
                        <a:rPr lang="en-US" sz="2700" u="none" cap="none" strike="noStrike">
                          <a:solidFill>
                            <a:srgbClr val="3B3B3B"/>
                          </a:solidFill>
                          <a:latin typeface="Calibri"/>
                          <a:ea typeface="Calibri"/>
                          <a:cs typeface="Calibri"/>
                          <a:sym typeface="Calibri"/>
                        </a:rPr>
                        <a:t>vérité </a:t>
                      </a:r>
                      <a:r>
                        <a:rPr lang="en-US" sz="2700" u="none" cap="none" strike="noStrike">
                          <a:solidFill>
                            <a:srgbClr val="363636"/>
                          </a:solidFill>
                          <a:latin typeface="Calibri"/>
                          <a:ea typeface="Calibri"/>
                          <a:cs typeface="Calibri"/>
                          <a:sym typeface="Calibri"/>
                        </a:rPr>
                        <a:t>absolue </a:t>
                      </a:r>
                      <a:r>
                        <a:rPr lang="en-US" sz="2700" u="none" cap="none" strike="noStrike">
                          <a:solidFill>
                            <a:srgbClr val="3B3B3B"/>
                          </a:solidFill>
                          <a:latin typeface="Calibri"/>
                          <a:ea typeface="Calibri"/>
                          <a:cs typeface="Calibri"/>
                          <a:sym typeface="Calibri"/>
                        </a:rPr>
                        <a:t>et ne </a:t>
                      </a:r>
                      <a:r>
                        <a:rPr lang="en-US" sz="2700" u="none" cap="none" strike="noStrike">
                          <a:solidFill>
                            <a:srgbClr val="343434"/>
                          </a:solidFill>
                          <a:latin typeface="Calibri"/>
                          <a:ea typeface="Calibri"/>
                          <a:cs typeface="Calibri"/>
                          <a:sym typeface="Calibri"/>
                        </a:rPr>
                        <a:t>sont </a:t>
                      </a:r>
                      <a:r>
                        <a:rPr lang="en-US" sz="2700" u="none" cap="none" strike="noStrike">
                          <a:solidFill>
                            <a:srgbClr val="313131"/>
                          </a:solidFill>
                          <a:latin typeface="Calibri"/>
                          <a:ea typeface="Calibri"/>
                          <a:cs typeface="Calibri"/>
                          <a:sym typeface="Calibri"/>
                        </a:rPr>
                        <a:t>jamais </a:t>
                      </a:r>
                      <a:r>
                        <a:rPr lang="en-US" sz="2700" u="none" cap="none" strike="noStrike">
                          <a:solidFill>
                            <a:srgbClr val="2F2F2F"/>
                          </a:solidFill>
                          <a:latin typeface="Calibri"/>
                          <a:ea typeface="Calibri"/>
                          <a:cs typeface="Calibri"/>
                          <a:sym typeface="Calibri"/>
                        </a:rPr>
                        <a:t>altérés.</a:t>
                      </a:r>
                      <a:endParaRPr sz="2700" u="none" cap="none" strike="noStrike">
                        <a:latin typeface="Calibri"/>
                        <a:ea typeface="Calibri"/>
                        <a:cs typeface="Calibri"/>
                        <a:sym typeface="Calibri"/>
                      </a:endParaRPr>
                    </a:p>
                  </a:txBody>
                  <a:tcPr marT="60325" marB="0" marR="0" marL="0"/>
                </a:tc>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tc>
              </a:tr>
            </a:tbl>
          </a:graphicData>
        </a:graphic>
      </p:graphicFrame>
      <p:sp>
        <p:nvSpPr>
          <p:cNvPr id="251" name="Google Shape;251;p13"/>
          <p:cNvSpPr txBox="1"/>
          <p:nvPr/>
        </p:nvSpPr>
        <p:spPr>
          <a:xfrm>
            <a:off x="19095839" y="6862744"/>
            <a:ext cx="97790" cy="677545"/>
          </a:xfrm>
          <a:prstGeom prst="rect">
            <a:avLst/>
          </a:prstGeom>
          <a:noFill/>
          <a:ln>
            <a:noFill/>
          </a:ln>
        </p:spPr>
        <p:txBody>
          <a:bodyPr anchorCtr="0" anchor="t" bIns="0" lIns="0" spcFirstLastPara="1" rIns="0" wrap="square" tIns="14600">
            <a:spAutoFit/>
          </a:bodyPr>
          <a:lstStyle/>
          <a:p>
            <a:pPr indent="0" lvl="0" marL="12700" rtl="0" algn="l">
              <a:lnSpc>
                <a:spcPct val="111086"/>
              </a:lnSpc>
              <a:spcBef>
                <a:spcPts val="0"/>
              </a:spcBef>
              <a:spcAft>
                <a:spcPts val="0"/>
              </a:spcAft>
              <a:buNone/>
            </a:pPr>
            <a:r>
              <a:rPr lang="en-US" sz="2300">
                <a:solidFill>
                  <a:srgbClr val="0087DD"/>
                </a:solidFill>
                <a:latin typeface="Calibri"/>
                <a:ea typeface="Calibri"/>
                <a:cs typeface="Calibri"/>
                <a:sym typeface="Calibri"/>
              </a:rPr>
              <a:t>,</a:t>
            </a:r>
            <a:endParaRPr sz="2300">
              <a:latin typeface="Calibri"/>
              <a:ea typeface="Calibri"/>
              <a:cs typeface="Calibri"/>
              <a:sym typeface="Calibri"/>
            </a:endParaRPr>
          </a:p>
          <a:p>
            <a:pPr indent="0" lvl="0" marL="12700" rtl="0" algn="l">
              <a:lnSpc>
                <a:spcPct val="111086"/>
              </a:lnSpc>
              <a:spcBef>
                <a:spcPts val="0"/>
              </a:spcBef>
              <a:spcAft>
                <a:spcPts val="0"/>
              </a:spcAft>
              <a:buNone/>
            </a:pPr>
            <a:r>
              <a:rPr lang="en-US" sz="2300">
                <a:solidFill>
                  <a:srgbClr val="077CD4"/>
                </a:solidFill>
                <a:latin typeface="Calibri"/>
                <a:ea typeface="Calibri"/>
                <a:cs typeface="Calibri"/>
                <a:sym typeface="Calibri"/>
              </a:rPr>
              <a:t>,</a:t>
            </a:r>
            <a:endParaRPr sz="2300">
              <a:latin typeface="Calibri"/>
              <a:ea typeface="Calibri"/>
              <a:cs typeface="Calibri"/>
              <a:sym typeface="Calibri"/>
            </a:endParaRPr>
          </a:p>
        </p:txBody>
      </p:sp>
      <p:pic>
        <p:nvPicPr>
          <p:cNvPr id="252" name="Google Shape;252;p13"/>
          <p:cNvPicPr preferRelativeResize="0"/>
          <p:nvPr/>
        </p:nvPicPr>
        <p:blipFill>
          <a:blip r:embed="rId3">
            <a:alphaModFix/>
          </a:blip>
          <a:stretch>
            <a:fillRect/>
          </a:stretch>
        </p:blipFill>
        <p:spPr>
          <a:xfrm>
            <a:off x="10046750" y="4650550"/>
            <a:ext cx="9835327" cy="5479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6" name="Shape 256"/>
        <p:cNvGrpSpPr/>
        <p:nvPr/>
      </p:nvGrpSpPr>
      <p:grpSpPr>
        <a:xfrm>
          <a:off x="0" y="0"/>
          <a:ext cx="0" cy="0"/>
          <a:chOff x="0" y="0"/>
          <a:chExt cx="0" cy="0"/>
        </a:xfrm>
      </p:grpSpPr>
      <p:sp>
        <p:nvSpPr>
          <p:cNvPr descr="$PPTXTitle" id="257" name="Google Shape;257;p14"/>
          <p:cNvSpPr txBox="1"/>
          <p:nvPr>
            <p:ph type="title"/>
          </p:nvPr>
        </p:nvSpPr>
        <p:spPr>
          <a:xfrm>
            <a:off x="913592" y="318441"/>
            <a:ext cx="15012418" cy="1494433"/>
          </a:xfrm>
          <a:prstGeom prst="rect">
            <a:avLst/>
          </a:prstGeom>
          <a:noFill/>
          <a:ln>
            <a:noFill/>
          </a:ln>
        </p:spPr>
        <p:txBody>
          <a:bodyPr anchorCtr="0" anchor="t" bIns="0" lIns="0" spcFirstLastPara="1" rIns="0" wrap="square" tIns="15875">
            <a:spAutoFit/>
          </a:bodyPr>
          <a:lstStyle/>
          <a:p>
            <a:pPr indent="0" lvl="0" marL="22860" rtl="0" algn="l">
              <a:lnSpc>
                <a:spcPct val="100000"/>
              </a:lnSpc>
              <a:spcBef>
                <a:spcPts val="0"/>
              </a:spcBef>
              <a:spcAft>
                <a:spcPts val="0"/>
              </a:spcAft>
              <a:buNone/>
            </a:pPr>
            <a:r>
              <a:rPr b="1" lang="en-US">
                <a:solidFill>
                  <a:srgbClr val="0069A1"/>
                </a:solidFill>
                <a:latin typeface="Calibri"/>
                <a:ea typeface="Calibri"/>
                <a:cs typeface="Calibri"/>
                <a:sym typeface="Calibri"/>
              </a:rPr>
              <a:t>Couche </a:t>
            </a:r>
            <a:r>
              <a:rPr b="1" lang="en-US">
                <a:latin typeface="Calibri"/>
                <a:ea typeface="Calibri"/>
                <a:cs typeface="Calibri"/>
                <a:sym typeface="Calibri"/>
              </a:rPr>
              <a:t>Silver: </a:t>
            </a:r>
            <a:r>
              <a:rPr b="1" lang="en-US">
                <a:solidFill>
                  <a:srgbClr val="0169A3"/>
                </a:solidFill>
                <a:latin typeface="Calibri"/>
                <a:ea typeface="Calibri"/>
                <a:cs typeface="Calibri"/>
                <a:sym typeface="Calibri"/>
              </a:rPr>
              <a:t>Nettoyage </a:t>
            </a:r>
            <a:r>
              <a:rPr b="1" lang="en-US">
                <a:solidFill>
                  <a:srgbClr val="0C669A"/>
                </a:solidFill>
                <a:latin typeface="Calibri"/>
                <a:ea typeface="Calibri"/>
                <a:cs typeface="Calibri"/>
                <a:sym typeface="Calibri"/>
              </a:rPr>
              <a:t>&amp; </a:t>
            </a:r>
            <a:r>
              <a:rPr b="1" lang="en-US">
                <a:solidFill>
                  <a:srgbClr val="0567A8"/>
                </a:solidFill>
                <a:latin typeface="Calibri"/>
                <a:ea typeface="Calibri"/>
                <a:cs typeface="Calibri"/>
                <a:sym typeface="Calibri"/>
              </a:rPr>
              <a:t>Qualité</a:t>
            </a:r>
            <a:endParaRPr/>
          </a:p>
        </p:txBody>
      </p:sp>
      <p:sp>
        <p:nvSpPr>
          <p:cNvPr id="258" name="Google Shape;258;p14"/>
          <p:cNvSpPr txBox="1"/>
          <p:nvPr/>
        </p:nvSpPr>
        <p:spPr>
          <a:xfrm>
            <a:off x="1582675" y="2720200"/>
            <a:ext cx="7350125" cy="7188834"/>
          </a:xfrm>
          <a:prstGeom prst="rect">
            <a:avLst/>
          </a:prstGeom>
          <a:noFill/>
          <a:ln>
            <a:noFill/>
          </a:ln>
        </p:spPr>
        <p:txBody>
          <a:bodyPr anchorCtr="0" anchor="t" bIns="0" lIns="0" spcFirstLastPara="1" rIns="0" wrap="square" tIns="12050">
            <a:spAutoFit/>
          </a:bodyPr>
          <a:lstStyle/>
          <a:p>
            <a:pPr indent="-12065" lvl="0" marL="43180" marR="2087880" rtl="0" algn="l">
              <a:lnSpc>
                <a:spcPct val="107500"/>
              </a:lnSpc>
              <a:spcBef>
                <a:spcPts val="0"/>
              </a:spcBef>
              <a:spcAft>
                <a:spcPts val="0"/>
              </a:spcAft>
              <a:buNone/>
            </a:pPr>
            <a:r>
              <a:rPr b="1" lang="en-US" sz="4600">
                <a:solidFill>
                  <a:srgbClr val="088AD6"/>
                </a:solidFill>
                <a:latin typeface="Calibri"/>
                <a:ea typeface="Calibri"/>
                <a:cs typeface="Calibri"/>
                <a:sym typeface="Calibri"/>
              </a:rPr>
              <a:t>Tronsformotion </a:t>
            </a:r>
            <a:r>
              <a:rPr b="1" lang="en-US" sz="4600">
                <a:solidFill>
                  <a:srgbClr val="007CB6"/>
                </a:solidFill>
                <a:latin typeface="Calibri"/>
                <a:ea typeface="Calibri"/>
                <a:cs typeface="Calibri"/>
                <a:sym typeface="Calibri"/>
              </a:rPr>
              <a:t>(”silver_cleoner.py”)</a:t>
            </a:r>
            <a:endParaRPr sz="4600">
              <a:latin typeface="Calibri"/>
              <a:ea typeface="Calibri"/>
              <a:cs typeface="Calibri"/>
              <a:sym typeface="Calibri"/>
            </a:endParaRPr>
          </a:p>
          <a:p>
            <a:pPr indent="0" lvl="0" marL="12700" marR="55244" rtl="0" algn="l">
              <a:lnSpc>
                <a:spcPct val="117800"/>
              </a:lnSpc>
              <a:spcBef>
                <a:spcPts val="2110"/>
              </a:spcBef>
              <a:spcAft>
                <a:spcPts val="0"/>
              </a:spcAft>
              <a:buNone/>
            </a:pPr>
            <a:r>
              <a:rPr lang="en-US" sz="2800">
                <a:solidFill>
                  <a:srgbClr val="3B3B3B"/>
                </a:solidFill>
                <a:latin typeface="Calibri"/>
                <a:ea typeface="Calibri"/>
                <a:cs typeface="Calibri"/>
                <a:sym typeface="Calibri"/>
              </a:rPr>
              <a:t>Le </a:t>
            </a:r>
            <a:r>
              <a:rPr lang="en-US" sz="2800">
                <a:solidFill>
                  <a:srgbClr val="2F2F2F"/>
                </a:solidFill>
                <a:latin typeface="Calibri"/>
                <a:ea typeface="Calibri"/>
                <a:cs typeface="Calibri"/>
                <a:sym typeface="Calibri"/>
              </a:rPr>
              <a:t>contenu </a:t>
            </a:r>
            <a:r>
              <a:rPr lang="en-US" sz="2800">
                <a:solidFill>
                  <a:srgbClr val="333333"/>
                </a:solidFill>
                <a:latin typeface="Calibri"/>
                <a:ea typeface="Calibri"/>
                <a:cs typeface="Calibri"/>
                <a:sym typeface="Calibri"/>
              </a:rPr>
              <a:t>brut </a:t>
            </a:r>
            <a:r>
              <a:rPr lang="en-US" sz="2800">
                <a:solidFill>
                  <a:srgbClr val="343434"/>
                </a:solidFill>
                <a:latin typeface="Calibri"/>
                <a:ea typeface="Calibri"/>
                <a:cs typeface="Calibri"/>
                <a:sym typeface="Calibri"/>
              </a:rPr>
              <a:t>est </a:t>
            </a:r>
            <a:r>
              <a:rPr lang="en-US" sz="2800">
                <a:solidFill>
                  <a:srgbClr val="333333"/>
                </a:solidFill>
                <a:latin typeface="Calibri"/>
                <a:ea typeface="Calibri"/>
                <a:cs typeface="Calibri"/>
                <a:sym typeface="Calibri"/>
              </a:rPr>
              <a:t>souvent </a:t>
            </a:r>
            <a:r>
              <a:rPr lang="en-US" sz="2800">
                <a:solidFill>
                  <a:srgbClr val="313131"/>
                </a:solidFill>
                <a:latin typeface="Calibri"/>
                <a:ea typeface="Calibri"/>
                <a:cs typeface="Calibri"/>
                <a:sym typeface="Calibri"/>
              </a:rPr>
              <a:t>inexploitable </a:t>
            </a:r>
            <a:r>
              <a:rPr lang="en-US" sz="2800">
                <a:solidFill>
                  <a:srgbClr val="2A2A2A"/>
                </a:solidFill>
                <a:latin typeface="Calibri"/>
                <a:ea typeface="Calibri"/>
                <a:cs typeface="Calibri"/>
                <a:sym typeface="Calibri"/>
              </a:rPr>
              <a:t>directement. </a:t>
            </a:r>
            <a:r>
              <a:rPr lang="en-US" sz="2800">
                <a:solidFill>
                  <a:srgbClr val="3B3B3B"/>
                </a:solidFill>
                <a:latin typeface="Calibri"/>
                <a:ea typeface="Calibri"/>
                <a:cs typeface="Calibri"/>
                <a:sym typeface="Calibri"/>
              </a:rPr>
              <a:t>Les </a:t>
            </a:r>
            <a:r>
              <a:rPr lang="en-US" sz="2800">
                <a:solidFill>
                  <a:srgbClr val="2B2B2B"/>
                </a:solidFill>
                <a:latin typeface="Calibri"/>
                <a:ea typeface="Calibri"/>
                <a:cs typeface="Calibri"/>
                <a:sym typeface="Calibri"/>
              </a:rPr>
              <a:t>traitements </a:t>
            </a:r>
            <a:r>
              <a:rPr lang="en-US" sz="2800">
                <a:solidFill>
                  <a:srgbClr val="343434"/>
                </a:solidFill>
                <a:latin typeface="Calibri"/>
                <a:ea typeface="Calibri"/>
                <a:cs typeface="Calibri"/>
                <a:sym typeface="Calibri"/>
              </a:rPr>
              <a:t>incluent:</a:t>
            </a:r>
            <a:endParaRPr sz="2800">
              <a:latin typeface="Calibri"/>
              <a:ea typeface="Calibri"/>
              <a:cs typeface="Calibri"/>
              <a:sym typeface="Calibri"/>
            </a:endParaRPr>
          </a:p>
          <a:p>
            <a:pPr indent="6350" lvl="0" marL="487045" marR="1398270" rtl="0" algn="l">
              <a:lnSpc>
                <a:spcPct val="117800"/>
              </a:lnSpc>
              <a:spcBef>
                <a:spcPts val="1855"/>
              </a:spcBef>
              <a:spcAft>
                <a:spcPts val="0"/>
              </a:spcAft>
              <a:buNone/>
            </a:pPr>
            <a:r>
              <a:rPr lang="en-US" sz="2800">
                <a:solidFill>
                  <a:srgbClr val="262626"/>
                </a:solidFill>
                <a:latin typeface="Calibri"/>
                <a:ea typeface="Calibri"/>
                <a:cs typeface="Calibri"/>
                <a:sym typeface="Calibri"/>
              </a:rPr>
              <a:t>Suppression </a:t>
            </a:r>
            <a:r>
              <a:rPr lang="en-US" sz="2800">
                <a:solidFill>
                  <a:srgbClr val="2F2F2F"/>
                </a:solidFill>
                <a:latin typeface="Calibri"/>
                <a:ea typeface="Calibri"/>
                <a:cs typeface="Calibri"/>
                <a:sym typeface="Calibri"/>
              </a:rPr>
              <a:t>agressive </a:t>
            </a:r>
            <a:r>
              <a:rPr lang="en-US" sz="2800">
                <a:solidFill>
                  <a:srgbClr val="363636"/>
                </a:solidFill>
                <a:latin typeface="Calibri"/>
                <a:ea typeface="Calibri"/>
                <a:cs typeface="Calibri"/>
                <a:sym typeface="Calibri"/>
              </a:rPr>
              <a:t>des </a:t>
            </a:r>
            <a:r>
              <a:rPr lang="en-US" sz="2800">
                <a:solidFill>
                  <a:srgbClr val="2F2F2F"/>
                </a:solidFill>
                <a:latin typeface="Calibri"/>
                <a:ea typeface="Calibri"/>
                <a:cs typeface="Calibri"/>
                <a:sym typeface="Calibri"/>
              </a:rPr>
              <a:t>balises </a:t>
            </a:r>
            <a:r>
              <a:rPr lang="en-US" sz="2800">
                <a:solidFill>
                  <a:srgbClr val="3D3D3D"/>
                </a:solidFill>
                <a:latin typeface="Calibri"/>
                <a:ea typeface="Calibri"/>
                <a:cs typeface="Calibri"/>
                <a:sym typeface="Calibri"/>
              </a:rPr>
              <a:t>HTML </a:t>
            </a:r>
            <a:r>
              <a:rPr lang="en-US" sz="2800">
                <a:solidFill>
                  <a:srgbClr val="262626"/>
                </a:solidFill>
                <a:latin typeface="Calibri"/>
                <a:ea typeface="Calibri"/>
                <a:cs typeface="Calibri"/>
                <a:sym typeface="Calibri"/>
              </a:rPr>
              <a:t>résiduelles.</a:t>
            </a:r>
            <a:endParaRPr sz="2800">
              <a:latin typeface="Calibri"/>
              <a:ea typeface="Calibri"/>
              <a:cs typeface="Calibri"/>
              <a:sym typeface="Calibri"/>
            </a:endParaRPr>
          </a:p>
          <a:p>
            <a:pPr indent="-635" lvl="0" marL="483870" marR="5080" rtl="0" algn="l">
              <a:lnSpc>
                <a:spcPct val="117800"/>
              </a:lnSpc>
              <a:spcBef>
                <a:spcPts val="2475"/>
              </a:spcBef>
              <a:spcAft>
                <a:spcPts val="0"/>
              </a:spcAft>
              <a:buNone/>
            </a:pPr>
            <a:r>
              <a:rPr lang="en-US" sz="2800">
                <a:solidFill>
                  <a:srgbClr val="313131"/>
                </a:solidFill>
                <a:latin typeface="Calibri"/>
                <a:ea typeface="Calibri"/>
                <a:cs typeface="Calibri"/>
                <a:sym typeface="Calibri"/>
              </a:rPr>
              <a:t>Normalisation </a:t>
            </a:r>
            <a:r>
              <a:rPr lang="en-US" sz="2800">
                <a:solidFill>
                  <a:srgbClr val="2F2F2F"/>
                </a:solidFill>
                <a:latin typeface="Calibri"/>
                <a:ea typeface="Calibri"/>
                <a:cs typeface="Calibri"/>
                <a:sym typeface="Calibri"/>
              </a:rPr>
              <a:t>du texte (caractères </a:t>
            </a:r>
            <a:r>
              <a:rPr lang="en-US" sz="2800">
                <a:solidFill>
                  <a:srgbClr val="313131"/>
                </a:solidFill>
                <a:latin typeface="Calibri"/>
                <a:ea typeface="Calibri"/>
                <a:cs typeface="Calibri"/>
                <a:sym typeface="Calibri"/>
              </a:rPr>
              <a:t>d'échappement, </a:t>
            </a:r>
            <a:r>
              <a:rPr lang="en-US" sz="2800">
                <a:solidFill>
                  <a:srgbClr val="242424"/>
                </a:solidFill>
                <a:latin typeface="Calibri"/>
                <a:ea typeface="Calibri"/>
                <a:cs typeface="Calibri"/>
                <a:sym typeface="Calibri"/>
              </a:rPr>
              <a:t>sauts </a:t>
            </a:r>
            <a:r>
              <a:rPr lang="en-US" sz="2800">
                <a:solidFill>
                  <a:srgbClr val="343434"/>
                </a:solidFill>
                <a:latin typeface="Calibri"/>
                <a:ea typeface="Calibri"/>
                <a:cs typeface="Calibri"/>
                <a:sym typeface="Calibri"/>
              </a:rPr>
              <a:t>de </a:t>
            </a:r>
            <a:r>
              <a:rPr lang="en-US" sz="2800">
                <a:solidFill>
                  <a:srgbClr val="2F2F2F"/>
                </a:solidFill>
                <a:latin typeface="Calibri"/>
                <a:ea typeface="Calibri"/>
                <a:cs typeface="Calibri"/>
                <a:sym typeface="Calibri"/>
              </a:rPr>
              <a:t>Iigne).</a:t>
            </a:r>
            <a:endParaRPr sz="2800">
              <a:latin typeface="Calibri"/>
              <a:ea typeface="Calibri"/>
              <a:cs typeface="Calibri"/>
              <a:sym typeface="Calibri"/>
            </a:endParaRPr>
          </a:p>
          <a:p>
            <a:pPr indent="-6350" lvl="0" marL="489584" marR="796925" rtl="0" algn="l">
              <a:lnSpc>
                <a:spcPct val="117800"/>
              </a:lnSpc>
              <a:spcBef>
                <a:spcPts val="2470"/>
              </a:spcBef>
              <a:spcAft>
                <a:spcPts val="0"/>
              </a:spcAft>
              <a:buNone/>
            </a:pPr>
            <a:r>
              <a:rPr lang="en-US" sz="2800">
                <a:solidFill>
                  <a:srgbClr val="343434"/>
                </a:solidFill>
                <a:latin typeface="Calibri"/>
                <a:ea typeface="Calibri"/>
                <a:cs typeface="Calibri"/>
                <a:sym typeface="Calibri"/>
              </a:rPr>
              <a:t>Utilisation de </a:t>
            </a:r>
            <a:r>
              <a:rPr lang="en-US" sz="2800">
                <a:solidFill>
                  <a:srgbClr val="383838"/>
                </a:solidFill>
                <a:latin typeface="Calibri"/>
                <a:ea typeface="Calibri"/>
                <a:cs typeface="Calibri"/>
                <a:sym typeface="Calibri"/>
              </a:rPr>
              <a:t>Langdetect </a:t>
            </a:r>
            <a:r>
              <a:rPr lang="en-US" sz="2800">
                <a:solidFill>
                  <a:srgbClr val="313131"/>
                </a:solidFill>
                <a:latin typeface="Calibri"/>
                <a:ea typeface="Calibri"/>
                <a:cs typeface="Calibri"/>
                <a:sym typeface="Calibri"/>
              </a:rPr>
              <a:t>pour </a:t>
            </a:r>
            <a:r>
              <a:rPr lang="en-US" sz="2800">
                <a:solidFill>
                  <a:srgbClr val="2D2D2D"/>
                </a:solidFill>
                <a:latin typeface="Calibri"/>
                <a:ea typeface="Calibri"/>
                <a:cs typeface="Calibri"/>
                <a:sym typeface="Calibri"/>
              </a:rPr>
              <a:t>analyser </a:t>
            </a:r>
            <a:r>
              <a:rPr lang="en-US" sz="2800">
                <a:solidFill>
                  <a:srgbClr val="3A3A3A"/>
                </a:solidFill>
                <a:latin typeface="Calibri"/>
                <a:ea typeface="Calibri"/>
                <a:cs typeface="Calibri"/>
                <a:sym typeface="Calibri"/>
              </a:rPr>
              <a:t>et </a:t>
            </a:r>
            <a:r>
              <a:rPr lang="en-US" sz="2800">
                <a:solidFill>
                  <a:srgbClr val="2F2F2F"/>
                </a:solidFill>
                <a:latin typeface="Calibri"/>
                <a:ea typeface="Calibri"/>
                <a:cs typeface="Calibri"/>
                <a:sym typeface="Calibri"/>
              </a:rPr>
              <a:t>assigner </a:t>
            </a:r>
            <a:r>
              <a:rPr lang="en-US" sz="2800">
                <a:solidFill>
                  <a:srgbClr val="2D2D2D"/>
                </a:solidFill>
                <a:latin typeface="Calibri"/>
                <a:ea typeface="Calibri"/>
                <a:cs typeface="Calibri"/>
                <a:sym typeface="Calibri"/>
              </a:rPr>
              <a:t>dynamiquement </a:t>
            </a:r>
            <a:r>
              <a:rPr lang="en-US" sz="2800">
                <a:solidFill>
                  <a:srgbClr val="363636"/>
                </a:solidFill>
                <a:latin typeface="Calibri"/>
                <a:ea typeface="Calibri"/>
                <a:cs typeface="Calibri"/>
                <a:sym typeface="Calibri"/>
              </a:rPr>
              <a:t>la Iangue </a:t>
            </a:r>
            <a:r>
              <a:rPr lang="en-US" sz="2800">
                <a:solidFill>
                  <a:srgbClr val="2F2F2F"/>
                </a:solidFill>
                <a:latin typeface="Calibri"/>
                <a:ea typeface="Calibri"/>
                <a:cs typeface="Calibri"/>
                <a:sym typeface="Calibri"/>
              </a:rPr>
              <a:t>de </a:t>
            </a:r>
            <a:r>
              <a:rPr lang="en-US" sz="2800">
                <a:solidFill>
                  <a:srgbClr val="313131"/>
                </a:solidFill>
                <a:latin typeface="Calibri"/>
                <a:ea typeface="Calibri"/>
                <a:cs typeface="Calibri"/>
                <a:sym typeface="Calibri"/>
              </a:rPr>
              <a:t>chaque </a:t>
            </a:r>
            <a:r>
              <a:rPr lang="en-US" sz="2800">
                <a:solidFill>
                  <a:srgbClr val="2F2F2F"/>
                </a:solidFill>
                <a:latin typeface="Calibri"/>
                <a:ea typeface="Calibri"/>
                <a:cs typeface="Calibri"/>
                <a:sym typeface="Calibri"/>
              </a:rPr>
              <a:t>article.</a:t>
            </a:r>
            <a:endParaRPr sz="2800">
              <a:latin typeface="Calibri"/>
              <a:ea typeface="Calibri"/>
              <a:cs typeface="Calibri"/>
              <a:sym typeface="Calibri"/>
            </a:endParaRPr>
          </a:p>
        </p:txBody>
      </p:sp>
      <p:sp>
        <p:nvSpPr>
          <p:cNvPr id="259" name="Google Shape;259;p14"/>
          <p:cNvSpPr txBox="1"/>
          <p:nvPr/>
        </p:nvSpPr>
        <p:spPr>
          <a:xfrm>
            <a:off x="11163193" y="2712347"/>
            <a:ext cx="7128509" cy="6223000"/>
          </a:xfrm>
          <a:prstGeom prst="rect">
            <a:avLst/>
          </a:prstGeom>
          <a:noFill/>
          <a:ln>
            <a:noFill/>
          </a:ln>
        </p:spPr>
        <p:txBody>
          <a:bodyPr anchorCtr="0" anchor="t" bIns="0" lIns="0" spcFirstLastPara="1" rIns="0" wrap="square" tIns="11425">
            <a:spAutoFit/>
          </a:bodyPr>
          <a:lstStyle/>
          <a:p>
            <a:pPr indent="-31750" lvl="0" marL="43815" marR="1544320" rtl="0" algn="l">
              <a:lnSpc>
                <a:spcPct val="108700"/>
              </a:lnSpc>
              <a:spcBef>
                <a:spcPts val="0"/>
              </a:spcBef>
              <a:spcAft>
                <a:spcPts val="0"/>
              </a:spcAft>
              <a:buNone/>
            </a:pPr>
            <a:r>
              <a:rPr b="1" lang="en-US" sz="4600">
                <a:solidFill>
                  <a:srgbClr val="0585C4"/>
                </a:solidFill>
                <a:latin typeface="Calibri"/>
                <a:ea typeface="Calibri"/>
                <a:cs typeface="Calibri"/>
                <a:sym typeface="Calibri"/>
              </a:rPr>
              <a:t>Contrôle </a:t>
            </a:r>
            <a:r>
              <a:rPr b="1" lang="en-US" sz="4600">
                <a:solidFill>
                  <a:srgbClr val="0080C6"/>
                </a:solidFill>
                <a:latin typeface="Calibri"/>
                <a:ea typeface="Calibri"/>
                <a:cs typeface="Calibri"/>
                <a:sym typeface="Calibri"/>
              </a:rPr>
              <a:t>Qualité </a:t>
            </a:r>
            <a:r>
              <a:rPr b="1" lang="en-US" sz="4600">
                <a:solidFill>
                  <a:srgbClr val="0A7EBC"/>
                </a:solidFill>
                <a:latin typeface="Calibri"/>
                <a:ea typeface="Calibri"/>
                <a:cs typeface="Calibri"/>
                <a:sym typeface="Calibri"/>
              </a:rPr>
              <a:t>(”quolity_checks.py“)</a:t>
            </a:r>
            <a:endParaRPr sz="4600">
              <a:latin typeface="Calibri"/>
              <a:ea typeface="Calibri"/>
              <a:cs typeface="Calibri"/>
              <a:sym typeface="Calibri"/>
            </a:endParaRPr>
          </a:p>
          <a:p>
            <a:pPr indent="0" lvl="0" marL="13335" rtl="0" algn="l">
              <a:lnSpc>
                <a:spcPct val="100000"/>
              </a:lnSpc>
              <a:spcBef>
                <a:spcPts val="2650"/>
              </a:spcBef>
              <a:spcAft>
                <a:spcPts val="0"/>
              </a:spcAft>
              <a:buNone/>
            </a:pPr>
            <a:r>
              <a:rPr lang="en-US" sz="2800">
                <a:solidFill>
                  <a:srgbClr val="343434"/>
                </a:solidFill>
                <a:latin typeface="Calibri"/>
                <a:ea typeface="Calibri"/>
                <a:cs typeface="Calibri"/>
                <a:sym typeface="Calibri"/>
              </a:rPr>
              <a:t>Avant le </a:t>
            </a:r>
            <a:r>
              <a:rPr lang="en-US" sz="2800">
                <a:solidFill>
                  <a:srgbClr val="2F2F2F"/>
                </a:solidFill>
                <a:latin typeface="Calibri"/>
                <a:ea typeface="Calibri"/>
                <a:cs typeface="Calibri"/>
                <a:sym typeface="Calibri"/>
              </a:rPr>
              <a:t>passage </a:t>
            </a:r>
            <a:r>
              <a:rPr lang="en-US" sz="2800">
                <a:solidFill>
                  <a:srgbClr val="343434"/>
                </a:solidFill>
                <a:latin typeface="Calibri"/>
                <a:ea typeface="Calibri"/>
                <a:cs typeface="Calibri"/>
                <a:sym typeface="Calibri"/>
              </a:rPr>
              <a:t>en </a:t>
            </a:r>
            <a:r>
              <a:rPr lang="en-US" sz="2800">
                <a:solidFill>
                  <a:srgbClr val="2F2F2F"/>
                </a:solidFill>
                <a:latin typeface="Calibri"/>
                <a:ea typeface="Calibri"/>
                <a:cs typeface="Calibri"/>
                <a:sym typeface="Calibri"/>
              </a:rPr>
              <a:t>Gold, les </a:t>
            </a:r>
            <a:r>
              <a:rPr lang="en-US" sz="2800">
                <a:solidFill>
                  <a:srgbClr val="2B2B2B"/>
                </a:solidFill>
                <a:latin typeface="Calibri"/>
                <a:ea typeface="Calibri"/>
                <a:cs typeface="Calibri"/>
                <a:sym typeface="Calibri"/>
              </a:rPr>
              <a:t>données </a:t>
            </a:r>
            <a:r>
              <a:rPr lang="en-US" sz="2800">
                <a:solidFill>
                  <a:srgbClr val="343434"/>
                </a:solidFill>
                <a:latin typeface="Calibri"/>
                <a:ea typeface="Calibri"/>
                <a:cs typeface="Calibri"/>
                <a:sym typeface="Calibri"/>
              </a:rPr>
              <a:t>sont </a:t>
            </a:r>
            <a:r>
              <a:rPr lang="en-US" sz="2800">
                <a:solidFill>
                  <a:srgbClr val="2D2D2D"/>
                </a:solidFill>
                <a:latin typeface="Calibri"/>
                <a:ea typeface="Calibri"/>
                <a:cs typeface="Calibri"/>
                <a:sym typeface="Calibri"/>
              </a:rPr>
              <a:t>auditées </a:t>
            </a:r>
            <a:r>
              <a:rPr lang="en-US" sz="2800">
                <a:solidFill>
                  <a:srgbClr val="363636"/>
                </a:solidFill>
                <a:latin typeface="Calibri"/>
                <a:ea typeface="Calibri"/>
                <a:cs typeface="Calibri"/>
                <a:sym typeface="Calibri"/>
              </a:rPr>
              <a:t>:</a:t>
            </a:r>
            <a:endParaRPr sz="2800">
              <a:latin typeface="Calibri"/>
              <a:ea typeface="Calibri"/>
              <a:cs typeface="Calibri"/>
              <a:sym typeface="Calibri"/>
            </a:endParaRPr>
          </a:p>
          <a:p>
            <a:pPr indent="-3175" lvl="0" marL="487045" marR="1149985" rtl="0" algn="l">
              <a:lnSpc>
                <a:spcPct val="117800"/>
              </a:lnSpc>
              <a:spcBef>
                <a:spcPts val="1850"/>
              </a:spcBef>
              <a:spcAft>
                <a:spcPts val="0"/>
              </a:spcAft>
              <a:buNone/>
            </a:pPr>
            <a:r>
              <a:rPr lang="en-US" sz="2800">
                <a:solidFill>
                  <a:srgbClr val="343434"/>
                </a:solidFill>
                <a:latin typeface="Calibri"/>
                <a:ea typeface="Calibri"/>
                <a:cs typeface="Calibri"/>
                <a:sym typeface="Calibri"/>
              </a:rPr>
              <a:t>Vérification de l'intégrité </a:t>
            </a:r>
            <a:r>
              <a:rPr lang="en-US" sz="2800">
                <a:solidFill>
                  <a:srgbClr val="313131"/>
                </a:solidFill>
                <a:latin typeface="Calibri"/>
                <a:ea typeface="Calibri"/>
                <a:cs typeface="Calibri"/>
                <a:sym typeface="Calibri"/>
              </a:rPr>
              <a:t>(Titres </a:t>
            </a:r>
            <a:r>
              <a:rPr lang="en-US" sz="2800">
                <a:solidFill>
                  <a:srgbClr val="3B3B3B"/>
                </a:solidFill>
                <a:latin typeface="Calibri"/>
                <a:ea typeface="Calibri"/>
                <a:cs typeface="Calibri"/>
                <a:sym typeface="Calibri"/>
              </a:rPr>
              <a:t>ou </a:t>
            </a:r>
            <a:r>
              <a:rPr lang="en-US" sz="2800">
                <a:solidFill>
                  <a:srgbClr val="2D2D2D"/>
                </a:solidFill>
                <a:latin typeface="Calibri"/>
                <a:ea typeface="Calibri"/>
                <a:cs typeface="Calibri"/>
                <a:sym typeface="Calibri"/>
              </a:rPr>
              <a:t>dates </a:t>
            </a:r>
            <a:r>
              <a:rPr lang="en-US" sz="2800">
                <a:solidFill>
                  <a:srgbClr val="262626"/>
                </a:solidFill>
                <a:latin typeface="Calibri"/>
                <a:ea typeface="Calibri"/>
                <a:cs typeface="Calibri"/>
                <a:sym typeface="Calibri"/>
              </a:rPr>
              <a:t>manquants).</a:t>
            </a:r>
            <a:endParaRPr sz="2800">
              <a:latin typeface="Calibri"/>
              <a:ea typeface="Calibri"/>
              <a:cs typeface="Calibri"/>
              <a:sym typeface="Calibri"/>
            </a:endParaRPr>
          </a:p>
          <a:p>
            <a:pPr indent="1270" lvl="0" marL="482600" marR="719455" rtl="0" algn="l">
              <a:lnSpc>
                <a:spcPct val="117800"/>
              </a:lnSpc>
              <a:spcBef>
                <a:spcPts val="2475"/>
              </a:spcBef>
              <a:spcAft>
                <a:spcPts val="0"/>
              </a:spcAft>
              <a:buNone/>
            </a:pPr>
            <a:r>
              <a:rPr lang="en-US" sz="2800">
                <a:solidFill>
                  <a:srgbClr val="2F2F2F"/>
                </a:solidFill>
                <a:latin typeface="Calibri"/>
                <a:ea typeface="Calibri"/>
                <a:cs typeface="Calibri"/>
                <a:sym typeface="Calibri"/>
              </a:rPr>
              <a:t>Filtrage </a:t>
            </a:r>
            <a:r>
              <a:rPr lang="en-US" sz="2800">
                <a:solidFill>
                  <a:srgbClr val="242424"/>
                </a:solidFill>
                <a:latin typeface="Calibri"/>
                <a:ea typeface="Calibri"/>
                <a:cs typeface="Calibri"/>
                <a:sym typeface="Calibri"/>
              </a:rPr>
              <a:t>du </a:t>
            </a:r>
            <a:r>
              <a:rPr lang="en-US" sz="2800">
                <a:solidFill>
                  <a:srgbClr val="333333"/>
                </a:solidFill>
                <a:latin typeface="Calibri"/>
                <a:ea typeface="Calibri"/>
                <a:cs typeface="Calibri"/>
                <a:sym typeface="Calibri"/>
              </a:rPr>
              <a:t>contenu </a:t>
            </a:r>
            <a:r>
              <a:rPr lang="en-US" sz="2800">
                <a:solidFill>
                  <a:srgbClr val="2F2F2F"/>
                </a:solidFill>
                <a:latin typeface="Calibri"/>
                <a:ea typeface="Calibri"/>
                <a:cs typeface="Calibri"/>
                <a:sym typeface="Calibri"/>
              </a:rPr>
              <a:t>(Articles </a:t>
            </a:r>
            <a:r>
              <a:rPr lang="en-US" sz="2800">
                <a:solidFill>
                  <a:srgbClr val="363636"/>
                </a:solidFill>
                <a:latin typeface="Calibri"/>
                <a:ea typeface="Calibri"/>
                <a:cs typeface="Calibri"/>
                <a:sym typeface="Calibri"/>
              </a:rPr>
              <a:t>de moins </a:t>
            </a:r>
            <a:r>
              <a:rPr lang="en-US" sz="2800">
                <a:solidFill>
                  <a:srgbClr val="343434"/>
                </a:solidFill>
                <a:latin typeface="Calibri"/>
                <a:ea typeface="Calibri"/>
                <a:cs typeface="Calibri"/>
                <a:sym typeface="Calibri"/>
              </a:rPr>
              <a:t>de </a:t>
            </a:r>
            <a:r>
              <a:rPr lang="en-US" sz="2800">
                <a:solidFill>
                  <a:srgbClr val="363636"/>
                </a:solidFill>
                <a:latin typeface="Calibri"/>
                <a:ea typeface="Calibri"/>
                <a:cs typeface="Calibri"/>
                <a:sym typeface="Calibri"/>
              </a:rPr>
              <a:t>50 </a:t>
            </a:r>
            <a:r>
              <a:rPr lang="en-US" sz="2800">
                <a:solidFill>
                  <a:srgbClr val="333333"/>
                </a:solidFill>
                <a:latin typeface="Calibri"/>
                <a:ea typeface="Calibri"/>
                <a:cs typeface="Calibri"/>
                <a:sym typeface="Calibri"/>
              </a:rPr>
              <a:t>caractères </a:t>
            </a:r>
            <a:r>
              <a:rPr lang="en-US" sz="2800">
                <a:solidFill>
                  <a:srgbClr val="2D2D2D"/>
                </a:solidFill>
                <a:latin typeface="Calibri"/>
                <a:ea typeface="Calibri"/>
                <a:cs typeface="Calibri"/>
                <a:sym typeface="Calibri"/>
              </a:rPr>
              <a:t>ignorés).</a:t>
            </a:r>
            <a:endParaRPr sz="2800">
              <a:latin typeface="Calibri"/>
              <a:ea typeface="Calibri"/>
              <a:cs typeface="Calibri"/>
              <a:sym typeface="Calibri"/>
            </a:endParaRPr>
          </a:p>
          <a:p>
            <a:pPr indent="1905" lvl="0" marL="487045" marR="196215" rtl="0" algn="l">
              <a:lnSpc>
                <a:spcPct val="125099"/>
              </a:lnSpc>
              <a:spcBef>
                <a:spcPts val="2230"/>
              </a:spcBef>
              <a:spcAft>
                <a:spcPts val="0"/>
              </a:spcAft>
              <a:buNone/>
            </a:pPr>
            <a:r>
              <a:rPr lang="en-US" sz="2800">
                <a:solidFill>
                  <a:srgbClr val="343434"/>
                </a:solidFill>
                <a:latin typeface="Calibri"/>
                <a:ea typeface="Calibri"/>
                <a:cs typeface="Calibri"/>
                <a:sym typeface="Calibri"/>
              </a:rPr>
              <a:t>Création d'un </a:t>
            </a:r>
            <a:r>
              <a:rPr lang="en-US" sz="2800">
                <a:solidFill>
                  <a:srgbClr val="2F2F2F"/>
                </a:solidFill>
                <a:latin typeface="Calibri"/>
                <a:ea typeface="Calibri"/>
                <a:cs typeface="Calibri"/>
                <a:sym typeface="Calibri"/>
              </a:rPr>
              <a:t>quality  </a:t>
            </a:r>
            <a:r>
              <a:rPr lang="en-US" sz="2800">
                <a:solidFill>
                  <a:srgbClr val="3A3A3A"/>
                </a:solidFill>
                <a:latin typeface="Calibri"/>
                <a:ea typeface="Calibri"/>
                <a:cs typeface="Calibri"/>
                <a:sym typeface="Calibri"/>
              </a:rPr>
              <a:t>flag </a:t>
            </a:r>
            <a:r>
              <a:rPr lang="en-US" sz="2800">
                <a:solidFill>
                  <a:srgbClr val="313131"/>
                </a:solidFill>
                <a:latin typeface="Calibri"/>
                <a:ea typeface="Calibri"/>
                <a:cs typeface="Calibri"/>
                <a:sym typeface="Calibri"/>
              </a:rPr>
              <a:t>permettant d'isoler les anomalies </a:t>
            </a:r>
            <a:r>
              <a:rPr lang="en-US" sz="2800">
                <a:solidFill>
                  <a:srgbClr val="2F2F2F"/>
                </a:solidFill>
                <a:latin typeface="Calibri"/>
                <a:ea typeface="Calibri"/>
                <a:cs typeface="Calibri"/>
                <a:sym typeface="Calibri"/>
              </a:rPr>
              <a:t>sans </a:t>
            </a:r>
            <a:r>
              <a:rPr lang="en-US" sz="2800">
                <a:solidFill>
                  <a:srgbClr val="333333"/>
                </a:solidFill>
                <a:latin typeface="Calibri"/>
                <a:ea typeface="Calibri"/>
                <a:cs typeface="Calibri"/>
                <a:sym typeface="Calibri"/>
              </a:rPr>
              <a:t>perdre </a:t>
            </a:r>
            <a:r>
              <a:rPr lang="en-US" sz="2800">
                <a:solidFill>
                  <a:srgbClr val="363636"/>
                </a:solidFill>
                <a:latin typeface="Calibri"/>
                <a:ea typeface="Calibri"/>
                <a:cs typeface="Calibri"/>
                <a:sym typeface="Calibri"/>
              </a:rPr>
              <a:t>la </a:t>
            </a:r>
            <a:r>
              <a:rPr lang="en-US" sz="2800">
                <a:solidFill>
                  <a:srgbClr val="313131"/>
                </a:solidFill>
                <a:latin typeface="Calibri"/>
                <a:ea typeface="Calibri"/>
                <a:cs typeface="Calibri"/>
                <a:sym typeface="Calibri"/>
              </a:rPr>
              <a:t>donnée </a:t>
            </a:r>
            <a:r>
              <a:rPr lang="en-US" sz="2800">
                <a:solidFill>
                  <a:srgbClr val="3B3B3B"/>
                </a:solidFill>
                <a:latin typeface="Calibri"/>
                <a:ea typeface="Calibri"/>
                <a:cs typeface="Calibri"/>
                <a:sym typeface="Calibri"/>
              </a:rPr>
              <a:t>en </a:t>
            </a:r>
            <a:r>
              <a:rPr lang="en-US" sz="2800">
                <a:solidFill>
                  <a:srgbClr val="363636"/>
                </a:solidFill>
                <a:latin typeface="Calibri"/>
                <a:ea typeface="Calibri"/>
                <a:cs typeface="Calibri"/>
                <a:sym typeface="Calibri"/>
              </a:rPr>
              <a:t>base.</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3" name="Shape 263"/>
        <p:cNvGrpSpPr/>
        <p:nvPr/>
      </p:nvGrpSpPr>
      <p:grpSpPr>
        <a:xfrm>
          <a:off x="0" y="0"/>
          <a:ext cx="0" cy="0"/>
          <a:chOff x="0" y="0"/>
          <a:chExt cx="0" cy="0"/>
        </a:xfrm>
      </p:grpSpPr>
      <p:sp>
        <p:nvSpPr>
          <p:cNvPr descr="$PPTXTitle" id="264" name="Google Shape;264;p15"/>
          <p:cNvSpPr txBox="1"/>
          <p:nvPr>
            <p:ph type="title"/>
          </p:nvPr>
        </p:nvSpPr>
        <p:spPr>
          <a:xfrm>
            <a:off x="913592" y="318441"/>
            <a:ext cx="15012300" cy="1494300"/>
          </a:xfrm>
          <a:prstGeom prst="rect">
            <a:avLst/>
          </a:prstGeom>
          <a:noFill/>
          <a:ln>
            <a:noFill/>
          </a:ln>
        </p:spPr>
        <p:txBody>
          <a:bodyPr anchorCtr="0" anchor="t" bIns="0" lIns="0" spcFirstLastPara="1" rIns="0" wrap="square" tIns="557725">
            <a:spAutoFit/>
          </a:bodyPr>
          <a:lstStyle/>
          <a:p>
            <a:pPr indent="0" lvl="0" marL="16510" rtl="0" algn="l">
              <a:lnSpc>
                <a:spcPct val="100000"/>
              </a:lnSpc>
              <a:spcBef>
                <a:spcPts val="0"/>
              </a:spcBef>
              <a:spcAft>
                <a:spcPts val="0"/>
              </a:spcAft>
              <a:buNone/>
            </a:pPr>
            <a:r>
              <a:rPr lang="en-US">
                <a:solidFill>
                  <a:srgbClr val="006D9C"/>
                </a:solidFill>
              </a:rPr>
              <a:t>Couche </a:t>
            </a:r>
            <a:r>
              <a:rPr lang="en-US">
                <a:solidFill>
                  <a:srgbClr val="0364A0"/>
                </a:solidFill>
              </a:rPr>
              <a:t>Gold </a:t>
            </a:r>
            <a:r>
              <a:rPr lang="en-US">
                <a:solidFill>
                  <a:srgbClr val="005DA5"/>
                </a:solidFill>
              </a:rPr>
              <a:t>: </a:t>
            </a:r>
            <a:r>
              <a:rPr lang="en-US">
                <a:solidFill>
                  <a:srgbClr val="086993"/>
                </a:solidFill>
              </a:rPr>
              <a:t>Analyse </a:t>
            </a:r>
            <a:r>
              <a:rPr lang="en-US">
                <a:solidFill>
                  <a:srgbClr val="0A669A"/>
                </a:solidFill>
              </a:rPr>
              <a:t>&amp; </a:t>
            </a:r>
            <a:r>
              <a:rPr lang="en-US">
                <a:solidFill>
                  <a:srgbClr val="0067AC"/>
                </a:solidFill>
              </a:rPr>
              <a:t>Agrégotions</a:t>
            </a:r>
            <a:endParaRPr/>
          </a:p>
        </p:txBody>
      </p:sp>
      <p:sp>
        <p:nvSpPr>
          <p:cNvPr id="265" name="Google Shape;265;p15"/>
          <p:cNvSpPr txBox="1"/>
          <p:nvPr/>
        </p:nvSpPr>
        <p:spPr>
          <a:xfrm>
            <a:off x="931198" y="2955141"/>
            <a:ext cx="7167880" cy="2273935"/>
          </a:xfrm>
          <a:prstGeom prst="rect">
            <a:avLst/>
          </a:prstGeom>
          <a:noFill/>
          <a:ln>
            <a:noFill/>
          </a:ln>
        </p:spPr>
        <p:txBody>
          <a:bodyPr anchorCtr="0" anchor="t" bIns="0" lIns="0" spcFirstLastPara="1" rIns="0" wrap="square" tIns="14600">
            <a:spAutoFit/>
          </a:bodyPr>
          <a:lstStyle/>
          <a:p>
            <a:pPr indent="-17145" lvl="0" marL="29209" marR="988060" rtl="0" algn="l">
              <a:lnSpc>
                <a:spcPct val="125052"/>
              </a:lnSpc>
              <a:spcBef>
                <a:spcPts val="0"/>
              </a:spcBef>
              <a:spcAft>
                <a:spcPts val="0"/>
              </a:spcAft>
              <a:buNone/>
            </a:pPr>
            <a:r>
              <a:rPr lang="en-US" sz="4750">
                <a:solidFill>
                  <a:srgbClr val="0085C8"/>
                </a:solidFill>
                <a:latin typeface="Arial"/>
                <a:ea typeface="Arial"/>
                <a:cs typeface="Arial"/>
                <a:sym typeface="Arial"/>
              </a:rPr>
              <a:t>Tronsformotion </a:t>
            </a:r>
            <a:r>
              <a:rPr lang="en-US" sz="4750">
                <a:solidFill>
                  <a:srgbClr val="0082C8"/>
                </a:solidFill>
                <a:latin typeface="Arial"/>
                <a:ea typeface="Arial"/>
                <a:cs typeface="Arial"/>
                <a:sym typeface="Arial"/>
              </a:rPr>
              <a:t>Métier </a:t>
            </a:r>
            <a:r>
              <a:rPr lang="en-US" sz="4750">
                <a:solidFill>
                  <a:srgbClr val="0387CF"/>
                </a:solidFill>
                <a:latin typeface="Arial"/>
                <a:ea typeface="Arial"/>
                <a:cs typeface="Arial"/>
                <a:sym typeface="Arial"/>
              </a:rPr>
              <a:t>("gold_tronsformer.py")</a:t>
            </a:r>
            <a:endParaRPr sz="4750">
              <a:latin typeface="Arial"/>
              <a:ea typeface="Arial"/>
              <a:cs typeface="Arial"/>
              <a:sym typeface="Arial"/>
            </a:endParaRPr>
          </a:p>
          <a:p>
            <a:pPr indent="0" lvl="0" marL="472440" rtl="0" algn="l">
              <a:lnSpc>
                <a:spcPct val="100000"/>
              </a:lnSpc>
              <a:spcBef>
                <a:spcPts val="2435"/>
              </a:spcBef>
              <a:spcAft>
                <a:spcPts val="0"/>
              </a:spcAft>
              <a:buNone/>
            </a:pPr>
            <a:r>
              <a:rPr lang="en-US" sz="2800">
                <a:solidFill>
                  <a:srgbClr val="383838"/>
                </a:solidFill>
                <a:latin typeface="Calibri"/>
                <a:ea typeface="Calibri"/>
                <a:cs typeface="Calibri"/>
                <a:sym typeface="Calibri"/>
              </a:rPr>
              <a:t>Outils </a:t>
            </a:r>
            <a:r>
              <a:rPr lang="en-US" sz="2800">
                <a:solidFill>
                  <a:srgbClr val="2B3650"/>
                </a:solidFill>
                <a:latin typeface="Calibri"/>
                <a:ea typeface="Calibri"/>
                <a:cs typeface="Calibri"/>
                <a:sym typeface="Calibri"/>
              </a:rPr>
              <a:t>: </a:t>
            </a:r>
            <a:r>
              <a:rPr lang="en-US" sz="2800">
                <a:solidFill>
                  <a:srgbClr val="363636"/>
                </a:solidFill>
                <a:latin typeface="Calibri"/>
                <a:ea typeface="Calibri"/>
                <a:cs typeface="Calibri"/>
                <a:sym typeface="Calibri"/>
              </a:rPr>
              <a:t>Utilisation </a:t>
            </a:r>
            <a:r>
              <a:rPr lang="en-US" sz="2800">
                <a:solidFill>
                  <a:srgbClr val="313131"/>
                </a:solidFill>
                <a:latin typeface="Calibri"/>
                <a:ea typeface="Calibri"/>
                <a:cs typeface="Calibri"/>
                <a:sym typeface="Calibri"/>
              </a:rPr>
              <a:t>intensive </a:t>
            </a:r>
            <a:r>
              <a:rPr lang="en-US" sz="2800">
                <a:solidFill>
                  <a:srgbClr val="363636"/>
                </a:solidFill>
                <a:latin typeface="Calibri"/>
                <a:ea typeface="Calibri"/>
                <a:cs typeface="Calibri"/>
                <a:sym typeface="Calibri"/>
              </a:rPr>
              <a:t>de </a:t>
            </a:r>
            <a:r>
              <a:rPr lang="en-US" sz="2800">
                <a:solidFill>
                  <a:srgbClr val="2B4259"/>
                </a:solidFill>
                <a:latin typeface="Calibri"/>
                <a:ea typeface="Calibri"/>
                <a:cs typeface="Calibri"/>
                <a:sym typeface="Calibri"/>
              </a:rPr>
              <a:t>la </a:t>
            </a:r>
            <a:r>
              <a:rPr lang="en-US" sz="2800">
                <a:solidFill>
                  <a:srgbClr val="313131"/>
                </a:solidFill>
                <a:latin typeface="Calibri"/>
                <a:ea typeface="Calibri"/>
                <a:cs typeface="Calibri"/>
                <a:sym typeface="Calibri"/>
              </a:rPr>
              <a:t>librairie </a:t>
            </a:r>
            <a:r>
              <a:rPr lang="en-US" sz="2800">
                <a:solidFill>
                  <a:srgbClr val="363636"/>
                </a:solidFill>
                <a:latin typeface="Calibri"/>
                <a:ea typeface="Calibri"/>
                <a:cs typeface="Calibri"/>
                <a:sym typeface="Calibri"/>
              </a:rPr>
              <a:t>Pandas.</a:t>
            </a:r>
            <a:endParaRPr sz="2800">
              <a:latin typeface="Calibri"/>
              <a:ea typeface="Calibri"/>
              <a:cs typeface="Calibri"/>
              <a:sym typeface="Calibri"/>
            </a:endParaRPr>
          </a:p>
        </p:txBody>
      </p:sp>
      <p:sp>
        <p:nvSpPr>
          <p:cNvPr id="266" name="Google Shape;266;p15"/>
          <p:cNvSpPr txBox="1"/>
          <p:nvPr/>
        </p:nvSpPr>
        <p:spPr>
          <a:xfrm>
            <a:off x="1394199" y="5517236"/>
            <a:ext cx="7825105" cy="1030605"/>
          </a:xfrm>
          <a:prstGeom prst="rect">
            <a:avLst/>
          </a:prstGeom>
          <a:noFill/>
          <a:ln>
            <a:noFill/>
          </a:ln>
        </p:spPr>
        <p:txBody>
          <a:bodyPr anchorCtr="0" anchor="t" bIns="0" lIns="0" spcFirstLastPara="1" rIns="0" wrap="square" tIns="11425">
            <a:spAutoFit/>
          </a:bodyPr>
          <a:lstStyle/>
          <a:p>
            <a:pPr indent="-3810" lvl="0" marL="15875" marR="5080" rtl="0" algn="l">
              <a:lnSpc>
                <a:spcPct val="117800"/>
              </a:lnSpc>
              <a:spcBef>
                <a:spcPts val="0"/>
              </a:spcBef>
              <a:spcAft>
                <a:spcPts val="0"/>
              </a:spcAft>
              <a:buNone/>
            </a:pPr>
            <a:r>
              <a:rPr lang="en-US" sz="2800">
                <a:solidFill>
                  <a:srgbClr val="3B3B3B"/>
                </a:solidFill>
                <a:latin typeface="Calibri"/>
                <a:ea typeface="Calibri"/>
                <a:cs typeface="Calibri"/>
                <a:sym typeface="Calibri"/>
              </a:rPr>
              <a:t>Métriques </a:t>
            </a:r>
            <a:r>
              <a:rPr lang="en-US" sz="2800">
                <a:solidFill>
                  <a:srgbClr val="363636"/>
                </a:solidFill>
                <a:latin typeface="Calibri"/>
                <a:ea typeface="Calibri"/>
                <a:cs typeface="Calibri"/>
                <a:sym typeface="Calibri"/>
              </a:rPr>
              <a:t>: </a:t>
            </a:r>
            <a:r>
              <a:rPr lang="en-US" sz="2800">
                <a:solidFill>
                  <a:srgbClr val="282828"/>
                </a:solidFill>
                <a:latin typeface="Calibri"/>
                <a:ea typeface="Calibri"/>
                <a:cs typeface="Calibri"/>
                <a:sym typeface="Calibri"/>
              </a:rPr>
              <a:t>Agrégations </a:t>
            </a:r>
            <a:r>
              <a:rPr lang="en-US" sz="2800">
                <a:solidFill>
                  <a:srgbClr val="313131"/>
                </a:solidFill>
                <a:latin typeface="Calibri"/>
                <a:ea typeface="Calibri"/>
                <a:cs typeface="Calibri"/>
                <a:sym typeface="Calibri"/>
              </a:rPr>
              <a:t>par </a:t>
            </a:r>
            <a:r>
              <a:rPr lang="en-US" sz="2800">
                <a:solidFill>
                  <a:srgbClr val="333333"/>
                </a:solidFill>
                <a:latin typeface="Calibri"/>
                <a:ea typeface="Calibri"/>
                <a:cs typeface="Calibri"/>
                <a:sym typeface="Calibri"/>
              </a:rPr>
              <a:t>source de </a:t>
            </a:r>
            <a:r>
              <a:rPr lang="en-US" sz="2800">
                <a:solidFill>
                  <a:srgbClr val="363636"/>
                </a:solidFill>
                <a:latin typeface="Calibri"/>
                <a:ea typeface="Calibri"/>
                <a:cs typeface="Calibri"/>
                <a:sym typeface="Calibri"/>
              </a:rPr>
              <a:t>presse, </a:t>
            </a:r>
            <a:r>
              <a:rPr lang="en-US" sz="2800">
                <a:solidFill>
                  <a:srgbClr val="3F3F3F"/>
                </a:solidFill>
                <a:latin typeface="Calibri"/>
                <a:ea typeface="Calibri"/>
                <a:cs typeface="Calibri"/>
                <a:sym typeface="Calibri"/>
              </a:rPr>
              <a:t>par </a:t>
            </a:r>
            <a:r>
              <a:rPr lang="en-US" sz="2800">
                <a:solidFill>
                  <a:srgbClr val="313131"/>
                </a:solidFill>
                <a:latin typeface="Calibri"/>
                <a:ea typeface="Calibri"/>
                <a:cs typeface="Calibri"/>
                <a:sym typeface="Calibri"/>
              </a:rPr>
              <a:t>date, </a:t>
            </a:r>
            <a:r>
              <a:rPr lang="en-US" sz="2800">
                <a:solidFill>
                  <a:srgbClr val="383838"/>
                </a:solidFill>
                <a:latin typeface="Calibri"/>
                <a:ea typeface="Calibri"/>
                <a:cs typeface="Calibri"/>
                <a:sym typeface="Calibri"/>
              </a:rPr>
              <a:t>et </a:t>
            </a:r>
            <a:r>
              <a:rPr lang="en-US" sz="2800">
                <a:solidFill>
                  <a:srgbClr val="3F3F3F"/>
                </a:solidFill>
                <a:latin typeface="Calibri"/>
                <a:ea typeface="Calibri"/>
                <a:cs typeface="Calibri"/>
                <a:sym typeface="Calibri"/>
              </a:rPr>
              <a:t>par </a:t>
            </a:r>
            <a:r>
              <a:rPr lang="en-US" sz="2800">
                <a:solidFill>
                  <a:srgbClr val="333333"/>
                </a:solidFill>
                <a:latin typeface="Calibri"/>
                <a:ea typeface="Calibri"/>
                <a:cs typeface="Calibri"/>
                <a:sym typeface="Calibri"/>
              </a:rPr>
              <a:t>catégorie.</a:t>
            </a:r>
            <a:endParaRPr sz="2800">
              <a:latin typeface="Calibri"/>
              <a:ea typeface="Calibri"/>
              <a:cs typeface="Calibri"/>
              <a:sym typeface="Calibri"/>
            </a:endParaRPr>
          </a:p>
        </p:txBody>
      </p:sp>
      <p:sp>
        <p:nvSpPr>
          <p:cNvPr id="267" name="Google Shape;267;p15"/>
          <p:cNvSpPr txBox="1"/>
          <p:nvPr/>
        </p:nvSpPr>
        <p:spPr>
          <a:xfrm>
            <a:off x="1394663" y="6833295"/>
            <a:ext cx="7244080" cy="1030605"/>
          </a:xfrm>
          <a:prstGeom prst="rect">
            <a:avLst/>
          </a:prstGeom>
          <a:noFill/>
          <a:ln>
            <a:noFill/>
          </a:ln>
        </p:spPr>
        <p:txBody>
          <a:bodyPr anchorCtr="0" anchor="t" bIns="0" lIns="0" spcFirstLastPara="1" rIns="0" wrap="square" tIns="12700">
            <a:spAutoFit/>
          </a:bodyPr>
          <a:lstStyle/>
          <a:p>
            <a:pPr indent="0" lvl="0" marL="12700" marR="5080" rtl="0" algn="l">
              <a:lnSpc>
                <a:spcPct val="122100"/>
              </a:lnSpc>
              <a:spcBef>
                <a:spcPts val="0"/>
              </a:spcBef>
              <a:spcAft>
                <a:spcPts val="0"/>
              </a:spcAft>
              <a:buNone/>
            </a:pPr>
            <a:r>
              <a:rPr lang="en-US" sz="2700">
                <a:solidFill>
                  <a:srgbClr val="333333"/>
                </a:solidFill>
                <a:latin typeface="Calibri"/>
                <a:ea typeface="Calibri"/>
                <a:cs typeface="Calibri"/>
                <a:sym typeface="Calibri"/>
              </a:rPr>
              <a:t>Analyse </a:t>
            </a:r>
            <a:r>
              <a:rPr lang="en-US" sz="2700">
                <a:solidFill>
                  <a:srgbClr val="344662"/>
                </a:solidFill>
                <a:latin typeface="Calibri"/>
                <a:ea typeface="Calibri"/>
                <a:cs typeface="Calibri"/>
                <a:sym typeface="Calibri"/>
              </a:rPr>
              <a:t>de </a:t>
            </a:r>
            <a:r>
              <a:rPr lang="en-US" sz="2700">
                <a:solidFill>
                  <a:srgbClr val="363636"/>
                </a:solidFill>
                <a:latin typeface="Calibri"/>
                <a:ea typeface="Calibri"/>
                <a:cs typeface="Calibri"/>
                <a:sym typeface="Calibri"/>
              </a:rPr>
              <a:t>Texte </a:t>
            </a:r>
            <a:r>
              <a:rPr lang="en-US" sz="2700">
                <a:solidFill>
                  <a:srgbClr val="3F3F3F"/>
                </a:solidFill>
                <a:latin typeface="Calibri"/>
                <a:ea typeface="Calibri"/>
                <a:cs typeface="Calibri"/>
                <a:sym typeface="Calibri"/>
              </a:rPr>
              <a:t>(NLP): </a:t>
            </a:r>
            <a:r>
              <a:rPr lang="en-US" sz="2700">
                <a:solidFill>
                  <a:srgbClr val="2F2F2F"/>
                </a:solidFill>
                <a:latin typeface="Calibri"/>
                <a:ea typeface="Calibri"/>
                <a:cs typeface="Calibri"/>
                <a:sym typeface="Calibri"/>
              </a:rPr>
              <a:t>Extraction </a:t>
            </a:r>
            <a:r>
              <a:rPr lang="en-US" sz="2700">
                <a:solidFill>
                  <a:srgbClr val="3A3A3A"/>
                </a:solidFill>
                <a:latin typeface="Calibri"/>
                <a:ea typeface="Calibri"/>
                <a:cs typeface="Calibri"/>
                <a:sym typeface="Calibri"/>
              </a:rPr>
              <a:t>des </a:t>
            </a:r>
            <a:r>
              <a:rPr lang="en-US" sz="2700">
                <a:solidFill>
                  <a:srgbClr val="313131"/>
                </a:solidFill>
                <a:latin typeface="Calibri"/>
                <a:ea typeface="Calibri"/>
                <a:cs typeface="Calibri"/>
                <a:sym typeface="Calibri"/>
              </a:rPr>
              <a:t>tendances </a:t>
            </a:r>
            <a:r>
              <a:rPr lang="en-US" sz="2700">
                <a:solidFill>
                  <a:srgbClr val="383838"/>
                </a:solidFill>
                <a:latin typeface="Calibri"/>
                <a:ea typeface="Calibri"/>
                <a:cs typeface="Calibri"/>
                <a:sym typeface="Calibri"/>
              </a:rPr>
              <a:t>en filtrant </a:t>
            </a:r>
            <a:r>
              <a:rPr lang="en-US" sz="2700">
                <a:solidFill>
                  <a:srgbClr val="282828"/>
                </a:solidFill>
                <a:latin typeface="Calibri"/>
                <a:ea typeface="Calibri"/>
                <a:cs typeface="Calibri"/>
                <a:sym typeface="Calibri"/>
              </a:rPr>
              <a:t>les "stopwords" </a:t>
            </a:r>
            <a:r>
              <a:rPr lang="en-US" sz="2700">
                <a:solidFill>
                  <a:srgbClr val="343434"/>
                </a:solidFill>
                <a:latin typeface="Calibri"/>
                <a:ea typeface="Calibri"/>
                <a:cs typeface="Calibri"/>
                <a:sym typeface="Calibri"/>
              </a:rPr>
              <a:t>(mots </a:t>
            </a:r>
            <a:r>
              <a:rPr lang="en-US" sz="2700">
                <a:solidFill>
                  <a:srgbClr val="363636"/>
                </a:solidFill>
                <a:latin typeface="Calibri"/>
                <a:ea typeface="Calibri"/>
                <a:cs typeface="Calibri"/>
                <a:sym typeface="Calibri"/>
              </a:rPr>
              <a:t>vides).</a:t>
            </a:r>
            <a:endParaRPr sz="2700">
              <a:latin typeface="Calibri"/>
              <a:ea typeface="Calibri"/>
              <a:cs typeface="Calibri"/>
              <a:sym typeface="Calibri"/>
            </a:endParaRPr>
          </a:p>
        </p:txBody>
      </p:sp>
      <p:sp>
        <p:nvSpPr>
          <p:cNvPr id="268" name="Google Shape;268;p15"/>
          <p:cNvSpPr txBox="1"/>
          <p:nvPr/>
        </p:nvSpPr>
        <p:spPr>
          <a:xfrm>
            <a:off x="1394199" y="8155899"/>
            <a:ext cx="8048625" cy="1533525"/>
          </a:xfrm>
          <a:prstGeom prst="rect">
            <a:avLst/>
          </a:prstGeom>
          <a:noFill/>
          <a:ln>
            <a:noFill/>
          </a:ln>
        </p:spPr>
        <p:txBody>
          <a:bodyPr anchorCtr="0" anchor="t" bIns="0" lIns="0" spcFirstLastPara="1" rIns="0" wrap="square" tIns="11425">
            <a:spAutoFit/>
          </a:bodyPr>
          <a:lstStyle/>
          <a:p>
            <a:pPr indent="-3810" lvl="0" marL="15875" marR="5080" rtl="0" algn="l">
              <a:lnSpc>
                <a:spcPct val="117800"/>
              </a:lnSpc>
              <a:spcBef>
                <a:spcPts val="0"/>
              </a:spcBef>
              <a:spcAft>
                <a:spcPts val="0"/>
              </a:spcAft>
              <a:buNone/>
            </a:pPr>
            <a:r>
              <a:rPr lang="en-US" sz="2800">
                <a:solidFill>
                  <a:srgbClr val="333333"/>
                </a:solidFill>
                <a:latin typeface="Calibri"/>
                <a:ea typeface="Calibri"/>
                <a:cs typeface="Calibri"/>
                <a:sym typeface="Calibri"/>
              </a:rPr>
              <a:t>Résultats </a:t>
            </a:r>
            <a:r>
              <a:rPr lang="en-US" sz="2800">
                <a:solidFill>
                  <a:srgbClr val="363636"/>
                </a:solidFill>
                <a:latin typeface="Calibri"/>
                <a:ea typeface="Calibri"/>
                <a:cs typeface="Calibri"/>
                <a:sym typeface="Calibri"/>
              </a:rPr>
              <a:t>: </a:t>
            </a:r>
            <a:r>
              <a:rPr lang="en-US" sz="2800">
                <a:solidFill>
                  <a:srgbClr val="2F2F2F"/>
                </a:solidFill>
                <a:latin typeface="Calibri"/>
                <a:ea typeface="Calibri"/>
                <a:cs typeface="Calibri"/>
                <a:sym typeface="Calibri"/>
              </a:rPr>
              <a:t>Génération </a:t>
            </a:r>
            <a:r>
              <a:rPr lang="en-US" sz="2800">
                <a:solidFill>
                  <a:srgbClr val="343434"/>
                </a:solidFill>
                <a:latin typeface="Calibri"/>
                <a:ea typeface="Calibri"/>
                <a:cs typeface="Calibri"/>
                <a:sym typeface="Calibri"/>
              </a:rPr>
              <a:t>de </a:t>
            </a:r>
            <a:r>
              <a:rPr lang="en-US" sz="2800">
                <a:solidFill>
                  <a:srgbClr val="2F2F2F"/>
                </a:solidFill>
                <a:latin typeface="Calibri"/>
                <a:ea typeface="Calibri"/>
                <a:cs typeface="Calibri"/>
                <a:sym typeface="Calibri"/>
              </a:rPr>
              <a:t>fichiers </a:t>
            </a:r>
            <a:r>
              <a:rPr lang="en-US" sz="2800">
                <a:solidFill>
                  <a:srgbClr val="363636"/>
                </a:solidFill>
                <a:latin typeface="Calibri"/>
                <a:ea typeface="Calibri"/>
                <a:cs typeface="Calibri"/>
                <a:sym typeface="Calibri"/>
              </a:rPr>
              <a:t>CSV </a:t>
            </a:r>
            <a:r>
              <a:rPr lang="en-US" sz="2800">
                <a:solidFill>
                  <a:srgbClr val="343434"/>
                </a:solidFill>
                <a:latin typeface="Calibri"/>
                <a:ea typeface="Calibri"/>
                <a:cs typeface="Calibri"/>
                <a:sym typeface="Calibri"/>
              </a:rPr>
              <a:t>optimisés, </a:t>
            </a:r>
            <a:r>
              <a:rPr lang="en-US" sz="2800">
                <a:solidFill>
                  <a:srgbClr val="2F2F2F"/>
                </a:solidFill>
                <a:latin typeface="Calibri"/>
                <a:ea typeface="Calibri"/>
                <a:cs typeface="Calibri"/>
                <a:sym typeface="Calibri"/>
              </a:rPr>
              <a:t>contenant </a:t>
            </a:r>
            <a:r>
              <a:rPr lang="en-US" sz="2800">
                <a:solidFill>
                  <a:srgbClr val="2D2D2D"/>
                </a:solidFill>
                <a:latin typeface="Calibri"/>
                <a:ea typeface="Calibri"/>
                <a:cs typeface="Calibri"/>
                <a:sym typeface="Calibri"/>
              </a:rPr>
              <a:t>le </a:t>
            </a:r>
            <a:r>
              <a:rPr lang="en-US" sz="2800">
                <a:solidFill>
                  <a:srgbClr val="444444"/>
                </a:solidFill>
                <a:latin typeface="Calibri"/>
                <a:ea typeface="Calibri"/>
                <a:cs typeface="Calibri"/>
                <a:sym typeface="Calibri"/>
              </a:rPr>
              <a:t>Top </a:t>
            </a:r>
            <a:r>
              <a:rPr lang="en-US" sz="2800">
                <a:solidFill>
                  <a:srgbClr val="3D3D3D"/>
                </a:solidFill>
                <a:latin typeface="Calibri"/>
                <a:ea typeface="Calibri"/>
                <a:cs typeface="Calibri"/>
                <a:sym typeface="Calibri"/>
              </a:rPr>
              <a:t>10 </a:t>
            </a:r>
            <a:r>
              <a:rPr lang="en-US" sz="2800">
                <a:solidFill>
                  <a:srgbClr val="363636"/>
                </a:solidFill>
                <a:latin typeface="Calibri"/>
                <a:ea typeface="Calibri"/>
                <a:cs typeface="Calibri"/>
                <a:sym typeface="Calibri"/>
              </a:rPr>
              <a:t>des </a:t>
            </a:r>
            <a:r>
              <a:rPr lang="en-US" sz="2800">
                <a:solidFill>
                  <a:srgbClr val="2A2A2A"/>
                </a:solidFill>
                <a:latin typeface="Calibri"/>
                <a:ea typeface="Calibri"/>
                <a:cs typeface="Calibri"/>
                <a:sym typeface="Calibri"/>
              </a:rPr>
              <a:t>auteurs </a:t>
            </a:r>
            <a:r>
              <a:rPr lang="en-US" sz="2800">
                <a:solidFill>
                  <a:srgbClr val="3A3A3A"/>
                </a:solidFill>
                <a:latin typeface="Calibri"/>
                <a:ea typeface="Calibri"/>
                <a:cs typeface="Calibri"/>
                <a:sym typeface="Calibri"/>
              </a:rPr>
              <a:t>et </a:t>
            </a:r>
            <a:r>
              <a:rPr lang="en-US" sz="2800">
                <a:solidFill>
                  <a:srgbClr val="2F2F2F"/>
                </a:solidFill>
                <a:latin typeface="Calibri"/>
                <a:ea typeface="Calibri"/>
                <a:cs typeface="Calibri"/>
                <a:sym typeface="Calibri"/>
              </a:rPr>
              <a:t>le </a:t>
            </a:r>
            <a:r>
              <a:rPr lang="en-US" sz="2800">
                <a:solidFill>
                  <a:srgbClr val="313131"/>
                </a:solidFill>
                <a:latin typeface="Calibri"/>
                <a:ea typeface="Calibri"/>
                <a:cs typeface="Calibri"/>
                <a:sym typeface="Calibri"/>
              </a:rPr>
              <a:t>Top </a:t>
            </a:r>
            <a:r>
              <a:rPr lang="en-US" sz="2800">
                <a:solidFill>
                  <a:srgbClr val="2A2A2A"/>
                </a:solidFill>
                <a:latin typeface="Calibri"/>
                <a:ea typeface="Calibri"/>
                <a:cs typeface="Calibri"/>
                <a:sym typeface="Calibri"/>
              </a:rPr>
              <a:t>20 </a:t>
            </a:r>
            <a:r>
              <a:rPr lang="en-US" sz="2800">
                <a:solidFill>
                  <a:srgbClr val="363636"/>
                </a:solidFill>
                <a:latin typeface="Calibri"/>
                <a:ea typeface="Calibri"/>
                <a:cs typeface="Calibri"/>
                <a:sym typeface="Calibri"/>
              </a:rPr>
              <a:t>des </a:t>
            </a:r>
            <a:r>
              <a:rPr lang="en-US" sz="2800">
                <a:solidFill>
                  <a:srgbClr val="2F2F2F"/>
                </a:solidFill>
                <a:latin typeface="Calibri"/>
                <a:ea typeface="Calibri"/>
                <a:cs typeface="Calibri"/>
                <a:sym typeface="Calibri"/>
              </a:rPr>
              <a:t>mots-clés </a:t>
            </a:r>
            <a:r>
              <a:rPr lang="en-US" sz="2800">
                <a:solidFill>
                  <a:srgbClr val="333333"/>
                </a:solidFill>
                <a:latin typeface="Calibri"/>
                <a:ea typeface="Calibri"/>
                <a:cs typeface="Calibri"/>
                <a:sym typeface="Calibri"/>
              </a:rPr>
              <a:t>les </a:t>
            </a:r>
            <a:r>
              <a:rPr lang="en-US" sz="2800">
                <a:solidFill>
                  <a:srgbClr val="363636"/>
                </a:solidFill>
                <a:latin typeface="Calibri"/>
                <a:ea typeface="Calibri"/>
                <a:cs typeface="Calibri"/>
                <a:sym typeface="Calibri"/>
              </a:rPr>
              <a:t>plus </a:t>
            </a:r>
            <a:r>
              <a:rPr lang="en-US" sz="2800">
                <a:solidFill>
                  <a:srgbClr val="2D2D2D"/>
                </a:solidFill>
                <a:latin typeface="Calibri"/>
                <a:ea typeface="Calibri"/>
                <a:cs typeface="Calibri"/>
                <a:sym typeface="Calibri"/>
              </a:rPr>
              <a:t>récurrents.</a:t>
            </a:r>
            <a:endParaRPr sz="2800">
              <a:latin typeface="Calibri"/>
              <a:ea typeface="Calibri"/>
              <a:cs typeface="Calibri"/>
              <a:sym typeface="Calibri"/>
            </a:endParaRPr>
          </a:p>
        </p:txBody>
      </p:sp>
      <p:pic>
        <p:nvPicPr>
          <p:cNvPr id="269" name="Google Shape;269;p15"/>
          <p:cNvPicPr preferRelativeResize="0"/>
          <p:nvPr/>
        </p:nvPicPr>
        <p:blipFill>
          <a:blip r:embed="rId3">
            <a:alphaModFix/>
          </a:blip>
          <a:stretch>
            <a:fillRect/>
          </a:stretch>
        </p:blipFill>
        <p:spPr>
          <a:xfrm>
            <a:off x="9439325" y="3358529"/>
            <a:ext cx="9753001" cy="633089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3" name="Shape 273"/>
        <p:cNvGrpSpPr/>
        <p:nvPr/>
      </p:nvGrpSpPr>
      <p:grpSpPr>
        <a:xfrm>
          <a:off x="0" y="0"/>
          <a:ext cx="0" cy="0"/>
          <a:chOff x="0" y="0"/>
          <a:chExt cx="0" cy="0"/>
        </a:xfrm>
      </p:grpSpPr>
      <p:pic>
        <p:nvPicPr>
          <p:cNvPr id="274" name="Google Shape;274;p16"/>
          <p:cNvPicPr preferRelativeResize="0"/>
          <p:nvPr/>
        </p:nvPicPr>
        <p:blipFill rotWithShape="1">
          <a:blip r:embed="rId3">
            <a:alphaModFix/>
          </a:blip>
          <a:srcRect b="0" l="0" r="0" t="0"/>
          <a:stretch/>
        </p:blipFill>
        <p:spPr>
          <a:xfrm>
            <a:off x="981645" y="4421331"/>
            <a:ext cx="117797" cy="188475"/>
          </a:xfrm>
          <a:prstGeom prst="rect">
            <a:avLst/>
          </a:prstGeom>
          <a:noFill/>
          <a:ln>
            <a:noFill/>
          </a:ln>
        </p:spPr>
      </p:pic>
      <p:pic>
        <p:nvPicPr>
          <p:cNvPr id="275" name="Google Shape;275;p16"/>
          <p:cNvPicPr preferRelativeResize="0"/>
          <p:nvPr/>
        </p:nvPicPr>
        <p:blipFill rotWithShape="1">
          <a:blip r:embed="rId4">
            <a:alphaModFix/>
          </a:blip>
          <a:srcRect b="0" l="0" r="0" t="0"/>
          <a:stretch/>
        </p:blipFill>
        <p:spPr>
          <a:xfrm>
            <a:off x="981645" y="5238060"/>
            <a:ext cx="117797" cy="188475"/>
          </a:xfrm>
          <a:prstGeom prst="rect">
            <a:avLst/>
          </a:prstGeom>
          <a:noFill/>
          <a:ln>
            <a:noFill/>
          </a:ln>
        </p:spPr>
      </p:pic>
      <p:pic>
        <p:nvPicPr>
          <p:cNvPr id="276" name="Google Shape;276;p16"/>
          <p:cNvPicPr preferRelativeResize="0"/>
          <p:nvPr/>
        </p:nvPicPr>
        <p:blipFill rotWithShape="1">
          <a:blip r:embed="rId5">
            <a:alphaModFix/>
          </a:blip>
          <a:srcRect b="0" l="0" r="0" t="0"/>
          <a:stretch/>
        </p:blipFill>
        <p:spPr>
          <a:xfrm>
            <a:off x="981645" y="7059994"/>
            <a:ext cx="117797" cy="188475"/>
          </a:xfrm>
          <a:prstGeom prst="rect">
            <a:avLst/>
          </a:prstGeom>
          <a:noFill/>
          <a:ln>
            <a:noFill/>
          </a:ln>
        </p:spPr>
      </p:pic>
      <p:pic>
        <p:nvPicPr>
          <p:cNvPr id="277" name="Google Shape;277;p16"/>
          <p:cNvPicPr preferRelativeResize="0"/>
          <p:nvPr/>
        </p:nvPicPr>
        <p:blipFill rotWithShape="1">
          <a:blip r:embed="rId6">
            <a:alphaModFix/>
          </a:blip>
          <a:srcRect b="0" l="0" r="0" t="0"/>
          <a:stretch/>
        </p:blipFill>
        <p:spPr>
          <a:xfrm>
            <a:off x="981645" y="8881928"/>
            <a:ext cx="117797" cy="188475"/>
          </a:xfrm>
          <a:prstGeom prst="rect">
            <a:avLst/>
          </a:prstGeom>
          <a:noFill/>
          <a:ln>
            <a:noFill/>
          </a:ln>
        </p:spPr>
      </p:pic>
      <p:sp>
        <p:nvSpPr>
          <p:cNvPr descr="$PPTXTitle" id="278" name="Google Shape;278;p16"/>
          <p:cNvSpPr txBox="1"/>
          <p:nvPr>
            <p:ph type="title"/>
          </p:nvPr>
        </p:nvSpPr>
        <p:spPr>
          <a:xfrm>
            <a:off x="913592" y="318441"/>
            <a:ext cx="15012418" cy="1494433"/>
          </a:xfrm>
          <a:prstGeom prst="rect">
            <a:avLst/>
          </a:prstGeom>
          <a:noFill/>
          <a:ln>
            <a:noFill/>
          </a:ln>
        </p:spPr>
        <p:txBody>
          <a:bodyPr anchorCtr="0" anchor="t" bIns="0" lIns="0" spcFirstLastPara="1" rIns="0" wrap="square" tIns="381800">
            <a:spAutoFit/>
          </a:bodyPr>
          <a:lstStyle/>
          <a:p>
            <a:pPr indent="0" lvl="0" marL="13970" rtl="0" algn="l">
              <a:lnSpc>
                <a:spcPct val="100000"/>
              </a:lnSpc>
              <a:spcBef>
                <a:spcPts val="0"/>
              </a:spcBef>
              <a:spcAft>
                <a:spcPts val="0"/>
              </a:spcAft>
              <a:buNone/>
            </a:pPr>
            <a:r>
              <a:rPr lang="en-US" sz="5800">
                <a:solidFill>
                  <a:srgbClr val="0169A3"/>
                </a:solidFill>
              </a:rPr>
              <a:t>Doto </a:t>
            </a:r>
            <a:r>
              <a:rPr lang="en-US" sz="5800">
                <a:solidFill>
                  <a:srgbClr val="0069A8"/>
                </a:solidFill>
              </a:rPr>
              <a:t>Warehouse </a:t>
            </a:r>
            <a:r>
              <a:rPr lang="en-US" sz="5800">
                <a:solidFill>
                  <a:srgbClr val="0169A3"/>
                </a:solidFill>
              </a:rPr>
              <a:t>(PostgreSQL)</a:t>
            </a:r>
            <a:endParaRPr sz="5800"/>
          </a:p>
        </p:txBody>
      </p:sp>
      <p:sp>
        <p:nvSpPr>
          <p:cNvPr id="279" name="Google Shape;279;p16"/>
          <p:cNvSpPr txBox="1"/>
          <p:nvPr/>
        </p:nvSpPr>
        <p:spPr>
          <a:xfrm>
            <a:off x="890647" y="2421781"/>
            <a:ext cx="5135245" cy="1533525"/>
          </a:xfrm>
          <a:prstGeom prst="rect">
            <a:avLst/>
          </a:prstGeom>
          <a:noFill/>
          <a:ln>
            <a:noFill/>
          </a:ln>
        </p:spPr>
        <p:txBody>
          <a:bodyPr anchorCtr="0" anchor="t" bIns="0" lIns="0" spcFirstLastPara="1" rIns="0" wrap="square" tIns="12050">
            <a:spAutoFit/>
          </a:bodyPr>
          <a:lstStyle/>
          <a:p>
            <a:pPr indent="-33020" lvl="0" marL="70485" marR="30480" rtl="0" algn="l">
              <a:lnSpc>
                <a:spcPct val="107500"/>
              </a:lnSpc>
              <a:spcBef>
                <a:spcPts val="0"/>
              </a:spcBef>
              <a:spcAft>
                <a:spcPts val="0"/>
              </a:spcAft>
              <a:buNone/>
            </a:pPr>
            <a:r>
              <a:rPr lang="en-US" sz="4600">
                <a:solidFill>
                  <a:srgbClr val="057EBF"/>
                </a:solidFill>
                <a:latin typeface="Arial"/>
                <a:ea typeface="Arial"/>
                <a:cs typeface="Arial"/>
                <a:sym typeface="Arial"/>
              </a:rPr>
              <a:t>Chorgement </a:t>
            </a:r>
            <a:r>
              <a:rPr lang="en-US" sz="4600">
                <a:solidFill>
                  <a:srgbClr val="0C7CCF"/>
                </a:solidFill>
                <a:latin typeface="Arial"/>
                <a:ea typeface="Arial"/>
                <a:cs typeface="Arial"/>
                <a:sym typeface="Arial"/>
              </a:rPr>
              <a:t>F</a:t>
            </a:r>
            <a:r>
              <a:rPr baseline="30000" lang="en-US" sz="6900">
                <a:solidFill>
                  <a:srgbClr val="0089E6"/>
                </a:solidFill>
                <a:latin typeface="Arial"/>
                <a:ea typeface="Arial"/>
                <a:cs typeface="Arial"/>
                <a:sym typeface="Arial"/>
              </a:rPr>
              <a:t>.</a:t>
            </a:r>
            <a:r>
              <a:rPr lang="en-US" sz="4600">
                <a:solidFill>
                  <a:srgbClr val="0C7CCF"/>
                </a:solidFill>
                <a:latin typeface="Arial"/>
                <a:ea typeface="Arial"/>
                <a:cs typeface="Arial"/>
                <a:sym typeface="Arial"/>
              </a:rPr>
              <a:t>inol </a:t>
            </a:r>
            <a:r>
              <a:rPr lang="en-US" sz="4600">
                <a:solidFill>
                  <a:srgbClr val="0387CF"/>
                </a:solidFill>
                <a:latin typeface="Arial"/>
                <a:ea typeface="Arial"/>
                <a:cs typeface="Arial"/>
                <a:sym typeface="Arial"/>
              </a:rPr>
              <a:t>("lood_to_dwh.py")</a:t>
            </a:r>
            <a:endParaRPr sz="4600">
              <a:latin typeface="Arial"/>
              <a:ea typeface="Arial"/>
              <a:cs typeface="Arial"/>
              <a:sym typeface="Arial"/>
            </a:endParaRPr>
          </a:p>
        </p:txBody>
      </p:sp>
      <p:graphicFrame>
        <p:nvGraphicFramePr>
          <p:cNvPr id="280" name="Google Shape;280;p16"/>
          <p:cNvGraphicFramePr/>
          <p:nvPr/>
        </p:nvGraphicFramePr>
        <p:xfrm>
          <a:off x="1372271" y="4383537"/>
          <a:ext cx="3000000" cy="3000000"/>
        </p:xfrm>
        <a:graphic>
          <a:graphicData uri="http://schemas.openxmlformats.org/drawingml/2006/table">
            <a:tbl>
              <a:tblPr bandRow="1" firstRow="1">
                <a:noFill/>
                <a:tableStyleId>{906578A3-1490-40C9-9EC2-DAE12AC14E86}</a:tableStyleId>
              </a:tblPr>
              <a:tblGrid>
                <a:gridCol w="8467100"/>
                <a:gridCol w="542925"/>
                <a:gridCol w="238125"/>
              </a:tblGrid>
              <a:tr h="573400">
                <a:tc>
                  <a:txBody>
                    <a:bodyPr/>
                    <a:lstStyle/>
                    <a:p>
                      <a:pPr indent="0" lvl="0" marL="35560" marR="0" rtl="0" algn="l">
                        <a:lnSpc>
                          <a:spcPct val="95185"/>
                        </a:lnSpc>
                        <a:spcBef>
                          <a:spcPts val="0"/>
                        </a:spcBef>
                        <a:spcAft>
                          <a:spcPts val="0"/>
                        </a:spcAft>
                        <a:buNone/>
                      </a:pPr>
                      <a:r>
                        <a:rPr lang="en-US" sz="2700" u="none" cap="none" strike="noStrike">
                          <a:solidFill>
                            <a:srgbClr val="313131"/>
                          </a:solidFill>
                          <a:latin typeface="Calibri"/>
                          <a:ea typeface="Calibri"/>
                          <a:cs typeface="Calibri"/>
                          <a:sym typeface="Calibri"/>
                        </a:rPr>
                        <a:t>Base </a:t>
                      </a:r>
                      <a:r>
                        <a:rPr lang="en-US" sz="2700" u="none" cap="none" strike="noStrike">
                          <a:solidFill>
                            <a:srgbClr val="36426B"/>
                          </a:solidFill>
                          <a:latin typeface="Calibri"/>
                          <a:ea typeface="Calibri"/>
                          <a:cs typeface="Calibri"/>
                          <a:sym typeface="Calibri"/>
                        </a:rPr>
                        <a:t>de </a:t>
                      </a:r>
                      <a:r>
                        <a:rPr lang="en-US" sz="2700" u="none" cap="none" strike="noStrike">
                          <a:solidFill>
                            <a:srgbClr val="33365E"/>
                          </a:solidFill>
                          <a:latin typeface="Calibri"/>
                          <a:ea typeface="Calibri"/>
                          <a:cs typeface="Calibri"/>
                          <a:sym typeface="Calibri"/>
                        </a:rPr>
                        <a:t>données </a:t>
                      </a:r>
                      <a:r>
                        <a:rPr lang="en-US" sz="2700" u="none" cap="none" strike="noStrike">
                          <a:solidFill>
                            <a:srgbClr val="343434"/>
                          </a:solidFill>
                          <a:latin typeface="Calibri"/>
                          <a:ea typeface="Calibri"/>
                          <a:cs typeface="Calibri"/>
                          <a:sym typeface="Calibri"/>
                        </a:rPr>
                        <a:t>: </a:t>
                      </a:r>
                      <a:r>
                        <a:rPr lang="en-US" sz="2700" u="none" cap="none" strike="noStrike">
                          <a:solidFill>
                            <a:srgbClr val="2A2A2A"/>
                          </a:solidFill>
                          <a:latin typeface="Calibri"/>
                          <a:ea typeface="Calibri"/>
                          <a:cs typeface="Calibri"/>
                          <a:sym typeface="Calibri"/>
                        </a:rPr>
                        <a:t>Instance </a:t>
                      </a:r>
                      <a:r>
                        <a:rPr lang="en-US" sz="2700" u="none" cap="none" strike="noStrike">
                          <a:solidFill>
                            <a:srgbClr val="333333"/>
                          </a:solidFill>
                          <a:latin typeface="Calibri"/>
                          <a:ea typeface="Calibri"/>
                          <a:cs typeface="Calibri"/>
                          <a:sym typeface="Calibri"/>
                        </a:rPr>
                        <a:t>PostgreSQL dédiée (”newsdw”).</a:t>
                      </a:r>
                      <a:endParaRPr sz="2700" u="none" cap="none" strike="noStrike">
                        <a:latin typeface="Calibri"/>
                        <a:ea typeface="Calibri"/>
                        <a:cs typeface="Calibri"/>
                        <a:sym typeface="Calibri"/>
                      </a:endParaRPr>
                    </a:p>
                  </a:txBody>
                  <a:tcPr marT="0" marB="0" marR="0" marL="0"/>
                </a:tc>
                <a:tc>
                  <a:txBody>
                    <a:bodyPr/>
                    <a:lstStyle/>
                    <a:p>
                      <a:pPr indent="0" lvl="0" marL="0" marR="120650" rtl="0" algn="r">
                        <a:lnSpc>
                          <a:spcPct val="95185"/>
                        </a:lnSpc>
                        <a:spcBef>
                          <a:spcPts val="0"/>
                        </a:spcBef>
                        <a:spcAft>
                          <a:spcPts val="0"/>
                        </a:spcAft>
                        <a:buNone/>
                      </a:pPr>
                      <a:r>
                        <a:rPr lang="en-US" sz="2700" u="none" cap="none" strike="noStrike">
                          <a:solidFill>
                            <a:srgbClr val="0085C4"/>
                          </a:solidFill>
                          <a:latin typeface="Calibri"/>
                          <a:ea typeface="Calibri"/>
                          <a:cs typeface="Calibri"/>
                          <a:sym typeface="Calibri"/>
                        </a:rPr>
                        <a:t>,</a:t>
                      </a:r>
                      <a:endParaRPr sz="2700" u="none" cap="none" strike="noStrike">
                        <a:latin typeface="Calibri"/>
                        <a:ea typeface="Calibri"/>
                        <a:cs typeface="Calibri"/>
                        <a:sym typeface="Calibri"/>
                      </a:endParaRPr>
                    </a:p>
                  </a:txBody>
                  <a:tcPr marT="0" marB="0" marR="0" marL="0"/>
                </a:tc>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tc>
              </a:tr>
              <a:tr h="1823725">
                <a:tc>
                  <a:txBody>
                    <a:bodyPr/>
                    <a:lstStyle/>
                    <a:p>
                      <a:pPr indent="-3810" lvl="0" marL="37465" marR="346075" rtl="0" algn="l">
                        <a:lnSpc>
                          <a:spcPct val="117800"/>
                        </a:lnSpc>
                        <a:spcBef>
                          <a:spcPts val="0"/>
                        </a:spcBef>
                        <a:spcAft>
                          <a:spcPts val="0"/>
                        </a:spcAft>
                        <a:buNone/>
                      </a:pPr>
                      <a:r>
                        <a:rPr lang="en-US" sz="2800" u="none" cap="none" strike="noStrike">
                          <a:solidFill>
                            <a:srgbClr val="2F2F2F"/>
                          </a:solidFill>
                          <a:latin typeface="Calibri"/>
                          <a:ea typeface="Calibri"/>
                          <a:cs typeface="Calibri"/>
                          <a:sym typeface="Calibri"/>
                        </a:rPr>
                        <a:t>Modélisation:Tables </a:t>
                      </a:r>
                      <a:r>
                        <a:rPr lang="en-US" sz="2800" u="none" cap="none" strike="noStrike">
                          <a:solidFill>
                            <a:srgbClr val="313131"/>
                          </a:solidFill>
                          <a:latin typeface="Calibri"/>
                          <a:ea typeface="Calibri"/>
                          <a:cs typeface="Calibri"/>
                          <a:sym typeface="Calibri"/>
                        </a:rPr>
                        <a:t>structurées </a:t>
                      </a:r>
                      <a:r>
                        <a:rPr lang="en-US" sz="2800" u="none" cap="none" strike="noStrike">
                          <a:solidFill>
                            <a:srgbClr val="2F2F2F"/>
                          </a:solidFill>
                          <a:latin typeface="Calibri"/>
                          <a:ea typeface="Calibri"/>
                          <a:cs typeface="Calibri"/>
                          <a:sym typeface="Calibri"/>
                        </a:rPr>
                        <a:t>pour </a:t>
                      </a:r>
                      <a:r>
                        <a:rPr lang="en-US" sz="2800" u="none" cap="none" strike="noStrike">
                          <a:solidFill>
                            <a:srgbClr val="313131"/>
                          </a:solidFill>
                          <a:latin typeface="Calibri"/>
                          <a:ea typeface="Calibri"/>
                          <a:cs typeface="Calibri"/>
                          <a:sym typeface="Calibri"/>
                        </a:rPr>
                        <a:t>accueillir </a:t>
                      </a:r>
                      <a:r>
                        <a:rPr lang="en-US" sz="2800" u="none" cap="none" strike="noStrike">
                          <a:solidFill>
                            <a:srgbClr val="363636"/>
                          </a:solidFill>
                          <a:latin typeface="Calibri"/>
                          <a:ea typeface="Calibri"/>
                          <a:cs typeface="Calibri"/>
                          <a:sym typeface="Calibri"/>
                        </a:rPr>
                        <a:t>les </a:t>
                      </a:r>
                      <a:r>
                        <a:rPr lang="en-US" sz="2800" u="none" cap="none" strike="noStrike">
                          <a:solidFill>
                            <a:srgbClr val="2D2D2D"/>
                          </a:solidFill>
                          <a:latin typeface="Calibri"/>
                          <a:ea typeface="Calibri"/>
                          <a:cs typeface="Calibri"/>
                          <a:sym typeface="Calibri"/>
                        </a:rPr>
                        <a:t>métriques </a:t>
                      </a:r>
                      <a:r>
                        <a:rPr lang="en-US" sz="2800" u="none" cap="none" strike="noStrike">
                          <a:solidFill>
                            <a:srgbClr val="363636"/>
                          </a:solidFill>
                          <a:latin typeface="Calibri"/>
                          <a:ea typeface="Calibri"/>
                          <a:cs typeface="Calibri"/>
                          <a:sym typeface="Calibri"/>
                        </a:rPr>
                        <a:t>Gold </a:t>
                      </a:r>
                      <a:r>
                        <a:rPr lang="en-US" sz="2800" u="none" cap="none" strike="noStrike">
                          <a:solidFill>
                            <a:srgbClr val="343434"/>
                          </a:solidFill>
                          <a:latin typeface="Calibri"/>
                          <a:ea typeface="Calibri"/>
                          <a:cs typeface="Calibri"/>
                          <a:sym typeface="Calibri"/>
                        </a:rPr>
                        <a:t>(articles consolidés, </a:t>
                      </a:r>
                      <a:r>
                        <a:rPr lang="en-US" sz="2800" u="none" cap="none" strike="noStrike">
                          <a:solidFill>
                            <a:srgbClr val="383838"/>
                          </a:solidFill>
                          <a:latin typeface="Calibri"/>
                          <a:ea typeface="Calibri"/>
                          <a:cs typeface="Calibri"/>
                          <a:sym typeface="Calibri"/>
                        </a:rPr>
                        <a:t>top </a:t>
                      </a:r>
                      <a:r>
                        <a:rPr lang="en-US" sz="2800" u="none" cap="none" strike="noStrike">
                          <a:solidFill>
                            <a:srgbClr val="2F2F2F"/>
                          </a:solidFill>
                          <a:latin typeface="Calibri"/>
                          <a:ea typeface="Calibri"/>
                          <a:cs typeface="Calibri"/>
                          <a:sym typeface="Calibri"/>
                        </a:rPr>
                        <a:t>auteurs, </a:t>
                      </a:r>
                      <a:r>
                        <a:rPr lang="en-US" sz="2800" u="none" cap="none" strike="noStrike">
                          <a:solidFill>
                            <a:srgbClr val="242424"/>
                          </a:solidFill>
                          <a:latin typeface="Calibri"/>
                          <a:ea typeface="Calibri"/>
                          <a:cs typeface="Calibri"/>
                          <a:sym typeface="Calibri"/>
                        </a:rPr>
                        <a:t>statistiques </a:t>
                      </a:r>
                      <a:r>
                        <a:rPr lang="en-US" sz="2800" u="none" cap="none" strike="noStrike">
                          <a:solidFill>
                            <a:srgbClr val="3D3D3D"/>
                          </a:solidFill>
                          <a:latin typeface="Calibri"/>
                          <a:ea typeface="Calibri"/>
                          <a:cs typeface="Calibri"/>
                          <a:sym typeface="Calibri"/>
                        </a:rPr>
                        <a:t>par </a:t>
                      </a:r>
                      <a:r>
                        <a:rPr lang="en-US" sz="2800" u="none" cap="none" strike="noStrike">
                          <a:solidFill>
                            <a:srgbClr val="313131"/>
                          </a:solidFill>
                          <a:latin typeface="Calibri"/>
                          <a:ea typeface="Calibri"/>
                          <a:cs typeface="Calibri"/>
                          <a:sym typeface="Calibri"/>
                        </a:rPr>
                        <a:t>mots-clés).</a:t>
                      </a:r>
                      <a:endParaRPr sz="2800" u="none" cap="none" strike="noStrike">
                        <a:latin typeface="Calibri"/>
                        <a:ea typeface="Calibri"/>
                        <a:cs typeface="Calibri"/>
                        <a:sym typeface="Calibri"/>
                      </a:endParaRPr>
                    </a:p>
                  </a:txBody>
                  <a:tcPr marT="68575" marB="0" marR="0" marL="0"/>
                </a:tc>
                <a:tc>
                  <a:txBody>
                    <a:bodyPr/>
                    <a:lstStyle/>
                    <a:p>
                      <a:pPr indent="0" lvl="0" marL="0" marR="0" rtl="0" algn="l">
                        <a:lnSpc>
                          <a:spcPct val="100000"/>
                        </a:lnSpc>
                        <a:spcBef>
                          <a:spcPts val="0"/>
                        </a:spcBef>
                        <a:spcAft>
                          <a:spcPts val="0"/>
                        </a:spcAft>
                        <a:buNone/>
                      </a:pPr>
                      <a:r>
                        <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2615"/>
                        </a:spcBef>
                        <a:spcAft>
                          <a:spcPts val="0"/>
                        </a:spcAft>
                        <a:buNone/>
                      </a:pPr>
                      <a:r>
                        <a:t/>
                      </a:r>
                      <a:endParaRPr sz="2800" u="none" cap="none" strike="noStrike">
                        <a:latin typeface="Times New Roman"/>
                        <a:ea typeface="Times New Roman"/>
                        <a:cs typeface="Times New Roman"/>
                        <a:sym typeface="Times New Roman"/>
                      </a:endParaRPr>
                    </a:p>
                    <a:p>
                      <a:pPr indent="0" lvl="0" marL="0" marR="135890" rtl="0" algn="r">
                        <a:lnSpc>
                          <a:spcPct val="100000"/>
                        </a:lnSpc>
                        <a:spcBef>
                          <a:spcPts val="0"/>
                        </a:spcBef>
                        <a:spcAft>
                          <a:spcPts val="0"/>
                        </a:spcAft>
                        <a:buNone/>
                      </a:pPr>
                      <a:r>
                        <a:rPr lang="en-US" sz="2800" u="none" cap="none" strike="noStrike">
                          <a:solidFill>
                            <a:srgbClr val="0583BD"/>
                          </a:solidFill>
                          <a:latin typeface="Calibri"/>
                          <a:ea typeface="Calibri"/>
                          <a:cs typeface="Calibri"/>
                          <a:sym typeface="Calibri"/>
                        </a:rPr>
                        <a:t>,</a:t>
                      </a:r>
                      <a:endParaRPr sz="2800" u="none" cap="none" strike="noStrike">
                        <a:latin typeface="Calibri"/>
                        <a:ea typeface="Calibri"/>
                        <a:cs typeface="Calibri"/>
                        <a:sym typeface="Calibri"/>
                      </a:endParaRPr>
                    </a:p>
                  </a:txBody>
                  <a:tcPr marT="0" marB="0" marR="0" marL="0"/>
                </a:tc>
                <a:tc>
                  <a:txBody>
                    <a:bodyPr/>
                    <a:lstStyle/>
                    <a:p>
                      <a:pPr indent="0" lvl="0" marL="128270" marR="0" rtl="0" algn="l">
                        <a:lnSpc>
                          <a:spcPct val="100000"/>
                        </a:lnSpc>
                        <a:spcBef>
                          <a:spcPts val="0"/>
                        </a:spcBef>
                        <a:spcAft>
                          <a:spcPts val="0"/>
                        </a:spcAft>
                        <a:buNone/>
                      </a:pPr>
                      <a:r>
                        <a:rPr lang="en-US" sz="2800" u="none" cap="none" strike="noStrike">
                          <a:solidFill>
                            <a:srgbClr val="0082BF"/>
                          </a:solidFill>
                          <a:latin typeface="Calibri"/>
                          <a:ea typeface="Calibri"/>
                          <a:cs typeface="Calibri"/>
                          <a:sym typeface="Calibri"/>
                        </a:rPr>
                        <a:t>;</a:t>
                      </a:r>
                      <a:endParaRPr sz="2800" u="none" cap="none" strike="noStrike">
                        <a:latin typeface="Calibri"/>
                        <a:ea typeface="Calibri"/>
                        <a:cs typeface="Calibri"/>
                        <a:sym typeface="Calibri"/>
                      </a:endParaRPr>
                    </a:p>
                  </a:txBody>
                  <a:tcPr marT="144775" marB="0" marR="0" marL="0"/>
                </a:tc>
              </a:tr>
              <a:tr h="1821825">
                <a:tc>
                  <a:txBody>
                    <a:bodyPr/>
                    <a:lstStyle/>
                    <a:p>
                      <a:pPr indent="-3175" lvl="0" marL="34290" marR="780415" rtl="0" algn="l">
                        <a:lnSpc>
                          <a:spcPct val="117800"/>
                        </a:lnSpc>
                        <a:spcBef>
                          <a:spcPts val="0"/>
                        </a:spcBef>
                        <a:spcAft>
                          <a:spcPts val="0"/>
                        </a:spcAft>
                        <a:buNone/>
                      </a:pPr>
                      <a:r>
                        <a:rPr lang="en-US" sz="2800" u="none" cap="none" strike="noStrike">
                          <a:solidFill>
                            <a:srgbClr val="3B3B3B"/>
                          </a:solidFill>
                          <a:latin typeface="Calibri"/>
                          <a:ea typeface="Calibri"/>
                          <a:cs typeface="Calibri"/>
                          <a:sym typeface="Calibri"/>
                        </a:rPr>
                        <a:t>ORM </a:t>
                      </a:r>
                      <a:r>
                        <a:rPr lang="en-US" sz="2800" u="none" cap="none" strike="noStrike">
                          <a:solidFill>
                            <a:srgbClr val="2D4256"/>
                          </a:solidFill>
                          <a:latin typeface="Calibri"/>
                          <a:ea typeface="Calibri"/>
                          <a:cs typeface="Calibri"/>
                          <a:sym typeface="Calibri"/>
                        </a:rPr>
                        <a:t>: </a:t>
                      </a:r>
                      <a:r>
                        <a:rPr lang="en-US" sz="2800" u="none" cap="none" strike="noStrike">
                          <a:solidFill>
                            <a:srgbClr val="313131"/>
                          </a:solidFill>
                          <a:latin typeface="Calibri"/>
                          <a:ea typeface="Calibri"/>
                          <a:cs typeface="Calibri"/>
                          <a:sym typeface="Calibri"/>
                        </a:rPr>
                        <a:t>Intégration </a:t>
                      </a:r>
                      <a:r>
                        <a:rPr lang="en-US" sz="2800" u="none" cap="none" strike="noStrike">
                          <a:solidFill>
                            <a:srgbClr val="363636"/>
                          </a:solidFill>
                          <a:latin typeface="Calibri"/>
                          <a:ea typeface="Calibri"/>
                          <a:cs typeface="Calibri"/>
                          <a:sym typeface="Calibri"/>
                        </a:rPr>
                        <a:t>de </a:t>
                      </a:r>
                      <a:r>
                        <a:rPr lang="en-US" sz="2800" u="none" cap="none" strike="noStrike">
                          <a:solidFill>
                            <a:srgbClr val="383838"/>
                          </a:solidFill>
                          <a:latin typeface="Calibri"/>
                          <a:ea typeface="Calibri"/>
                          <a:cs typeface="Calibri"/>
                          <a:sym typeface="Calibri"/>
                        </a:rPr>
                        <a:t>SQLAlchemy </a:t>
                      </a:r>
                      <a:r>
                        <a:rPr lang="en-US" sz="2800" u="none" cap="none" strike="noStrike">
                          <a:solidFill>
                            <a:srgbClr val="363636"/>
                          </a:solidFill>
                          <a:latin typeface="Calibri"/>
                          <a:ea typeface="Calibri"/>
                          <a:cs typeface="Calibri"/>
                          <a:sym typeface="Calibri"/>
                        </a:rPr>
                        <a:t>pour </a:t>
                      </a:r>
                      <a:r>
                        <a:rPr lang="en-US" sz="2800" u="none" cap="none" strike="noStrike">
                          <a:solidFill>
                            <a:srgbClr val="333333"/>
                          </a:solidFill>
                          <a:latin typeface="Calibri"/>
                          <a:ea typeface="Calibri"/>
                          <a:cs typeface="Calibri"/>
                          <a:sym typeface="Calibri"/>
                        </a:rPr>
                        <a:t>une gestion </a:t>
                      </a:r>
                      <a:r>
                        <a:rPr lang="en-US" sz="2800" u="none" cap="none" strike="noStrike">
                          <a:solidFill>
                            <a:srgbClr val="2D2D2D"/>
                          </a:solidFill>
                          <a:latin typeface="Calibri"/>
                          <a:ea typeface="Calibri"/>
                          <a:cs typeface="Calibri"/>
                          <a:sym typeface="Calibri"/>
                        </a:rPr>
                        <a:t>sécurisée </a:t>
                      </a:r>
                      <a:r>
                        <a:rPr lang="en-US" sz="2800" u="none" cap="none" strike="noStrike">
                          <a:solidFill>
                            <a:srgbClr val="2F2F2F"/>
                          </a:solidFill>
                          <a:latin typeface="Calibri"/>
                          <a:ea typeface="Calibri"/>
                          <a:cs typeface="Calibri"/>
                          <a:sym typeface="Calibri"/>
                        </a:rPr>
                        <a:t>et </a:t>
                      </a:r>
                      <a:r>
                        <a:rPr lang="en-US" sz="2800" u="none" cap="none" strike="noStrike">
                          <a:solidFill>
                            <a:srgbClr val="313131"/>
                          </a:solidFill>
                          <a:latin typeface="Calibri"/>
                          <a:ea typeface="Calibri"/>
                          <a:cs typeface="Calibri"/>
                          <a:sym typeface="Calibri"/>
                        </a:rPr>
                        <a:t>performante </a:t>
                      </a:r>
                      <a:r>
                        <a:rPr lang="en-US" sz="2800" u="none" cap="none" strike="noStrike">
                          <a:solidFill>
                            <a:srgbClr val="363636"/>
                          </a:solidFill>
                          <a:latin typeface="Calibri"/>
                          <a:ea typeface="Calibri"/>
                          <a:cs typeface="Calibri"/>
                          <a:sym typeface="Calibri"/>
                        </a:rPr>
                        <a:t>des insertions SQL(gestion </a:t>
                      </a:r>
                      <a:r>
                        <a:rPr lang="en-US" sz="2800" u="none" cap="none" strike="noStrike">
                          <a:solidFill>
                            <a:srgbClr val="2F2F2F"/>
                          </a:solidFill>
                          <a:latin typeface="Calibri"/>
                          <a:ea typeface="Calibri"/>
                          <a:cs typeface="Calibri"/>
                          <a:sym typeface="Calibri"/>
                        </a:rPr>
                        <a:t>des </a:t>
                      </a:r>
                      <a:r>
                        <a:rPr lang="en-US" sz="2800" u="none" cap="none" strike="noStrike">
                          <a:solidFill>
                            <a:srgbClr val="2D2D2D"/>
                          </a:solidFill>
                          <a:latin typeface="Calibri"/>
                          <a:ea typeface="Calibri"/>
                          <a:cs typeface="Calibri"/>
                          <a:sym typeface="Calibri"/>
                        </a:rPr>
                        <a:t>sessions </a:t>
                      </a:r>
                      <a:r>
                        <a:rPr lang="en-US" sz="2800" u="none" cap="none" strike="noStrike">
                          <a:solidFill>
                            <a:srgbClr val="313131"/>
                          </a:solidFill>
                          <a:latin typeface="Calibri"/>
                          <a:ea typeface="Calibri"/>
                          <a:cs typeface="Calibri"/>
                          <a:sym typeface="Calibri"/>
                        </a:rPr>
                        <a:t>et des </a:t>
                      </a:r>
                      <a:r>
                        <a:rPr lang="en-US" sz="2800" u="none" cap="none" strike="noStrike">
                          <a:solidFill>
                            <a:srgbClr val="2F2F2F"/>
                          </a:solidFill>
                          <a:latin typeface="Calibri"/>
                          <a:ea typeface="Calibri"/>
                          <a:cs typeface="Calibri"/>
                          <a:sym typeface="Calibri"/>
                        </a:rPr>
                        <a:t>commits).</a:t>
                      </a:r>
                      <a:endParaRPr sz="2800" u="none" cap="none" strike="noStrike">
                        <a:latin typeface="Calibri"/>
                        <a:ea typeface="Calibri"/>
                        <a:cs typeface="Calibri"/>
                        <a:sym typeface="Calibri"/>
                      </a:endParaRPr>
                    </a:p>
                  </a:txBody>
                  <a:tcPr marT="66675" marB="0" marR="0" marL="0"/>
                </a:tc>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tc>
                <a:tc>
                  <a:txBody>
                    <a:bodyPr/>
                    <a:lstStyle/>
                    <a:p>
                      <a:pPr indent="0" lvl="0" marL="133350" marR="0" rtl="0" algn="l">
                        <a:lnSpc>
                          <a:spcPct val="100000"/>
                        </a:lnSpc>
                        <a:spcBef>
                          <a:spcPts val="0"/>
                        </a:spcBef>
                        <a:spcAft>
                          <a:spcPts val="0"/>
                        </a:spcAft>
                        <a:buNone/>
                      </a:pPr>
                      <a:r>
                        <a:rPr lang="en-US" sz="2800" u="none" cap="none" strike="noStrike">
                          <a:solidFill>
                            <a:srgbClr val="0A7CBF"/>
                          </a:solidFill>
                          <a:latin typeface="Calibri"/>
                          <a:ea typeface="Calibri"/>
                          <a:cs typeface="Calibri"/>
                          <a:sym typeface="Calibri"/>
                        </a:rPr>
                        <a:t>,</a:t>
                      </a:r>
                      <a:endParaRPr sz="2800" u="none" cap="none" strike="noStrike">
                        <a:latin typeface="Calibri"/>
                        <a:ea typeface="Calibri"/>
                        <a:cs typeface="Calibri"/>
                        <a:sym typeface="Calibri"/>
                      </a:endParaRPr>
                    </a:p>
                    <a:p>
                      <a:pPr indent="0" lvl="0" marL="0" marR="0" rtl="0" algn="l">
                        <a:lnSpc>
                          <a:spcPct val="100000"/>
                        </a:lnSpc>
                        <a:spcBef>
                          <a:spcPts val="1330"/>
                        </a:spcBef>
                        <a:spcAft>
                          <a:spcPts val="0"/>
                        </a:spcAft>
                        <a:buNone/>
                      </a:pPr>
                      <a:r>
                        <a:t/>
                      </a:r>
                      <a:endParaRPr sz="2800" u="none" cap="none" strike="noStrike">
                        <a:latin typeface="Times New Roman"/>
                        <a:ea typeface="Times New Roman"/>
                        <a:cs typeface="Times New Roman"/>
                        <a:sym typeface="Times New Roman"/>
                      </a:endParaRPr>
                    </a:p>
                    <a:p>
                      <a:pPr indent="0" lvl="0" marL="133350" marR="0" rtl="0" algn="l">
                        <a:lnSpc>
                          <a:spcPct val="100000"/>
                        </a:lnSpc>
                        <a:spcBef>
                          <a:spcPts val="5"/>
                        </a:spcBef>
                        <a:spcAft>
                          <a:spcPts val="0"/>
                        </a:spcAft>
                        <a:buNone/>
                      </a:pPr>
                      <a:r>
                        <a:rPr lang="en-US" sz="2800" u="none" cap="none" strike="noStrike">
                          <a:solidFill>
                            <a:srgbClr val="017CBF"/>
                          </a:solidFill>
                          <a:latin typeface="Calibri"/>
                          <a:ea typeface="Calibri"/>
                          <a:cs typeface="Calibri"/>
                          <a:sym typeface="Calibri"/>
                        </a:rPr>
                        <a:t>,</a:t>
                      </a:r>
                      <a:endParaRPr sz="2800" u="none" cap="none" strike="noStrike">
                        <a:latin typeface="Calibri"/>
                        <a:ea typeface="Calibri"/>
                        <a:cs typeface="Calibri"/>
                        <a:sym typeface="Calibri"/>
                      </a:endParaRPr>
                    </a:p>
                  </a:txBody>
                  <a:tcPr marT="142875" marB="0" marR="0" marL="0"/>
                </a:tc>
              </a:tr>
              <a:tr h="1593225">
                <a:tc>
                  <a:txBody>
                    <a:bodyPr/>
                    <a:lstStyle/>
                    <a:p>
                      <a:pPr indent="1270" lvl="0" marL="33020" marR="1075055" rtl="0" algn="just">
                        <a:lnSpc>
                          <a:spcPct val="117800"/>
                        </a:lnSpc>
                        <a:spcBef>
                          <a:spcPts val="0"/>
                        </a:spcBef>
                        <a:spcAft>
                          <a:spcPts val="0"/>
                        </a:spcAft>
                        <a:buNone/>
                      </a:pPr>
                      <a:r>
                        <a:rPr lang="en-US" sz="2800" u="none" cap="none" strike="noStrike">
                          <a:solidFill>
                            <a:srgbClr val="3B4D60"/>
                          </a:solidFill>
                          <a:latin typeface="Calibri"/>
                          <a:ea typeface="Calibri"/>
                          <a:cs typeface="Calibri"/>
                          <a:sym typeface="Calibri"/>
                        </a:rPr>
                        <a:t>Accessibilité </a:t>
                      </a:r>
                      <a:r>
                        <a:rPr lang="en-US" sz="2800" u="none" cap="none" strike="noStrike">
                          <a:solidFill>
                            <a:srgbClr val="383838"/>
                          </a:solidFill>
                          <a:latin typeface="Calibri"/>
                          <a:ea typeface="Calibri"/>
                          <a:cs typeface="Calibri"/>
                          <a:sym typeface="Calibri"/>
                        </a:rPr>
                        <a:t>: </a:t>
                      </a:r>
                      <a:r>
                        <a:rPr lang="en-US" sz="2800" u="none" cap="none" strike="noStrike">
                          <a:solidFill>
                            <a:srgbClr val="282828"/>
                          </a:solidFill>
                          <a:latin typeface="Calibri"/>
                          <a:ea typeface="Calibri"/>
                          <a:cs typeface="Calibri"/>
                          <a:sym typeface="Calibri"/>
                        </a:rPr>
                        <a:t>Données </a:t>
                      </a:r>
                      <a:r>
                        <a:rPr lang="en-US" sz="2800" u="none" cap="none" strike="noStrike">
                          <a:solidFill>
                            <a:srgbClr val="313131"/>
                          </a:solidFill>
                          <a:latin typeface="Calibri"/>
                          <a:ea typeface="Calibri"/>
                          <a:cs typeface="Calibri"/>
                          <a:sym typeface="Calibri"/>
                        </a:rPr>
                        <a:t>désormais </a:t>
                      </a:r>
                      <a:r>
                        <a:rPr lang="en-US" sz="2800" u="none" cap="none" strike="noStrike">
                          <a:solidFill>
                            <a:srgbClr val="2F2F2F"/>
                          </a:solidFill>
                          <a:latin typeface="Calibri"/>
                          <a:ea typeface="Calibri"/>
                          <a:cs typeface="Calibri"/>
                          <a:sym typeface="Calibri"/>
                        </a:rPr>
                        <a:t>requêtables </a:t>
                      </a:r>
                      <a:r>
                        <a:rPr lang="en-US" sz="2800" u="none" cap="none" strike="noStrike">
                          <a:solidFill>
                            <a:srgbClr val="343434"/>
                          </a:solidFill>
                          <a:latin typeface="Calibri"/>
                          <a:ea typeface="Calibri"/>
                          <a:cs typeface="Calibri"/>
                          <a:sym typeface="Calibri"/>
                        </a:rPr>
                        <a:t>en </a:t>
                      </a:r>
                      <a:r>
                        <a:rPr lang="en-US" sz="2800" u="none" cap="none" strike="noStrike">
                          <a:solidFill>
                            <a:srgbClr val="383838"/>
                          </a:solidFill>
                          <a:latin typeface="Calibri"/>
                          <a:ea typeface="Calibri"/>
                          <a:cs typeface="Calibri"/>
                          <a:sym typeface="Calibri"/>
                        </a:rPr>
                        <a:t>SQL </a:t>
                      </a:r>
                      <a:r>
                        <a:rPr lang="en-US" sz="2800" u="none" cap="none" strike="noStrike">
                          <a:solidFill>
                            <a:srgbClr val="2D2D2D"/>
                          </a:solidFill>
                          <a:latin typeface="Calibri"/>
                          <a:ea typeface="Calibri"/>
                          <a:cs typeface="Calibri"/>
                          <a:sym typeface="Calibri"/>
                        </a:rPr>
                        <a:t>classique </a:t>
                      </a:r>
                      <a:r>
                        <a:rPr lang="en-US" sz="2800" u="none" cap="none" strike="noStrike">
                          <a:solidFill>
                            <a:srgbClr val="363636"/>
                          </a:solidFill>
                          <a:latin typeface="Calibri"/>
                          <a:ea typeface="Calibri"/>
                          <a:cs typeface="Calibri"/>
                          <a:sym typeface="Calibri"/>
                        </a:rPr>
                        <a:t>pour </a:t>
                      </a:r>
                      <a:r>
                        <a:rPr lang="en-US" sz="2800" u="none" cap="none" strike="noStrike">
                          <a:solidFill>
                            <a:srgbClr val="313131"/>
                          </a:solidFill>
                          <a:latin typeface="Calibri"/>
                          <a:ea typeface="Calibri"/>
                          <a:cs typeface="Calibri"/>
                          <a:sym typeface="Calibri"/>
                        </a:rPr>
                        <a:t>tout outil </a:t>
                      </a:r>
                      <a:r>
                        <a:rPr lang="en-US" sz="2800" u="none" cap="none" strike="noStrike">
                          <a:solidFill>
                            <a:srgbClr val="363636"/>
                          </a:solidFill>
                          <a:latin typeface="Calibri"/>
                          <a:ea typeface="Calibri"/>
                          <a:cs typeface="Calibri"/>
                          <a:sym typeface="Calibri"/>
                        </a:rPr>
                        <a:t>de </a:t>
                      </a:r>
                      <a:r>
                        <a:rPr lang="en-US" sz="2800" u="none" cap="none" strike="noStrike">
                          <a:solidFill>
                            <a:srgbClr val="313131"/>
                          </a:solidFill>
                          <a:latin typeface="Calibri"/>
                          <a:ea typeface="Calibri"/>
                          <a:cs typeface="Calibri"/>
                          <a:sym typeface="Calibri"/>
                        </a:rPr>
                        <a:t>Dataviz </a:t>
                      </a:r>
                      <a:r>
                        <a:rPr lang="en-US" sz="2800" u="none" cap="none" strike="noStrike">
                          <a:solidFill>
                            <a:srgbClr val="343434"/>
                          </a:solidFill>
                          <a:latin typeface="Calibri"/>
                          <a:ea typeface="Calibri"/>
                          <a:cs typeface="Calibri"/>
                          <a:sym typeface="Calibri"/>
                        </a:rPr>
                        <a:t>(Tableau, </a:t>
                      </a:r>
                      <a:r>
                        <a:rPr lang="en-US" sz="2800" u="none" cap="none" strike="noStrike">
                          <a:solidFill>
                            <a:srgbClr val="2F2F2F"/>
                          </a:solidFill>
                          <a:latin typeface="Calibri"/>
                          <a:ea typeface="Calibri"/>
                          <a:cs typeface="Calibri"/>
                          <a:sym typeface="Calibri"/>
                        </a:rPr>
                        <a:t>PowerBl, </a:t>
                      </a:r>
                      <a:r>
                        <a:rPr lang="en-US" sz="2800" u="none" cap="none" strike="noStrike">
                          <a:solidFill>
                            <a:srgbClr val="282828"/>
                          </a:solidFill>
                          <a:latin typeface="Calibri"/>
                          <a:ea typeface="Calibri"/>
                          <a:cs typeface="Calibri"/>
                          <a:sym typeface="Calibri"/>
                        </a:rPr>
                        <a:t>Metabase).</a:t>
                      </a:r>
                      <a:endParaRPr sz="2800" u="none" cap="none" strike="noStrike">
                        <a:latin typeface="Calibri"/>
                        <a:ea typeface="Calibri"/>
                        <a:cs typeface="Calibri"/>
                        <a:sym typeface="Calibri"/>
                      </a:endParaRPr>
                    </a:p>
                  </a:txBody>
                  <a:tcPr marT="66675" marB="0" marR="0" marL="0"/>
                </a:tc>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tc>
              </a:tr>
            </a:tbl>
          </a:graphicData>
        </a:graphic>
      </p:graphicFrame>
      <p:sp>
        <p:nvSpPr>
          <p:cNvPr id="281" name="Google Shape;281;p16"/>
          <p:cNvSpPr txBox="1"/>
          <p:nvPr/>
        </p:nvSpPr>
        <p:spPr>
          <a:xfrm>
            <a:off x="19096177" y="6627804"/>
            <a:ext cx="97790" cy="657860"/>
          </a:xfrm>
          <a:prstGeom prst="rect">
            <a:avLst/>
          </a:prstGeom>
          <a:noFill/>
          <a:ln>
            <a:noFill/>
          </a:ln>
        </p:spPr>
        <p:txBody>
          <a:bodyPr anchorCtr="0" anchor="t" bIns="0" lIns="0" spcFirstLastPara="1" rIns="0" wrap="square" tIns="11425">
            <a:spAutoFit/>
          </a:bodyPr>
          <a:lstStyle/>
          <a:p>
            <a:pPr indent="0" lvl="0" marL="12700" rtl="0" algn="l">
              <a:lnSpc>
                <a:spcPct val="113409"/>
              </a:lnSpc>
              <a:spcBef>
                <a:spcPts val="0"/>
              </a:spcBef>
              <a:spcAft>
                <a:spcPts val="0"/>
              </a:spcAft>
              <a:buNone/>
            </a:pPr>
            <a:r>
              <a:rPr lang="en-US" sz="2200">
                <a:solidFill>
                  <a:srgbClr val="007BD1"/>
                </a:solidFill>
                <a:latin typeface="Calibri"/>
                <a:ea typeface="Calibri"/>
                <a:cs typeface="Calibri"/>
                <a:sym typeface="Calibri"/>
              </a:rPr>
              <a:t>,</a:t>
            </a:r>
            <a:endParaRPr sz="2200">
              <a:latin typeface="Calibri"/>
              <a:ea typeface="Calibri"/>
              <a:cs typeface="Calibri"/>
              <a:sym typeface="Calibri"/>
            </a:endParaRPr>
          </a:p>
          <a:p>
            <a:pPr indent="0" lvl="0" marL="12700" rtl="0" algn="l">
              <a:lnSpc>
                <a:spcPct val="113409"/>
              </a:lnSpc>
              <a:spcBef>
                <a:spcPts val="0"/>
              </a:spcBef>
              <a:spcAft>
                <a:spcPts val="0"/>
              </a:spcAft>
              <a:buNone/>
            </a:pPr>
            <a:r>
              <a:rPr lang="en-US" sz="2200">
                <a:solidFill>
                  <a:srgbClr val="0A80C4"/>
                </a:solidFill>
                <a:latin typeface="Calibri"/>
                <a:ea typeface="Calibri"/>
                <a:cs typeface="Calibri"/>
                <a:sym typeface="Calibri"/>
              </a:rPr>
              <a:t>,</a:t>
            </a:r>
            <a:endParaRPr sz="2200">
              <a:latin typeface="Calibri"/>
              <a:ea typeface="Calibri"/>
              <a:cs typeface="Calibri"/>
              <a:sym typeface="Calibri"/>
            </a:endParaRPr>
          </a:p>
        </p:txBody>
      </p:sp>
      <p:pic>
        <p:nvPicPr>
          <p:cNvPr id="282" name="Google Shape;282;p16"/>
          <p:cNvPicPr preferRelativeResize="0"/>
          <p:nvPr/>
        </p:nvPicPr>
        <p:blipFill>
          <a:blip r:embed="rId7">
            <a:alphaModFix/>
          </a:blip>
          <a:stretch>
            <a:fillRect/>
          </a:stretch>
        </p:blipFill>
        <p:spPr>
          <a:xfrm>
            <a:off x="10181625" y="4383525"/>
            <a:ext cx="9248148" cy="5130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6" name="Shape 286"/>
        <p:cNvGrpSpPr/>
        <p:nvPr/>
      </p:nvGrpSpPr>
      <p:grpSpPr>
        <a:xfrm>
          <a:off x="0" y="0"/>
          <a:ext cx="0" cy="0"/>
          <a:chOff x="0" y="0"/>
          <a:chExt cx="0" cy="0"/>
        </a:xfrm>
      </p:grpSpPr>
      <p:pic>
        <p:nvPicPr>
          <p:cNvPr id="287" name="Google Shape;287;p17"/>
          <p:cNvPicPr preferRelativeResize="0"/>
          <p:nvPr/>
        </p:nvPicPr>
        <p:blipFill rotWithShape="1">
          <a:blip r:embed="rId3">
            <a:alphaModFix/>
          </a:blip>
          <a:srcRect b="0" l="0" r="0" t="0"/>
          <a:stretch/>
        </p:blipFill>
        <p:spPr>
          <a:xfrm>
            <a:off x="981645" y="4012966"/>
            <a:ext cx="117797" cy="188475"/>
          </a:xfrm>
          <a:prstGeom prst="rect">
            <a:avLst/>
          </a:prstGeom>
          <a:noFill/>
          <a:ln>
            <a:noFill/>
          </a:ln>
        </p:spPr>
      </p:pic>
      <p:pic>
        <p:nvPicPr>
          <p:cNvPr id="288" name="Google Shape;288;p17"/>
          <p:cNvPicPr preferRelativeResize="0"/>
          <p:nvPr/>
        </p:nvPicPr>
        <p:blipFill rotWithShape="1">
          <a:blip r:embed="rId4">
            <a:alphaModFix/>
          </a:blip>
          <a:srcRect b="0" l="0" r="0" t="0"/>
          <a:stretch/>
        </p:blipFill>
        <p:spPr>
          <a:xfrm>
            <a:off x="981645" y="5332298"/>
            <a:ext cx="117797" cy="188475"/>
          </a:xfrm>
          <a:prstGeom prst="rect">
            <a:avLst/>
          </a:prstGeom>
          <a:noFill/>
          <a:ln>
            <a:noFill/>
          </a:ln>
        </p:spPr>
      </p:pic>
      <p:pic>
        <p:nvPicPr>
          <p:cNvPr id="289" name="Google Shape;289;p17"/>
          <p:cNvPicPr preferRelativeResize="0"/>
          <p:nvPr/>
        </p:nvPicPr>
        <p:blipFill rotWithShape="1">
          <a:blip r:embed="rId5">
            <a:alphaModFix/>
          </a:blip>
          <a:srcRect b="0" l="0" r="0" t="0"/>
          <a:stretch/>
        </p:blipFill>
        <p:spPr>
          <a:xfrm>
            <a:off x="981645" y="7217057"/>
            <a:ext cx="117797" cy="188475"/>
          </a:xfrm>
          <a:prstGeom prst="rect">
            <a:avLst/>
          </a:prstGeom>
          <a:noFill/>
          <a:ln>
            <a:noFill/>
          </a:ln>
        </p:spPr>
      </p:pic>
      <p:pic>
        <p:nvPicPr>
          <p:cNvPr id="290" name="Google Shape;290;p17"/>
          <p:cNvPicPr preferRelativeResize="0"/>
          <p:nvPr/>
        </p:nvPicPr>
        <p:blipFill rotWithShape="1">
          <a:blip r:embed="rId6">
            <a:alphaModFix/>
          </a:blip>
          <a:srcRect b="0" l="0" r="0" t="0"/>
          <a:stretch/>
        </p:blipFill>
        <p:spPr>
          <a:xfrm>
            <a:off x="981645" y="9038991"/>
            <a:ext cx="117797" cy="188475"/>
          </a:xfrm>
          <a:prstGeom prst="rect">
            <a:avLst/>
          </a:prstGeom>
          <a:noFill/>
          <a:ln>
            <a:noFill/>
          </a:ln>
        </p:spPr>
      </p:pic>
      <p:sp>
        <p:nvSpPr>
          <p:cNvPr descr="$PPTXTitle" id="291" name="Google Shape;291;p17"/>
          <p:cNvSpPr txBox="1"/>
          <p:nvPr>
            <p:ph type="title"/>
          </p:nvPr>
        </p:nvSpPr>
        <p:spPr>
          <a:xfrm>
            <a:off x="913592" y="318441"/>
            <a:ext cx="15012418" cy="1494433"/>
          </a:xfrm>
          <a:prstGeom prst="rect">
            <a:avLst/>
          </a:prstGeom>
          <a:noFill/>
          <a:ln>
            <a:noFill/>
          </a:ln>
        </p:spPr>
        <p:txBody>
          <a:bodyPr anchorCtr="0" anchor="t" bIns="0" lIns="0" spcFirstLastPara="1" rIns="0" wrap="square" tIns="608725">
            <a:spAutoFit/>
          </a:bodyPr>
          <a:lstStyle/>
          <a:p>
            <a:pPr indent="0" lvl="0" marL="17780" rtl="0" algn="l">
              <a:lnSpc>
                <a:spcPct val="100000"/>
              </a:lnSpc>
              <a:spcBef>
                <a:spcPts val="0"/>
              </a:spcBef>
              <a:spcAft>
                <a:spcPts val="0"/>
              </a:spcAft>
              <a:buNone/>
            </a:pPr>
            <a:r>
              <a:rPr lang="en-US" sz="5500">
                <a:solidFill>
                  <a:srgbClr val="006B9C"/>
                </a:solidFill>
                <a:latin typeface="Arial"/>
                <a:ea typeface="Arial"/>
                <a:cs typeface="Arial"/>
                <a:sym typeface="Arial"/>
              </a:rPr>
              <a:t>Orchestrotion </a:t>
            </a:r>
            <a:r>
              <a:rPr lang="en-US" sz="5500">
                <a:solidFill>
                  <a:srgbClr val="006BA8"/>
                </a:solidFill>
                <a:latin typeface="Arial"/>
                <a:ea typeface="Arial"/>
                <a:cs typeface="Arial"/>
                <a:sym typeface="Arial"/>
              </a:rPr>
              <a:t>ovec </a:t>
            </a:r>
            <a:r>
              <a:rPr lang="en-US" sz="5500">
                <a:solidFill>
                  <a:srgbClr val="006BA5"/>
                </a:solidFill>
                <a:latin typeface="Arial"/>
                <a:ea typeface="Arial"/>
                <a:cs typeface="Arial"/>
                <a:sym typeface="Arial"/>
              </a:rPr>
              <a:t>Apache Airflow</a:t>
            </a:r>
            <a:endParaRPr sz="5500">
              <a:latin typeface="Arial"/>
              <a:ea typeface="Arial"/>
              <a:cs typeface="Arial"/>
              <a:sym typeface="Arial"/>
            </a:endParaRPr>
          </a:p>
        </p:txBody>
      </p:sp>
      <p:sp>
        <p:nvSpPr>
          <p:cNvPr id="292" name="Google Shape;292;p17"/>
          <p:cNvSpPr txBox="1"/>
          <p:nvPr/>
        </p:nvSpPr>
        <p:spPr>
          <a:xfrm>
            <a:off x="935553" y="2830800"/>
            <a:ext cx="8334375" cy="198945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500">
                <a:solidFill>
                  <a:srgbClr val="0589D3"/>
                </a:solidFill>
                <a:latin typeface="Calibri"/>
                <a:ea typeface="Calibri"/>
                <a:cs typeface="Calibri"/>
                <a:sym typeface="Calibri"/>
              </a:rPr>
              <a:t>Automotisotion </a:t>
            </a:r>
            <a:r>
              <a:rPr lang="en-US" sz="4500">
                <a:solidFill>
                  <a:srgbClr val="0082C4"/>
                </a:solidFill>
                <a:latin typeface="Calibri"/>
                <a:ea typeface="Calibri"/>
                <a:cs typeface="Calibri"/>
                <a:sym typeface="Calibri"/>
              </a:rPr>
              <a:t>&amp; </a:t>
            </a:r>
            <a:r>
              <a:rPr lang="en-US" sz="4500">
                <a:solidFill>
                  <a:srgbClr val="1187CC"/>
                </a:solidFill>
                <a:latin typeface="Calibri"/>
                <a:ea typeface="Calibri"/>
                <a:cs typeface="Calibri"/>
                <a:sym typeface="Calibri"/>
              </a:rPr>
              <a:t>Dépendonces</a:t>
            </a:r>
            <a:endParaRPr sz="4500">
              <a:latin typeface="Calibri"/>
              <a:ea typeface="Calibri"/>
              <a:cs typeface="Calibri"/>
              <a:sym typeface="Calibri"/>
            </a:endParaRPr>
          </a:p>
          <a:p>
            <a:pPr indent="-3810" lvl="0" marL="474345" marR="5080" rtl="0" algn="l">
              <a:lnSpc>
                <a:spcPct val="117800"/>
              </a:lnSpc>
              <a:spcBef>
                <a:spcPts val="2135"/>
              </a:spcBef>
              <a:spcAft>
                <a:spcPts val="0"/>
              </a:spcAft>
              <a:buNone/>
            </a:pPr>
            <a:r>
              <a:rPr lang="en-US" sz="2800">
                <a:solidFill>
                  <a:srgbClr val="333F54"/>
                </a:solidFill>
                <a:latin typeface="Calibri"/>
                <a:ea typeface="Calibri"/>
                <a:cs typeface="Calibri"/>
                <a:sym typeface="Calibri"/>
              </a:rPr>
              <a:t>Planification </a:t>
            </a:r>
            <a:r>
              <a:rPr lang="en-US" sz="2800">
                <a:solidFill>
                  <a:srgbClr val="3B465D"/>
                </a:solidFill>
                <a:latin typeface="Calibri"/>
                <a:ea typeface="Calibri"/>
                <a:cs typeface="Calibri"/>
                <a:sym typeface="Calibri"/>
              </a:rPr>
              <a:t>: </a:t>
            </a:r>
            <a:r>
              <a:rPr lang="en-US" sz="2800">
                <a:solidFill>
                  <a:srgbClr val="3D3D3D"/>
                </a:solidFill>
                <a:latin typeface="Calibri"/>
                <a:ea typeface="Calibri"/>
                <a:cs typeface="Calibri"/>
                <a:sym typeface="Calibri"/>
              </a:rPr>
              <a:t>Le </a:t>
            </a:r>
            <a:r>
              <a:rPr lang="en-US" sz="2800">
                <a:solidFill>
                  <a:srgbClr val="3F3F3F"/>
                </a:solidFill>
                <a:latin typeface="Calibri"/>
                <a:ea typeface="Calibri"/>
                <a:cs typeface="Calibri"/>
                <a:sym typeface="Calibri"/>
              </a:rPr>
              <a:t>DAG </a:t>
            </a:r>
            <a:r>
              <a:rPr lang="en-US" sz="2800">
                <a:solidFill>
                  <a:srgbClr val="2F2F2F"/>
                </a:solidFill>
                <a:latin typeface="Calibri"/>
                <a:ea typeface="Calibri"/>
                <a:cs typeface="Calibri"/>
                <a:sym typeface="Calibri"/>
              </a:rPr>
              <a:t>est </a:t>
            </a:r>
            <a:r>
              <a:rPr lang="en-US" sz="2800">
                <a:solidFill>
                  <a:srgbClr val="383838"/>
                </a:solidFill>
                <a:latin typeface="Calibri"/>
                <a:ea typeface="Calibri"/>
                <a:cs typeface="Calibri"/>
                <a:sym typeface="Calibri"/>
              </a:rPr>
              <a:t>configuré </a:t>
            </a:r>
            <a:r>
              <a:rPr lang="en-US" sz="2800">
                <a:solidFill>
                  <a:srgbClr val="242424"/>
                </a:solidFill>
                <a:latin typeface="Calibri"/>
                <a:ea typeface="Calibri"/>
                <a:cs typeface="Calibri"/>
                <a:sym typeface="Calibri"/>
              </a:rPr>
              <a:t>pour </a:t>
            </a:r>
            <a:r>
              <a:rPr lang="en-US" sz="2800">
                <a:solidFill>
                  <a:srgbClr val="2F2F2F"/>
                </a:solidFill>
                <a:latin typeface="Calibri"/>
                <a:ea typeface="Calibri"/>
                <a:cs typeface="Calibri"/>
                <a:sym typeface="Calibri"/>
              </a:rPr>
              <a:t>s'exécuter </a:t>
            </a:r>
            <a:r>
              <a:rPr lang="en-US" sz="2800">
                <a:solidFill>
                  <a:srgbClr val="343434"/>
                </a:solidFill>
                <a:latin typeface="Calibri"/>
                <a:ea typeface="Calibri"/>
                <a:cs typeface="Calibri"/>
                <a:sym typeface="Calibri"/>
              </a:rPr>
              <a:t>toutes </a:t>
            </a:r>
            <a:r>
              <a:rPr lang="en-US" sz="2800">
                <a:solidFill>
                  <a:srgbClr val="363636"/>
                </a:solidFill>
                <a:latin typeface="Calibri"/>
                <a:ea typeface="Calibri"/>
                <a:cs typeface="Calibri"/>
                <a:sym typeface="Calibri"/>
              </a:rPr>
              <a:t>les </a:t>
            </a:r>
            <a:r>
              <a:rPr lang="en-US" sz="2800">
                <a:solidFill>
                  <a:srgbClr val="3D3D3D"/>
                </a:solidFill>
                <a:latin typeface="Calibri"/>
                <a:ea typeface="Calibri"/>
                <a:cs typeface="Calibri"/>
                <a:sym typeface="Calibri"/>
              </a:rPr>
              <a:t>5 </a:t>
            </a:r>
            <a:r>
              <a:rPr lang="en-US" sz="2800">
                <a:solidFill>
                  <a:srgbClr val="343434"/>
                </a:solidFill>
                <a:latin typeface="Calibri"/>
                <a:ea typeface="Calibri"/>
                <a:cs typeface="Calibri"/>
                <a:sym typeface="Calibri"/>
              </a:rPr>
              <a:t>minutes </a:t>
            </a:r>
            <a:r>
              <a:rPr lang="en-US" sz="2800">
                <a:solidFill>
                  <a:srgbClr val="363636"/>
                </a:solidFill>
                <a:latin typeface="Calibri"/>
                <a:ea typeface="Calibri"/>
                <a:cs typeface="Calibri"/>
                <a:sym typeface="Calibri"/>
              </a:rPr>
              <a:t>via </a:t>
            </a:r>
            <a:r>
              <a:rPr lang="en-US" sz="2800">
                <a:solidFill>
                  <a:srgbClr val="343434"/>
                </a:solidFill>
                <a:latin typeface="Calibri"/>
                <a:ea typeface="Calibri"/>
                <a:cs typeface="Calibri"/>
                <a:sym typeface="Calibri"/>
              </a:rPr>
              <a:t>cron.</a:t>
            </a:r>
            <a:endParaRPr sz="2800">
              <a:latin typeface="Calibri"/>
              <a:ea typeface="Calibri"/>
              <a:cs typeface="Calibri"/>
              <a:sym typeface="Calibri"/>
            </a:endParaRPr>
          </a:p>
        </p:txBody>
      </p:sp>
      <p:sp>
        <p:nvSpPr>
          <p:cNvPr id="293" name="Google Shape;293;p17"/>
          <p:cNvSpPr txBox="1"/>
          <p:nvPr/>
        </p:nvSpPr>
        <p:spPr>
          <a:xfrm>
            <a:off x="1392728" y="5108871"/>
            <a:ext cx="7557770" cy="1564640"/>
          </a:xfrm>
          <a:prstGeom prst="rect">
            <a:avLst/>
          </a:prstGeom>
          <a:noFill/>
          <a:ln>
            <a:noFill/>
          </a:ln>
        </p:spPr>
        <p:txBody>
          <a:bodyPr anchorCtr="0" anchor="t" bIns="0" lIns="0" spcFirstLastPara="1" rIns="0" wrap="square" tIns="11425">
            <a:spAutoFit/>
          </a:bodyPr>
          <a:lstStyle/>
          <a:p>
            <a:pPr indent="-17780" lvl="0" marL="29845" marR="5080" rtl="0" algn="l">
              <a:lnSpc>
                <a:spcPct val="117800"/>
              </a:lnSpc>
              <a:spcBef>
                <a:spcPts val="0"/>
              </a:spcBef>
              <a:spcAft>
                <a:spcPts val="0"/>
              </a:spcAft>
              <a:buNone/>
            </a:pPr>
            <a:r>
              <a:rPr lang="en-US" sz="2800">
                <a:solidFill>
                  <a:srgbClr val="263D54"/>
                </a:solidFill>
                <a:latin typeface="Calibri"/>
                <a:ea typeface="Calibri"/>
                <a:cs typeface="Calibri"/>
                <a:sym typeface="Calibri"/>
              </a:rPr>
              <a:t>Gestion </a:t>
            </a:r>
            <a:r>
              <a:rPr lang="en-US" sz="2800">
                <a:solidFill>
                  <a:srgbClr val="2D365E"/>
                </a:solidFill>
                <a:latin typeface="Calibri"/>
                <a:ea typeface="Calibri"/>
                <a:cs typeface="Calibri"/>
                <a:sym typeface="Calibri"/>
              </a:rPr>
              <a:t>des </a:t>
            </a:r>
            <a:r>
              <a:rPr lang="en-US" sz="2800">
                <a:solidFill>
                  <a:srgbClr val="3F3F3F"/>
                </a:solidFill>
                <a:latin typeface="Calibri"/>
                <a:ea typeface="Calibri"/>
                <a:cs typeface="Calibri"/>
                <a:sym typeface="Calibri"/>
              </a:rPr>
              <a:t>dépendances </a:t>
            </a:r>
            <a:r>
              <a:rPr lang="en-US" sz="2800">
                <a:solidFill>
                  <a:srgbClr val="3A3A3A"/>
                </a:solidFill>
                <a:latin typeface="Calibri"/>
                <a:ea typeface="Calibri"/>
                <a:cs typeface="Calibri"/>
                <a:sym typeface="Calibri"/>
              </a:rPr>
              <a:t>: </a:t>
            </a:r>
            <a:r>
              <a:rPr lang="en-US" sz="2800">
                <a:solidFill>
                  <a:srgbClr val="343434"/>
                </a:solidFill>
                <a:latin typeface="Calibri"/>
                <a:ea typeface="Calibri"/>
                <a:cs typeface="Calibri"/>
                <a:sym typeface="Calibri"/>
              </a:rPr>
              <a:t>Eordre </a:t>
            </a:r>
            <a:r>
              <a:rPr lang="en-US" sz="2800">
                <a:solidFill>
                  <a:srgbClr val="313131"/>
                </a:solidFill>
                <a:latin typeface="Calibri"/>
                <a:ea typeface="Calibri"/>
                <a:cs typeface="Calibri"/>
                <a:sym typeface="Calibri"/>
              </a:rPr>
              <a:t>strict </a:t>
            </a:r>
            <a:r>
              <a:rPr lang="en-US" sz="2800">
                <a:solidFill>
                  <a:srgbClr val="333333"/>
                </a:solidFill>
                <a:latin typeface="Calibri"/>
                <a:ea typeface="Calibri"/>
                <a:cs typeface="Calibri"/>
                <a:sym typeface="Calibri"/>
              </a:rPr>
              <a:t>est </a:t>
            </a:r>
            <a:r>
              <a:rPr lang="en-US" sz="2800">
                <a:solidFill>
                  <a:srgbClr val="2D2D2D"/>
                </a:solidFill>
                <a:latin typeface="Calibri"/>
                <a:ea typeface="Calibri"/>
                <a:cs typeface="Calibri"/>
                <a:sym typeface="Calibri"/>
              </a:rPr>
              <a:t>garanti </a:t>
            </a:r>
            <a:r>
              <a:rPr lang="en-US" sz="2800">
                <a:solidFill>
                  <a:srgbClr val="313131"/>
                </a:solidFill>
                <a:latin typeface="Calibri"/>
                <a:ea typeface="Calibri"/>
                <a:cs typeface="Calibri"/>
                <a:sym typeface="Calibri"/>
              </a:rPr>
              <a:t>: </a:t>
            </a:r>
            <a:r>
              <a:rPr lang="en-US" sz="2800">
                <a:solidFill>
                  <a:srgbClr val="343434"/>
                </a:solidFill>
                <a:latin typeface="Calibri"/>
                <a:ea typeface="Calibri"/>
                <a:cs typeface="Calibri"/>
                <a:sym typeface="Calibri"/>
              </a:rPr>
              <a:t>scraping </a:t>
            </a:r>
            <a:r>
              <a:rPr lang="en-US" sz="2800">
                <a:solidFill>
                  <a:srgbClr val="262626"/>
                </a:solidFill>
                <a:latin typeface="Calibri"/>
                <a:ea typeface="Calibri"/>
                <a:cs typeface="Calibri"/>
                <a:sym typeface="Calibri"/>
              </a:rPr>
              <a:t>&gt;&gt; </a:t>
            </a:r>
            <a:r>
              <a:rPr lang="en-US" sz="2800">
                <a:solidFill>
                  <a:srgbClr val="363636"/>
                </a:solidFill>
                <a:latin typeface="Calibri"/>
                <a:ea typeface="Calibri"/>
                <a:cs typeface="Calibri"/>
                <a:sym typeface="Calibri"/>
              </a:rPr>
              <a:t>silver  cleaning  </a:t>
            </a:r>
            <a:r>
              <a:rPr lang="en-US" sz="2800">
                <a:solidFill>
                  <a:srgbClr val="333333"/>
                </a:solidFill>
                <a:latin typeface="Calibri"/>
                <a:ea typeface="Calibri"/>
                <a:cs typeface="Calibri"/>
                <a:sym typeface="Calibri"/>
              </a:rPr>
              <a:t>&gt;&gt; </a:t>
            </a:r>
            <a:r>
              <a:rPr lang="en-US" sz="2800">
                <a:solidFill>
                  <a:srgbClr val="383838"/>
                </a:solidFill>
                <a:latin typeface="Calibri"/>
                <a:ea typeface="Calibri"/>
                <a:cs typeface="Calibri"/>
                <a:sym typeface="Calibri"/>
              </a:rPr>
              <a:t>quai</a:t>
            </a:r>
            <a:r>
              <a:rPr lang="en-US" sz="2800">
                <a:solidFill>
                  <a:srgbClr val="2F2F2F"/>
                </a:solidFill>
                <a:latin typeface="Calibri"/>
                <a:ea typeface="Calibri"/>
                <a:cs typeface="Calibri"/>
                <a:sym typeface="Calibri"/>
              </a:rPr>
              <a:t>ity_checks  </a:t>
            </a:r>
            <a:r>
              <a:rPr lang="en-US" sz="2800">
                <a:solidFill>
                  <a:srgbClr val="313131"/>
                </a:solidFill>
                <a:latin typeface="Calibri"/>
                <a:ea typeface="Calibri"/>
                <a:cs typeface="Calibri"/>
                <a:sym typeface="Calibri"/>
              </a:rPr>
              <a:t>&gt;&gt;</a:t>
            </a:r>
            <a:endParaRPr sz="2800">
              <a:latin typeface="Calibri"/>
              <a:ea typeface="Calibri"/>
              <a:cs typeface="Calibri"/>
              <a:sym typeface="Calibri"/>
            </a:endParaRPr>
          </a:p>
          <a:p>
            <a:pPr indent="0" lvl="0" marL="26670" rtl="0" algn="l">
              <a:lnSpc>
                <a:spcPct val="100000"/>
              </a:lnSpc>
              <a:spcBef>
                <a:spcPts val="844"/>
              </a:spcBef>
              <a:spcAft>
                <a:spcPts val="0"/>
              </a:spcAft>
              <a:buNone/>
            </a:pPr>
            <a:r>
              <a:rPr lang="en-US" sz="2800">
                <a:solidFill>
                  <a:srgbClr val="262626"/>
                </a:solidFill>
                <a:latin typeface="Calibri"/>
                <a:ea typeface="Calibri"/>
                <a:cs typeface="Calibri"/>
                <a:sym typeface="Calibri"/>
              </a:rPr>
              <a:t>go1d_transformat</a:t>
            </a:r>
            <a:r>
              <a:rPr lang="en-US" sz="2800">
                <a:solidFill>
                  <a:srgbClr val="383838"/>
                </a:solidFill>
                <a:latin typeface="Calibri"/>
                <a:ea typeface="Calibri"/>
                <a:cs typeface="Calibri"/>
                <a:sym typeface="Calibri"/>
              </a:rPr>
              <a:t>ion </a:t>
            </a:r>
            <a:r>
              <a:rPr lang="en-US" sz="2800">
                <a:solidFill>
                  <a:srgbClr val="313131"/>
                </a:solidFill>
                <a:latin typeface="Calibri"/>
                <a:ea typeface="Calibri"/>
                <a:cs typeface="Calibri"/>
                <a:sym typeface="Calibri"/>
              </a:rPr>
              <a:t>&gt;&gt; </a:t>
            </a:r>
            <a:r>
              <a:rPr lang="en-US" sz="2800">
                <a:solidFill>
                  <a:srgbClr val="2F2F2F"/>
                </a:solidFill>
                <a:latin typeface="Calibri"/>
                <a:ea typeface="Calibri"/>
                <a:cs typeface="Calibri"/>
                <a:sym typeface="Calibri"/>
              </a:rPr>
              <a:t>1oad_to_duh.</a:t>
            </a:r>
            <a:endParaRPr sz="2800">
              <a:latin typeface="Calibri"/>
              <a:ea typeface="Calibri"/>
              <a:cs typeface="Calibri"/>
              <a:sym typeface="Calibri"/>
            </a:endParaRPr>
          </a:p>
        </p:txBody>
      </p:sp>
      <p:sp>
        <p:nvSpPr>
          <p:cNvPr id="294" name="Google Shape;294;p17"/>
          <p:cNvSpPr txBox="1"/>
          <p:nvPr/>
        </p:nvSpPr>
        <p:spPr>
          <a:xfrm>
            <a:off x="1391676" y="6993631"/>
            <a:ext cx="8150859" cy="1533525"/>
          </a:xfrm>
          <a:prstGeom prst="rect">
            <a:avLst/>
          </a:prstGeom>
          <a:noFill/>
          <a:ln>
            <a:noFill/>
          </a:ln>
        </p:spPr>
        <p:txBody>
          <a:bodyPr anchorCtr="0" anchor="t" bIns="0" lIns="0" spcFirstLastPara="1" rIns="0" wrap="square" tIns="11425">
            <a:spAutoFit/>
          </a:bodyPr>
          <a:lstStyle/>
          <a:p>
            <a:pPr indent="-1270" lvl="0" marL="13335" marR="5080" rtl="0" algn="l">
              <a:lnSpc>
                <a:spcPct val="117800"/>
              </a:lnSpc>
              <a:spcBef>
                <a:spcPts val="0"/>
              </a:spcBef>
              <a:spcAft>
                <a:spcPts val="0"/>
              </a:spcAft>
              <a:buNone/>
            </a:pPr>
            <a:r>
              <a:rPr lang="en-US" sz="2800">
                <a:solidFill>
                  <a:srgbClr val="3A3A3A"/>
                </a:solidFill>
                <a:latin typeface="Calibri"/>
                <a:ea typeface="Calibri"/>
                <a:cs typeface="Calibri"/>
                <a:sym typeface="Calibri"/>
              </a:rPr>
              <a:t>Contrôle </a:t>
            </a:r>
            <a:r>
              <a:rPr lang="en-US" sz="2800">
                <a:solidFill>
                  <a:srgbClr val="313F62"/>
                </a:solidFill>
                <a:latin typeface="Calibri"/>
                <a:ea typeface="Calibri"/>
                <a:cs typeface="Calibri"/>
                <a:sym typeface="Calibri"/>
              </a:rPr>
              <a:t>d'erreurs </a:t>
            </a:r>
            <a:r>
              <a:rPr lang="en-US" sz="2800">
                <a:solidFill>
                  <a:srgbClr val="282828"/>
                </a:solidFill>
                <a:latin typeface="Calibri"/>
                <a:ea typeface="Calibri"/>
                <a:cs typeface="Calibri"/>
                <a:sym typeface="Calibri"/>
              </a:rPr>
              <a:t>: </a:t>
            </a:r>
            <a:r>
              <a:rPr lang="en-US" sz="2800">
                <a:solidFill>
                  <a:srgbClr val="3D3D3D"/>
                </a:solidFill>
                <a:latin typeface="Calibri"/>
                <a:ea typeface="Calibri"/>
                <a:cs typeface="Calibri"/>
                <a:sym typeface="Calibri"/>
              </a:rPr>
              <a:t>Si </a:t>
            </a:r>
            <a:r>
              <a:rPr lang="en-US" sz="2800">
                <a:solidFill>
                  <a:srgbClr val="3B3B3B"/>
                </a:solidFill>
                <a:latin typeface="Calibri"/>
                <a:ea typeface="Calibri"/>
                <a:cs typeface="Calibri"/>
                <a:sym typeface="Calibri"/>
              </a:rPr>
              <a:t>la </a:t>
            </a:r>
            <a:r>
              <a:rPr lang="en-US" sz="2800">
                <a:solidFill>
                  <a:srgbClr val="2F2F2F"/>
                </a:solidFill>
                <a:latin typeface="Calibri"/>
                <a:ea typeface="Calibri"/>
                <a:cs typeface="Calibri"/>
                <a:sym typeface="Calibri"/>
              </a:rPr>
              <a:t>tâche </a:t>
            </a:r>
            <a:r>
              <a:rPr lang="en-US" sz="2800">
                <a:solidFill>
                  <a:srgbClr val="343434"/>
                </a:solidFill>
                <a:latin typeface="Calibri"/>
                <a:ea typeface="Calibri"/>
                <a:cs typeface="Calibri"/>
                <a:sym typeface="Calibri"/>
              </a:rPr>
              <a:t>Silver échoue, </a:t>
            </a:r>
            <a:r>
              <a:rPr lang="en-US" sz="2800">
                <a:solidFill>
                  <a:srgbClr val="363636"/>
                </a:solidFill>
                <a:latin typeface="Calibri"/>
                <a:ea typeface="Calibri"/>
                <a:cs typeface="Calibri"/>
                <a:sym typeface="Calibri"/>
              </a:rPr>
              <a:t>Airflow </a:t>
            </a:r>
            <a:r>
              <a:rPr lang="en-US" sz="2800">
                <a:solidFill>
                  <a:srgbClr val="343434"/>
                </a:solidFill>
                <a:latin typeface="Calibri"/>
                <a:ea typeface="Calibri"/>
                <a:cs typeface="Calibri"/>
                <a:sym typeface="Calibri"/>
              </a:rPr>
              <a:t>bloque l'exécution des </a:t>
            </a:r>
            <a:r>
              <a:rPr lang="en-US" sz="2800">
                <a:solidFill>
                  <a:srgbClr val="2D2D2D"/>
                </a:solidFill>
                <a:latin typeface="Calibri"/>
                <a:ea typeface="Calibri"/>
                <a:cs typeface="Calibri"/>
                <a:sym typeface="Calibri"/>
              </a:rPr>
              <a:t>tâches </a:t>
            </a:r>
            <a:r>
              <a:rPr lang="en-US" sz="2800">
                <a:solidFill>
                  <a:srgbClr val="343434"/>
                </a:solidFill>
                <a:latin typeface="Calibri"/>
                <a:ea typeface="Calibri"/>
                <a:cs typeface="Calibri"/>
                <a:sym typeface="Calibri"/>
              </a:rPr>
              <a:t>Gold </a:t>
            </a:r>
            <a:r>
              <a:rPr lang="en-US" sz="2800">
                <a:solidFill>
                  <a:srgbClr val="3B3B3B"/>
                </a:solidFill>
                <a:latin typeface="Calibri"/>
                <a:ea typeface="Calibri"/>
                <a:cs typeface="Calibri"/>
                <a:sym typeface="Calibri"/>
              </a:rPr>
              <a:t>et </a:t>
            </a:r>
            <a:r>
              <a:rPr lang="en-US" sz="2800">
                <a:solidFill>
                  <a:srgbClr val="313131"/>
                </a:solidFill>
                <a:latin typeface="Calibri"/>
                <a:ea typeface="Calibri"/>
                <a:cs typeface="Calibri"/>
                <a:sym typeface="Calibri"/>
              </a:rPr>
              <a:t>DWH, </a:t>
            </a:r>
            <a:r>
              <a:rPr lang="en-US" sz="2800">
                <a:solidFill>
                  <a:srgbClr val="2F2F2F"/>
                </a:solidFill>
                <a:latin typeface="Calibri"/>
                <a:ea typeface="Calibri"/>
                <a:cs typeface="Calibri"/>
                <a:sym typeface="Calibri"/>
              </a:rPr>
              <a:t>garantissant la </a:t>
            </a:r>
            <a:r>
              <a:rPr lang="en-US" sz="2800">
                <a:solidFill>
                  <a:srgbClr val="333333"/>
                </a:solidFill>
                <a:latin typeface="Calibri"/>
                <a:ea typeface="Calibri"/>
                <a:cs typeface="Calibri"/>
                <a:sym typeface="Calibri"/>
              </a:rPr>
              <a:t>cohérence.</a:t>
            </a:r>
            <a:endParaRPr sz="2800">
              <a:latin typeface="Calibri"/>
              <a:ea typeface="Calibri"/>
              <a:cs typeface="Calibri"/>
              <a:sym typeface="Calibri"/>
            </a:endParaRPr>
          </a:p>
        </p:txBody>
      </p:sp>
      <p:sp>
        <p:nvSpPr>
          <p:cNvPr id="295" name="Google Shape;295;p17"/>
          <p:cNvSpPr txBox="1"/>
          <p:nvPr/>
        </p:nvSpPr>
        <p:spPr>
          <a:xfrm>
            <a:off x="1393694" y="8805748"/>
            <a:ext cx="8071484" cy="1030605"/>
          </a:xfrm>
          <a:prstGeom prst="rect">
            <a:avLst/>
          </a:prstGeom>
          <a:noFill/>
          <a:ln>
            <a:noFill/>
          </a:ln>
        </p:spPr>
        <p:txBody>
          <a:bodyPr anchorCtr="0" anchor="t" bIns="0" lIns="0" spcFirstLastPara="1" rIns="0" wrap="square" tIns="12700">
            <a:spAutoFit/>
          </a:bodyPr>
          <a:lstStyle/>
          <a:p>
            <a:pPr indent="-7620" lvl="0" marL="19685" marR="5080" rtl="0" algn="l">
              <a:lnSpc>
                <a:spcPct val="134600"/>
              </a:lnSpc>
              <a:spcBef>
                <a:spcPts val="0"/>
              </a:spcBef>
              <a:spcAft>
                <a:spcPts val="0"/>
              </a:spcAft>
              <a:buNone/>
            </a:pPr>
            <a:r>
              <a:rPr lang="en-US" sz="2450">
                <a:solidFill>
                  <a:srgbClr val="383838"/>
                </a:solidFill>
                <a:latin typeface="Calibri"/>
                <a:ea typeface="Calibri"/>
                <a:cs typeface="Calibri"/>
                <a:sym typeface="Calibri"/>
              </a:rPr>
              <a:t>Opérateurs </a:t>
            </a:r>
            <a:r>
              <a:rPr lang="en-US" sz="2450">
                <a:solidFill>
                  <a:srgbClr val="384662"/>
                </a:solidFill>
                <a:latin typeface="Calibri"/>
                <a:ea typeface="Calibri"/>
                <a:cs typeface="Calibri"/>
                <a:sym typeface="Calibri"/>
              </a:rPr>
              <a:t>: </a:t>
            </a:r>
            <a:r>
              <a:rPr lang="en-US" sz="2450">
                <a:solidFill>
                  <a:srgbClr val="2F2F2F"/>
                </a:solidFill>
                <a:latin typeface="Calibri"/>
                <a:ea typeface="Calibri"/>
                <a:cs typeface="Calibri"/>
                <a:sym typeface="Calibri"/>
              </a:rPr>
              <a:t>Utilisation </a:t>
            </a:r>
            <a:r>
              <a:rPr lang="en-US" sz="2450">
                <a:solidFill>
                  <a:srgbClr val="363636"/>
                </a:solidFill>
                <a:latin typeface="Calibri"/>
                <a:ea typeface="Calibri"/>
                <a:cs typeface="Calibri"/>
                <a:sym typeface="Calibri"/>
              </a:rPr>
              <a:t>de ”BashOperator' </a:t>
            </a:r>
            <a:r>
              <a:rPr lang="en-US" sz="2450">
                <a:solidFill>
                  <a:srgbClr val="282828"/>
                </a:solidFill>
                <a:latin typeface="Calibri"/>
                <a:ea typeface="Calibri"/>
                <a:cs typeface="Calibri"/>
                <a:sym typeface="Calibri"/>
              </a:rPr>
              <a:t>pour </a:t>
            </a:r>
            <a:r>
              <a:rPr lang="en-US" sz="2450">
                <a:solidFill>
                  <a:srgbClr val="2D2D2D"/>
                </a:solidFill>
                <a:latin typeface="Calibri"/>
                <a:ea typeface="Calibri"/>
                <a:cs typeface="Calibri"/>
                <a:sym typeface="Calibri"/>
              </a:rPr>
              <a:t>encapsuler </a:t>
            </a:r>
            <a:r>
              <a:rPr lang="en-US" sz="2450">
                <a:solidFill>
                  <a:srgbClr val="343434"/>
                </a:solidFill>
                <a:latin typeface="Calibri"/>
                <a:ea typeface="Calibri"/>
                <a:cs typeface="Calibri"/>
                <a:sym typeface="Calibri"/>
              </a:rPr>
              <a:t>l'exécution </a:t>
            </a:r>
            <a:r>
              <a:rPr lang="en-US" sz="2450">
                <a:solidFill>
                  <a:srgbClr val="363636"/>
                </a:solidFill>
                <a:latin typeface="Calibri"/>
                <a:ea typeface="Calibri"/>
                <a:cs typeface="Calibri"/>
                <a:sym typeface="Calibri"/>
              </a:rPr>
              <a:t>des </a:t>
            </a:r>
            <a:r>
              <a:rPr lang="en-US" sz="2450">
                <a:solidFill>
                  <a:srgbClr val="2D2D2D"/>
                </a:solidFill>
                <a:latin typeface="Calibri"/>
                <a:ea typeface="Calibri"/>
                <a:cs typeface="Calibri"/>
                <a:sym typeface="Calibri"/>
              </a:rPr>
              <a:t>scripts </a:t>
            </a:r>
            <a:r>
              <a:rPr lang="en-US" sz="2450">
                <a:solidFill>
                  <a:srgbClr val="2F2F2F"/>
                </a:solidFill>
                <a:latin typeface="Calibri"/>
                <a:ea typeface="Calibri"/>
                <a:cs typeface="Calibri"/>
                <a:sym typeface="Calibri"/>
              </a:rPr>
              <a:t>conteneurisés.</a:t>
            </a:r>
            <a:endParaRPr sz="2450">
              <a:latin typeface="Calibri"/>
              <a:ea typeface="Calibri"/>
              <a:cs typeface="Calibri"/>
              <a:sym typeface="Calibri"/>
            </a:endParaRPr>
          </a:p>
        </p:txBody>
      </p:sp>
      <p:pic>
        <p:nvPicPr>
          <p:cNvPr id="296" name="Google Shape;296;p17"/>
          <p:cNvPicPr preferRelativeResize="0"/>
          <p:nvPr/>
        </p:nvPicPr>
        <p:blipFill>
          <a:blip r:embed="rId7">
            <a:alphaModFix/>
          </a:blip>
          <a:stretch>
            <a:fillRect/>
          </a:stretch>
        </p:blipFill>
        <p:spPr>
          <a:xfrm>
            <a:off x="9243778" y="3876762"/>
            <a:ext cx="10529373" cy="28650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0" name="Shape 300"/>
        <p:cNvGrpSpPr/>
        <p:nvPr/>
      </p:nvGrpSpPr>
      <p:grpSpPr>
        <a:xfrm>
          <a:off x="0" y="0"/>
          <a:ext cx="0" cy="0"/>
          <a:chOff x="0" y="0"/>
          <a:chExt cx="0" cy="0"/>
        </a:xfrm>
      </p:grpSpPr>
      <p:pic>
        <p:nvPicPr>
          <p:cNvPr id="301" name="Google Shape;301;p18"/>
          <p:cNvPicPr preferRelativeResize="0"/>
          <p:nvPr/>
        </p:nvPicPr>
        <p:blipFill rotWithShape="1">
          <a:blip r:embed="rId3">
            <a:alphaModFix/>
          </a:blip>
          <a:srcRect b="0" l="0" r="0" t="0"/>
          <a:stretch/>
        </p:blipFill>
        <p:spPr>
          <a:xfrm>
            <a:off x="2575837" y="2104647"/>
            <a:ext cx="549721" cy="384805"/>
          </a:xfrm>
          <a:prstGeom prst="rect">
            <a:avLst/>
          </a:prstGeom>
          <a:noFill/>
          <a:ln>
            <a:noFill/>
          </a:ln>
        </p:spPr>
      </p:pic>
      <p:pic>
        <p:nvPicPr>
          <p:cNvPr id="302" name="Google Shape;302;p18"/>
          <p:cNvPicPr preferRelativeResize="0"/>
          <p:nvPr/>
        </p:nvPicPr>
        <p:blipFill rotWithShape="1">
          <a:blip r:embed="rId4">
            <a:alphaModFix/>
          </a:blip>
          <a:srcRect b="0" l="0" r="0" t="0"/>
          <a:stretch/>
        </p:blipFill>
        <p:spPr>
          <a:xfrm>
            <a:off x="2607250" y="5002465"/>
            <a:ext cx="321979" cy="439777"/>
          </a:xfrm>
          <a:prstGeom prst="rect">
            <a:avLst/>
          </a:prstGeom>
          <a:noFill/>
          <a:ln>
            <a:noFill/>
          </a:ln>
        </p:spPr>
      </p:pic>
      <p:pic>
        <p:nvPicPr>
          <p:cNvPr id="303" name="Google Shape;303;p18"/>
          <p:cNvPicPr preferRelativeResize="0"/>
          <p:nvPr/>
        </p:nvPicPr>
        <p:blipFill rotWithShape="1">
          <a:blip r:embed="rId5">
            <a:alphaModFix/>
          </a:blip>
          <a:srcRect b="0" l="0" r="0" t="0"/>
          <a:stretch/>
        </p:blipFill>
        <p:spPr>
          <a:xfrm>
            <a:off x="2575837" y="8402885"/>
            <a:ext cx="541868" cy="431924"/>
          </a:xfrm>
          <a:prstGeom prst="rect">
            <a:avLst/>
          </a:prstGeom>
          <a:noFill/>
          <a:ln>
            <a:noFill/>
          </a:ln>
        </p:spPr>
      </p:pic>
      <p:sp>
        <p:nvSpPr>
          <p:cNvPr descr="$PPTXTitle" id="304" name="Google Shape;304;p18"/>
          <p:cNvSpPr txBox="1"/>
          <p:nvPr>
            <p:ph type="title"/>
          </p:nvPr>
        </p:nvSpPr>
        <p:spPr>
          <a:xfrm>
            <a:off x="924205" y="-160601"/>
            <a:ext cx="12731750" cy="92900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a:solidFill>
                  <a:srgbClr val="0069A1"/>
                </a:solidFill>
                <a:latin typeface="Calibri"/>
                <a:ea typeface="Calibri"/>
                <a:cs typeface="Calibri"/>
                <a:sym typeface="Calibri"/>
              </a:rPr>
              <a:t>Courbe </a:t>
            </a:r>
            <a:r>
              <a:rPr b="1" lang="en-US">
                <a:solidFill>
                  <a:srgbClr val="03699E"/>
                </a:solidFill>
                <a:latin typeface="Calibri"/>
                <a:ea typeface="Calibri"/>
                <a:cs typeface="Calibri"/>
                <a:sym typeface="Calibri"/>
              </a:rPr>
              <a:t>d'Apprentissoge </a:t>
            </a:r>
            <a:r>
              <a:rPr b="1" lang="en-US">
                <a:solidFill>
                  <a:srgbClr val="007097"/>
                </a:solidFill>
                <a:latin typeface="Calibri"/>
                <a:ea typeface="Calibri"/>
                <a:cs typeface="Calibri"/>
                <a:sym typeface="Calibri"/>
              </a:rPr>
              <a:t>&amp; </a:t>
            </a:r>
            <a:r>
              <a:rPr b="1" lang="en-US">
                <a:solidFill>
                  <a:srgbClr val="006BA5"/>
                </a:solidFill>
                <a:latin typeface="Calibri"/>
                <a:ea typeface="Calibri"/>
                <a:cs typeface="Calibri"/>
                <a:sym typeface="Calibri"/>
              </a:rPr>
              <a:t>Technologies</a:t>
            </a:r>
            <a:endParaRPr/>
          </a:p>
        </p:txBody>
      </p:sp>
      <p:sp>
        <p:nvSpPr>
          <p:cNvPr id="305" name="Google Shape;305;p18"/>
          <p:cNvSpPr txBox="1"/>
          <p:nvPr/>
        </p:nvSpPr>
        <p:spPr>
          <a:xfrm>
            <a:off x="3341784" y="1951900"/>
            <a:ext cx="14025880" cy="1722120"/>
          </a:xfrm>
          <a:prstGeom prst="rect">
            <a:avLst/>
          </a:prstGeom>
          <a:noFill/>
          <a:ln>
            <a:noFill/>
          </a:ln>
        </p:spPr>
        <p:txBody>
          <a:bodyPr anchorCtr="0" anchor="t" bIns="0" lIns="0" spcFirstLastPara="1" rIns="0" wrap="square" tIns="181600">
            <a:spAutoFit/>
          </a:bodyPr>
          <a:lstStyle/>
          <a:p>
            <a:pPr indent="0" lvl="0" marL="12700" rtl="0" algn="l">
              <a:lnSpc>
                <a:spcPct val="100000"/>
              </a:lnSpc>
              <a:spcBef>
                <a:spcPts val="0"/>
              </a:spcBef>
              <a:spcAft>
                <a:spcPts val="0"/>
              </a:spcAft>
              <a:buNone/>
            </a:pPr>
            <a:r>
              <a:rPr lang="en-US" sz="2800">
                <a:solidFill>
                  <a:srgbClr val="116997"/>
                </a:solidFill>
                <a:latin typeface="Calibri"/>
                <a:ea typeface="Calibri"/>
                <a:cs typeface="Calibri"/>
                <a:sym typeface="Calibri"/>
              </a:rPr>
              <a:t>Maitrise </a:t>
            </a:r>
            <a:r>
              <a:rPr lang="en-US" sz="2800">
                <a:solidFill>
                  <a:srgbClr val="0064A5"/>
                </a:solidFill>
                <a:latin typeface="Calibri"/>
                <a:ea typeface="Calibri"/>
                <a:cs typeface="Calibri"/>
                <a:sym typeface="Calibri"/>
              </a:rPr>
              <a:t>de </a:t>
            </a:r>
            <a:r>
              <a:rPr lang="en-US" sz="2800">
                <a:solidFill>
                  <a:srgbClr val="006BAF"/>
                </a:solidFill>
                <a:latin typeface="Calibri"/>
                <a:ea typeface="Calibri"/>
                <a:cs typeface="Calibri"/>
                <a:sym typeface="Calibri"/>
              </a:rPr>
              <a:t>Docker </a:t>
            </a:r>
            <a:r>
              <a:rPr lang="en-US" sz="2800">
                <a:solidFill>
                  <a:srgbClr val="0062A1"/>
                </a:solidFill>
                <a:latin typeface="Calibri"/>
                <a:ea typeface="Calibri"/>
                <a:cs typeface="Calibri"/>
                <a:sym typeface="Calibri"/>
              </a:rPr>
              <a:t>A </a:t>
            </a:r>
            <a:r>
              <a:rPr lang="en-US" sz="2800">
                <a:solidFill>
                  <a:srgbClr val="016EAF"/>
                </a:solidFill>
                <a:latin typeface="Calibri"/>
                <a:ea typeface="Calibri"/>
                <a:cs typeface="Calibri"/>
                <a:sym typeface="Calibri"/>
              </a:rPr>
              <a:t>Réseaux </a:t>
            </a:r>
            <a:r>
              <a:rPr lang="en-US" sz="2800">
                <a:solidFill>
                  <a:srgbClr val="0A679A"/>
                </a:solidFill>
                <a:latin typeface="Calibri"/>
                <a:ea typeface="Calibri"/>
                <a:cs typeface="Calibri"/>
                <a:sym typeface="Calibri"/>
              </a:rPr>
              <a:t>Conteneurisés</a:t>
            </a:r>
            <a:endParaRPr sz="2800">
              <a:latin typeface="Calibri"/>
              <a:ea typeface="Calibri"/>
              <a:cs typeface="Calibri"/>
              <a:sym typeface="Calibri"/>
            </a:endParaRPr>
          </a:p>
          <a:p>
            <a:pPr indent="-635" lvl="0" marL="12700" marR="5080" rtl="0" algn="l">
              <a:lnSpc>
                <a:spcPct val="117800"/>
              </a:lnSpc>
              <a:spcBef>
                <a:spcPts val="745"/>
              </a:spcBef>
              <a:spcAft>
                <a:spcPts val="0"/>
              </a:spcAft>
              <a:buNone/>
            </a:pPr>
            <a:r>
              <a:rPr lang="en-US" sz="2800">
                <a:solidFill>
                  <a:srgbClr val="3B3B3B"/>
                </a:solidFill>
                <a:latin typeface="Calibri"/>
                <a:ea typeface="Calibri"/>
                <a:cs typeface="Calibri"/>
                <a:sym typeface="Calibri"/>
              </a:rPr>
              <a:t>Défi de faire </a:t>
            </a:r>
            <a:r>
              <a:rPr lang="en-US" sz="2800">
                <a:solidFill>
                  <a:srgbClr val="363636"/>
                </a:solidFill>
                <a:latin typeface="Calibri"/>
                <a:ea typeface="Calibri"/>
                <a:cs typeface="Calibri"/>
                <a:sym typeface="Calibri"/>
              </a:rPr>
              <a:t>communiquer </a:t>
            </a:r>
            <a:r>
              <a:rPr lang="en-US" sz="2800">
                <a:solidFill>
                  <a:srgbClr val="2A2A2A"/>
                </a:solidFill>
                <a:latin typeface="Calibri"/>
                <a:ea typeface="Calibri"/>
                <a:cs typeface="Calibri"/>
                <a:sym typeface="Calibri"/>
              </a:rPr>
              <a:t>6 </a:t>
            </a:r>
            <a:r>
              <a:rPr lang="en-US" sz="2800">
                <a:solidFill>
                  <a:srgbClr val="333333"/>
                </a:solidFill>
                <a:latin typeface="Calibri"/>
                <a:ea typeface="Calibri"/>
                <a:cs typeface="Calibri"/>
                <a:sym typeface="Calibri"/>
              </a:rPr>
              <a:t>services </a:t>
            </a:r>
            <a:r>
              <a:rPr lang="en-US" sz="2800">
                <a:solidFill>
                  <a:srgbClr val="313131"/>
                </a:solidFill>
                <a:latin typeface="Calibri"/>
                <a:ea typeface="Calibri"/>
                <a:cs typeface="Calibri"/>
                <a:sym typeface="Calibri"/>
              </a:rPr>
              <a:t>différents </a:t>
            </a:r>
            <a:r>
              <a:rPr lang="en-US" sz="2800">
                <a:solidFill>
                  <a:srgbClr val="2D2D2D"/>
                </a:solidFill>
                <a:latin typeface="Calibri"/>
                <a:ea typeface="Calibri"/>
                <a:cs typeface="Calibri"/>
                <a:sym typeface="Calibri"/>
              </a:rPr>
              <a:t>(Zookeeper, </a:t>
            </a:r>
            <a:r>
              <a:rPr lang="en-US" sz="2800">
                <a:solidFill>
                  <a:srgbClr val="3B3B3B"/>
                </a:solidFill>
                <a:latin typeface="Calibri"/>
                <a:ea typeface="Calibri"/>
                <a:cs typeface="Calibri"/>
                <a:sym typeface="Calibri"/>
              </a:rPr>
              <a:t>Kafka, </a:t>
            </a:r>
            <a:r>
              <a:rPr lang="en-US" sz="2800">
                <a:solidFill>
                  <a:srgbClr val="3A3A3A"/>
                </a:solidFill>
                <a:latin typeface="Calibri"/>
                <a:ea typeface="Calibri"/>
                <a:cs typeface="Calibri"/>
                <a:sym typeface="Calibri"/>
              </a:rPr>
              <a:t>Airflow, </a:t>
            </a:r>
            <a:r>
              <a:rPr lang="en-US" sz="2800">
                <a:solidFill>
                  <a:srgbClr val="3B3B3B"/>
                </a:solidFill>
                <a:latin typeface="Calibri"/>
                <a:ea typeface="Calibri"/>
                <a:cs typeface="Calibri"/>
                <a:sym typeface="Calibri"/>
              </a:rPr>
              <a:t>MinIO, </a:t>
            </a:r>
            <a:r>
              <a:rPr lang="en-US" sz="2800">
                <a:solidFill>
                  <a:srgbClr val="2D495D"/>
                </a:solidFill>
                <a:latin typeface="Calibri"/>
                <a:ea typeface="Calibri"/>
                <a:cs typeface="Calibri"/>
                <a:sym typeface="Calibri"/>
              </a:rPr>
              <a:t>DB) </a:t>
            </a:r>
            <a:r>
              <a:rPr lang="en-US" sz="2800">
                <a:solidFill>
                  <a:srgbClr val="2F2F2F"/>
                </a:solidFill>
                <a:latin typeface="Calibri"/>
                <a:ea typeface="Calibri"/>
                <a:cs typeface="Calibri"/>
                <a:sym typeface="Calibri"/>
              </a:rPr>
              <a:t>isolés. </a:t>
            </a:r>
            <a:r>
              <a:rPr lang="en-US" sz="2800">
                <a:solidFill>
                  <a:srgbClr val="343434"/>
                </a:solidFill>
                <a:latin typeface="Calibri"/>
                <a:ea typeface="Calibri"/>
                <a:cs typeface="Calibri"/>
                <a:sym typeface="Calibri"/>
              </a:rPr>
              <a:t>Apprentissage approfondi </a:t>
            </a:r>
            <a:r>
              <a:rPr lang="en-US" sz="2800">
                <a:solidFill>
                  <a:srgbClr val="313131"/>
                </a:solidFill>
                <a:latin typeface="Calibri"/>
                <a:ea typeface="Calibri"/>
                <a:cs typeface="Calibri"/>
                <a:sym typeface="Calibri"/>
              </a:rPr>
              <a:t>de </a:t>
            </a:r>
            <a:r>
              <a:rPr lang="en-US" sz="2800">
                <a:solidFill>
                  <a:srgbClr val="343434"/>
                </a:solidFill>
                <a:latin typeface="Calibri"/>
                <a:ea typeface="Calibri"/>
                <a:cs typeface="Calibri"/>
                <a:sym typeface="Calibri"/>
              </a:rPr>
              <a:t>docker-compose, </a:t>
            </a:r>
            <a:r>
              <a:rPr lang="en-US" sz="2800">
                <a:solidFill>
                  <a:srgbClr val="383838"/>
                </a:solidFill>
                <a:latin typeface="Calibri"/>
                <a:ea typeface="Calibri"/>
                <a:cs typeface="Calibri"/>
                <a:sym typeface="Calibri"/>
              </a:rPr>
              <a:t>des volumes </a:t>
            </a:r>
            <a:r>
              <a:rPr lang="en-US" sz="2800">
                <a:solidFill>
                  <a:srgbClr val="2F2F2F"/>
                </a:solidFill>
                <a:latin typeface="Calibri"/>
                <a:ea typeface="Calibri"/>
                <a:cs typeface="Calibri"/>
                <a:sym typeface="Calibri"/>
              </a:rPr>
              <a:t>persistants </a:t>
            </a:r>
            <a:r>
              <a:rPr lang="en-US" sz="2800">
                <a:solidFill>
                  <a:srgbClr val="343434"/>
                </a:solidFill>
                <a:latin typeface="Calibri"/>
                <a:ea typeface="Calibri"/>
                <a:cs typeface="Calibri"/>
                <a:sym typeface="Calibri"/>
              </a:rPr>
              <a:t>et </a:t>
            </a:r>
            <a:r>
              <a:rPr lang="en-US" sz="2800">
                <a:solidFill>
                  <a:srgbClr val="383838"/>
                </a:solidFill>
                <a:latin typeface="Calibri"/>
                <a:ea typeface="Calibri"/>
                <a:cs typeface="Calibri"/>
                <a:sym typeface="Calibri"/>
              </a:rPr>
              <a:t>du </a:t>
            </a:r>
            <a:r>
              <a:rPr lang="en-US" sz="2800">
                <a:solidFill>
                  <a:srgbClr val="2F2F2F"/>
                </a:solidFill>
                <a:latin typeface="Calibri"/>
                <a:ea typeface="Calibri"/>
                <a:cs typeface="Calibri"/>
                <a:sym typeface="Calibri"/>
              </a:rPr>
              <a:t>pontage </a:t>
            </a:r>
            <a:r>
              <a:rPr lang="en-US" sz="2800">
                <a:solidFill>
                  <a:srgbClr val="313131"/>
                </a:solidFill>
                <a:latin typeface="Calibri"/>
                <a:ea typeface="Calibri"/>
                <a:cs typeface="Calibri"/>
                <a:sym typeface="Calibri"/>
              </a:rPr>
              <a:t>réseau </a:t>
            </a:r>
            <a:r>
              <a:rPr lang="en-US" sz="2800">
                <a:solidFill>
                  <a:srgbClr val="1F1F1F"/>
                </a:solidFill>
                <a:latin typeface="Calibri"/>
                <a:ea typeface="Calibri"/>
                <a:cs typeface="Calibri"/>
                <a:sym typeface="Calibri"/>
              </a:rPr>
              <a:t>(networks).</a:t>
            </a:r>
            <a:endParaRPr sz="2800">
              <a:latin typeface="Calibri"/>
              <a:ea typeface="Calibri"/>
              <a:cs typeface="Calibri"/>
              <a:sym typeface="Calibri"/>
            </a:endParaRPr>
          </a:p>
        </p:txBody>
      </p:sp>
      <p:sp>
        <p:nvSpPr>
          <p:cNvPr id="306" name="Google Shape;306;p18"/>
          <p:cNvSpPr txBox="1"/>
          <p:nvPr/>
        </p:nvSpPr>
        <p:spPr>
          <a:xfrm>
            <a:off x="3339435" y="4873276"/>
            <a:ext cx="13904594" cy="2224405"/>
          </a:xfrm>
          <a:prstGeom prst="rect">
            <a:avLst/>
          </a:prstGeom>
          <a:noFill/>
          <a:ln>
            <a:noFill/>
          </a:ln>
        </p:spPr>
        <p:txBody>
          <a:bodyPr anchorCtr="0" anchor="t" bIns="0" lIns="0" spcFirstLastPara="1" rIns="0" wrap="square" tIns="181600">
            <a:spAutoFit/>
          </a:bodyPr>
          <a:lstStyle/>
          <a:p>
            <a:pPr indent="0" lvl="0" marL="15240" rtl="0" algn="l">
              <a:lnSpc>
                <a:spcPct val="100000"/>
              </a:lnSpc>
              <a:spcBef>
                <a:spcPts val="0"/>
              </a:spcBef>
              <a:spcAft>
                <a:spcPts val="0"/>
              </a:spcAft>
              <a:buNone/>
            </a:pPr>
            <a:r>
              <a:rPr b="1" lang="en-US" sz="2800">
                <a:solidFill>
                  <a:srgbClr val="08608E"/>
                </a:solidFill>
                <a:latin typeface="Calibri"/>
                <a:ea typeface="Calibri"/>
                <a:cs typeface="Calibri"/>
                <a:sym typeface="Calibri"/>
              </a:rPr>
              <a:t>Complexité </a:t>
            </a:r>
            <a:r>
              <a:rPr b="1" lang="en-US" sz="2800">
                <a:solidFill>
                  <a:srgbClr val="0364A1"/>
                </a:solidFill>
                <a:latin typeface="Calibri"/>
                <a:ea typeface="Calibri"/>
                <a:cs typeface="Calibri"/>
                <a:sym typeface="Calibri"/>
              </a:rPr>
              <a:t>du </a:t>
            </a:r>
            <a:r>
              <a:rPr b="1" lang="en-US" sz="2800">
                <a:solidFill>
                  <a:srgbClr val="0C6793"/>
                </a:solidFill>
                <a:latin typeface="Calibri"/>
                <a:ea typeface="Calibri"/>
                <a:cs typeface="Calibri"/>
                <a:sym typeface="Calibri"/>
              </a:rPr>
              <a:t>Streaming </a:t>
            </a:r>
            <a:r>
              <a:rPr b="1" lang="en-US" sz="2800">
                <a:solidFill>
                  <a:srgbClr val="00628E"/>
                </a:solidFill>
                <a:latin typeface="Calibri"/>
                <a:ea typeface="Calibri"/>
                <a:cs typeface="Calibri"/>
                <a:sym typeface="Calibri"/>
              </a:rPr>
              <a:t>avec </a:t>
            </a:r>
            <a:r>
              <a:rPr b="1" lang="en-US" sz="2800">
                <a:solidFill>
                  <a:srgbClr val="006EAA"/>
                </a:solidFill>
                <a:latin typeface="Calibri"/>
                <a:ea typeface="Calibri"/>
                <a:cs typeface="Calibri"/>
                <a:sym typeface="Calibri"/>
              </a:rPr>
              <a:t>Apache </a:t>
            </a:r>
            <a:r>
              <a:rPr b="1" lang="en-US" sz="2800">
                <a:solidFill>
                  <a:srgbClr val="006D9E"/>
                </a:solidFill>
                <a:latin typeface="Calibri"/>
                <a:ea typeface="Calibri"/>
                <a:cs typeface="Calibri"/>
                <a:sym typeface="Calibri"/>
              </a:rPr>
              <a:t>Kafka</a:t>
            </a:r>
            <a:endParaRPr sz="2800">
              <a:latin typeface="Calibri"/>
              <a:ea typeface="Calibri"/>
              <a:cs typeface="Calibri"/>
              <a:sym typeface="Calibri"/>
            </a:endParaRPr>
          </a:p>
          <a:p>
            <a:pPr indent="10160" lvl="0" marL="12700" marR="5080" rtl="0" algn="l">
              <a:lnSpc>
                <a:spcPct val="117800"/>
              </a:lnSpc>
              <a:spcBef>
                <a:spcPts val="745"/>
              </a:spcBef>
              <a:spcAft>
                <a:spcPts val="0"/>
              </a:spcAft>
              <a:buNone/>
            </a:pPr>
            <a:r>
              <a:rPr lang="en-US" sz="2800">
                <a:solidFill>
                  <a:srgbClr val="313131"/>
                </a:solidFill>
                <a:latin typeface="Calibri"/>
                <a:ea typeface="Calibri"/>
                <a:cs typeface="Calibri"/>
                <a:sym typeface="Calibri"/>
              </a:rPr>
              <a:t>Passage </a:t>
            </a:r>
            <a:r>
              <a:rPr lang="en-US" sz="2800">
                <a:solidFill>
                  <a:srgbClr val="383838"/>
                </a:solidFill>
                <a:latin typeface="Calibri"/>
                <a:ea typeface="Calibri"/>
                <a:cs typeface="Calibri"/>
                <a:sym typeface="Calibri"/>
              </a:rPr>
              <a:t>d'un </a:t>
            </a:r>
            <a:r>
              <a:rPr lang="en-US" sz="2800">
                <a:solidFill>
                  <a:srgbClr val="333333"/>
                </a:solidFill>
                <a:latin typeface="Calibri"/>
                <a:ea typeface="Calibri"/>
                <a:cs typeface="Calibri"/>
                <a:sym typeface="Calibri"/>
              </a:rPr>
              <a:t>paradigme </a:t>
            </a:r>
            <a:r>
              <a:rPr lang="en-US" sz="2800">
                <a:solidFill>
                  <a:srgbClr val="343434"/>
                </a:solidFill>
                <a:latin typeface="Calibri"/>
                <a:ea typeface="Calibri"/>
                <a:cs typeface="Calibri"/>
                <a:sym typeface="Calibri"/>
              </a:rPr>
              <a:t>"Batch" </a:t>
            </a:r>
            <a:r>
              <a:rPr lang="en-US" sz="2800">
                <a:solidFill>
                  <a:srgbClr val="383838"/>
                </a:solidFill>
                <a:latin typeface="Calibri"/>
                <a:ea typeface="Calibri"/>
                <a:cs typeface="Calibri"/>
                <a:sym typeface="Calibri"/>
              </a:rPr>
              <a:t>à </a:t>
            </a:r>
            <a:r>
              <a:rPr lang="en-US" sz="2800">
                <a:solidFill>
                  <a:srgbClr val="2D2D2D"/>
                </a:solidFill>
                <a:latin typeface="Calibri"/>
                <a:ea typeface="Calibri"/>
                <a:cs typeface="Calibri"/>
                <a:sym typeface="Calibri"/>
              </a:rPr>
              <a:t>"Streaming". </a:t>
            </a:r>
            <a:r>
              <a:rPr lang="en-US" sz="2800">
                <a:solidFill>
                  <a:srgbClr val="363636"/>
                </a:solidFill>
                <a:latin typeface="Calibri"/>
                <a:ea typeface="Calibri"/>
                <a:cs typeface="Calibri"/>
                <a:sym typeface="Calibri"/>
              </a:rPr>
              <a:t>Grand </a:t>
            </a:r>
            <a:r>
              <a:rPr lang="en-US" sz="2800">
                <a:solidFill>
                  <a:srgbClr val="343434"/>
                </a:solidFill>
                <a:latin typeface="Calibri"/>
                <a:ea typeface="Calibri"/>
                <a:cs typeface="Calibri"/>
                <a:sym typeface="Calibri"/>
              </a:rPr>
              <a:t>effort </a:t>
            </a:r>
            <a:r>
              <a:rPr lang="en-US" sz="2800">
                <a:solidFill>
                  <a:srgbClr val="383838"/>
                </a:solidFill>
                <a:latin typeface="Calibri"/>
                <a:ea typeface="Calibri"/>
                <a:cs typeface="Calibri"/>
                <a:sym typeface="Calibri"/>
              </a:rPr>
              <a:t>fourni pour </a:t>
            </a:r>
            <a:r>
              <a:rPr lang="en-US" sz="2800">
                <a:solidFill>
                  <a:srgbClr val="313131"/>
                </a:solidFill>
                <a:latin typeface="Calibri"/>
                <a:ea typeface="Calibri"/>
                <a:cs typeface="Calibri"/>
                <a:sym typeface="Calibri"/>
              </a:rPr>
              <a:t>comprendre le </a:t>
            </a:r>
            <a:r>
              <a:rPr lang="en-US" sz="2800">
                <a:solidFill>
                  <a:srgbClr val="363636"/>
                </a:solidFill>
                <a:latin typeface="Calibri"/>
                <a:ea typeface="Calibri"/>
                <a:cs typeface="Calibri"/>
                <a:sym typeface="Calibri"/>
              </a:rPr>
              <a:t>rôle </a:t>
            </a:r>
            <a:r>
              <a:rPr lang="en-US" sz="2800">
                <a:solidFill>
                  <a:srgbClr val="2F2F2F"/>
                </a:solidFill>
                <a:latin typeface="Calibri"/>
                <a:ea typeface="Calibri"/>
                <a:cs typeface="Calibri"/>
                <a:sym typeface="Calibri"/>
              </a:rPr>
              <a:t>de </a:t>
            </a:r>
            <a:r>
              <a:rPr lang="en-US" sz="2800">
                <a:solidFill>
                  <a:srgbClr val="313131"/>
                </a:solidFill>
                <a:latin typeface="Calibri"/>
                <a:ea typeface="Calibri"/>
                <a:cs typeface="Calibri"/>
                <a:sym typeface="Calibri"/>
              </a:rPr>
              <a:t>Zookeeper, </a:t>
            </a:r>
            <a:r>
              <a:rPr lang="en-US" sz="2800">
                <a:solidFill>
                  <a:srgbClr val="383838"/>
                </a:solidFill>
                <a:latin typeface="Calibri"/>
                <a:ea typeface="Calibri"/>
                <a:cs typeface="Calibri"/>
                <a:sym typeface="Calibri"/>
              </a:rPr>
              <a:t>la </a:t>
            </a:r>
            <a:r>
              <a:rPr lang="en-US" sz="2800">
                <a:solidFill>
                  <a:srgbClr val="333333"/>
                </a:solidFill>
                <a:latin typeface="Calibri"/>
                <a:ea typeface="Calibri"/>
                <a:cs typeface="Calibri"/>
                <a:sym typeface="Calibri"/>
              </a:rPr>
              <a:t>configuration </a:t>
            </a:r>
            <a:r>
              <a:rPr lang="en-US" sz="2800">
                <a:solidFill>
                  <a:srgbClr val="2F2F2F"/>
                </a:solidFill>
                <a:latin typeface="Calibri"/>
                <a:ea typeface="Calibri"/>
                <a:cs typeface="Calibri"/>
                <a:sym typeface="Calibri"/>
              </a:rPr>
              <a:t>des </a:t>
            </a:r>
            <a:r>
              <a:rPr lang="en-US" sz="2800">
                <a:solidFill>
                  <a:srgbClr val="2D2D2D"/>
                </a:solidFill>
                <a:latin typeface="Calibri"/>
                <a:ea typeface="Calibri"/>
                <a:cs typeface="Calibri"/>
                <a:sym typeface="Calibri"/>
              </a:rPr>
              <a:t>partitions </a:t>
            </a:r>
            <a:r>
              <a:rPr lang="en-US" sz="2800">
                <a:solidFill>
                  <a:srgbClr val="343434"/>
                </a:solidFill>
                <a:latin typeface="Calibri"/>
                <a:ea typeface="Calibri"/>
                <a:cs typeface="Calibri"/>
                <a:sym typeface="Calibri"/>
              </a:rPr>
              <a:t>Kafka, </a:t>
            </a:r>
            <a:r>
              <a:rPr lang="en-US" sz="2800">
                <a:solidFill>
                  <a:srgbClr val="3A3A3A"/>
                </a:solidFill>
                <a:latin typeface="Calibri"/>
                <a:ea typeface="Calibri"/>
                <a:cs typeface="Calibri"/>
                <a:sym typeface="Calibri"/>
              </a:rPr>
              <a:t>la </a:t>
            </a:r>
            <a:r>
              <a:rPr lang="en-US" sz="2800">
                <a:solidFill>
                  <a:srgbClr val="313131"/>
                </a:solidFill>
                <a:latin typeface="Calibri"/>
                <a:ea typeface="Calibri"/>
                <a:cs typeface="Calibri"/>
                <a:sym typeface="Calibri"/>
              </a:rPr>
              <a:t>rétention </a:t>
            </a:r>
            <a:r>
              <a:rPr lang="en-US" sz="2800">
                <a:solidFill>
                  <a:srgbClr val="2F2F2F"/>
                </a:solidFill>
                <a:latin typeface="Calibri"/>
                <a:ea typeface="Calibri"/>
                <a:cs typeface="Calibri"/>
                <a:sym typeface="Calibri"/>
              </a:rPr>
              <a:t>des </a:t>
            </a:r>
            <a:r>
              <a:rPr lang="en-US" sz="2800">
                <a:solidFill>
                  <a:srgbClr val="363636"/>
                </a:solidFill>
                <a:latin typeface="Calibri"/>
                <a:ea typeface="Calibri"/>
                <a:cs typeface="Calibri"/>
                <a:sym typeface="Calibri"/>
              </a:rPr>
              <a:t>messages et </a:t>
            </a:r>
            <a:r>
              <a:rPr lang="en-US" sz="2800">
                <a:solidFill>
                  <a:srgbClr val="2F2F2F"/>
                </a:solidFill>
                <a:latin typeface="Calibri"/>
                <a:ea typeface="Calibri"/>
                <a:cs typeface="Calibri"/>
                <a:sym typeface="Calibri"/>
              </a:rPr>
              <a:t>l'implémentation correcte </a:t>
            </a:r>
            <a:r>
              <a:rPr lang="en-US" sz="2800">
                <a:solidFill>
                  <a:srgbClr val="363636"/>
                </a:solidFill>
                <a:latin typeface="Calibri"/>
                <a:ea typeface="Calibri"/>
                <a:cs typeface="Calibri"/>
                <a:sym typeface="Calibri"/>
              </a:rPr>
              <a:t>des </a:t>
            </a:r>
            <a:r>
              <a:rPr lang="en-US" sz="2800">
                <a:solidFill>
                  <a:srgbClr val="2F2F2F"/>
                </a:solidFill>
                <a:latin typeface="Calibri"/>
                <a:ea typeface="Calibri"/>
                <a:cs typeface="Calibri"/>
                <a:sym typeface="Calibri"/>
              </a:rPr>
              <a:t>Producers/Consumers en </a:t>
            </a:r>
            <a:r>
              <a:rPr lang="en-US" sz="2800">
                <a:solidFill>
                  <a:srgbClr val="313131"/>
                </a:solidFill>
                <a:latin typeface="Calibri"/>
                <a:ea typeface="Calibri"/>
                <a:cs typeface="Calibri"/>
                <a:sym typeface="Calibri"/>
              </a:rPr>
              <a:t>Python.</a:t>
            </a:r>
            <a:endParaRPr sz="2800">
              <a:latin typeface="Calibri"/>
              <a:ea typeface="Calibri"/>
              <a:cs typeface="Calibri"/>
              <a:sym typeface="Calibri"/>
            </a:endParaRPr>
          </a:p>
        </p:txBody>
      </p:sp>
      <p:sp>
        <p:nvSpPr>
          <p:cNvPr id="307" name="Google Shape;307;p18"/>
          <p:cNvSpPr txBox="1"/>
          <p:nvPr/>
        </p:nvSpPr>
        <p:spPr>
          <a:xfrm>
            <a:off x="3341784" y="8265843"/>
            <a:ext cx="14041755" cy="2224405"/>
          </a:xfrm>
          <a:prstGeom prst="rect">
            <a:avLst/>
          </a:prstGeom>
          <a:noFill/>
          <a:ln>
            <a:noFill/>
          </a:ln>
        </p:spPr>
        <p:txBody>
          <a:bodyPr anchorCtr="0" anchor="t" bIns="0" lIns="0" spcFirstLastPara="1" rIns="0" wrap="square" tIns="181600">
            <a:spAutoFit/>
          </a:bodyPr>
          <a:lstStyle/>
          <a:p>
            <a:pPr indent="0" lvl="0" marL="17780" rtl="0" algn="just">
              <a:lnSpc>
                <a:spcPct val="100000"/>
              </a:lnSpc>
              <a:spcBef>
                <a:spcPts val="0"/>
              </a:spcBef>
              <a:spcAft>
                <a:spcPts val="0"/>
              </a:spcAft>
              <a:buNone/>
            </a:pPr>
            <a:r>
              <a:rPr b="1" lang="en-US" sz="2800">
                <a:solidFill>
                  <a:srgbClr val="1160A1"/>
                </a:solidFill>
                <a:latin typeface="Calibri"/>
                <a:ea typeface="Calibri"/>
                <a:cs typeface="Calibri"/>
                <a:sym typeface="Calibri"/>
              </a:rPr>
              <a:t>Paradigme </a:t>
            </a:r>
            <a:r>
              <a:rPr b="1" lang="en-US" sz="2800">
                <a:solidFill>
                  <a:srgbClr val="0364A1"/>
                </a:solidFill>
                <a:latin typeface="Calibri"/>
                <a:ea typeface="Calibri"/>
                <a:cs typeface="Calibri"/>
                <a:sym typeface="Calibri"/>
              </a:rPr>
              <a:t>d'Orchestration </a:t>
            </a:r>
            <a:r>
              <a:rPr b="1" lang="en-US" sz="2800">
                <a:solidFill>
                  <a:srgbClr val="006B9E"/>
                </a:solidFill>
                <a:latin typeface="Calibri"/>
                <a:ea typeface="Calibri"/>
                <a:cs typeface="Calibri"/>
                <a:sym typeface="Calibri"/>
              </a:rPr>
              <a:t>Airflow</a:t>
            </a:r>
            <a:endParaRPr sz="2800">
              <a:latin typeface="Calibri"/>
              <a:ea typeface="Calibri"/>
              <a:cs typeface="Calibri"/>
              <a:sym typeface="Calibri"/>
            </a:endParaRPr>
          </a:p>
          <a:p>
            <a:pPr indent="-635" lvl="0" marL="12700" marR="5080" rtl="0" algn="just">
              <a:lnSpc>
                <a:spcPct val="117800"/>
              </a:lnSpc>
              <a:spcBef>
                <a:spcPts val="745"/>
              </a:spcBef>
              <a:spcAft>
                <a:spcPts val="0"/>
              </a:spcAft>
              <a:buNone/>
            </a:pPr>
            <a:r>
              <a:rPr lang="en-US" sz="2800">
                <a:solidFill>
                  <a:srgbClr val="313131"/>
                </a:solidFill>
                <a:latin typeface="Calibri"/>
                <a:ea typeface="Calibri"/>
                <a:cs typeface="Calibri"/>
                <a:sym typeface="Calibri"/>
              </a:rPr>
              <a:t>Exploration </a:t>
            </a:r>
            <a:r>
              <a:rPr lang="en-US" sz="2800">
                <a:solidFill>
                  <a:srgbClr val="2F2F2F"/>
                </a:solidFill>
                <a:latin typeface="Calibri"/>
                <a:ea typeface="Calibri"/>
                <a:cs typeface="Calibri"/>
                <a:sym typeface="Calibri"/>
              </a:rPr>
              <a:t>du fonctionnement interne </a:t>
            </a:r>
            <a:r>
              <a:rPr lang="en-US" sz="2800">
                <a:solidFill>
                  <a:srgbClr val="2D2D2D"/>
                </a:solidFill>
                <a:latin typeface="Calibri"/>
                <a:ea typeface="Calibri"/>
                <a:cs typeface="Calibri"/>
                <a:sym typeface="Calibri"/>
              </a:rPr>
              <a:t>d'Airflow. </a:t>
            </a:r>
            <a:r>
              <a:rPr lang="en-US" sz="2800">
                <a:solidFill>
                  <a:srgbClr val="2F2F2F"/>
                </a:solidFill>
                <a:latin typeface="Calibri"/>
                <a:ea typeface="Calibri"/>
                <a:cs typeface="Calibri"/>
                <a:sym typeface="Calibri"/>
              </a:rPr>
              <a:t>Compréhension </a:t>
            </a:r>
            <a:r>
              <a:rPr lang="en-US" sz="2800">
                <a:solidFill>
                  <a:srgbClr val="313131"/>
                </a:solidFill>
                <a:latin typeface="Calibri"/>
                <a:ea typeface="Calibri"/>
                <a:cs typeface="Calibri"/>
                <a:sym typeface="Calibri"/>
              </a:rPr>
              <a:t>de </a:t>
            </a:r>
            <a:r>
              <a:rPr lang="en-US" sz="2800">
                <a:solidFill>
                  <a:srgbClr val="383838"/>
                </a:solidFill>
                <a:latin typeface="Calibri"/>
                <a:ea typeface="Calibri"/>
                <a:cs typeface="Calibri"/>
                <a:sym typeface="Calibri"/>
              </a:rPr>
              <a:t>la </a:t>
            </a:r>
            <a:r>
              <a:rPr lang="en-US" sz="2800">
                <a:solidFill>
                  <a:srgbClr val="2F2F2F"/>
                </a:solidFill>
                <a:latin typeface="Calibri"/>
                <a:ea typeface="Calibri"/>
                <a:cs typeface="Calibri"/>
                <a:sym typeface="Calibri"/>
              </a:rPr>
              <a:t>différence </a:t>
            </a:r>
            <a:r>
              <a:rPr lang="en-US" sz="2800">
                <a:solidFill>
                  <a:srgbClr val="363636"/>
                </a:solidFill>
                <a:latin typeface="Calibri"/>
                <a:ea typeface="Calibri"/>
                <a:cs typeface="Calibri"/>
                <a:sym typeface="Calibri"/>
              </a:rPr>
              <a:t>entre </a:t>
            </a:r>
            <a:r>
              <a:rPr lang="en-US" sz="2800">
                <a:solidFill>
                  <a:srgbClr val="2F2F2F"/>
                </a:solidFill>
                <a:latin typeface="Calibri"/>
                <a:ea typeface="Calibri"/>
                <a:cs typeface="Calibri"/>
                <a:sym typeface="Calibri"/>
              </a:rPr>
              <a:t>l'environnement </a:t>
            </a:r>
            <a:r>
              <a:rPr lang="en-US" sz="2800">
                <a:solidFill>
                  <a:srgbClr val="363636"/>
                </a:solidFill>
                <a:latin typeface="Calibri"/>
                <a:ea typeface="Calibri"/>
                <a:cs typeface="Calibri"/>
                <a:sym typeface="Calibri"/>
              </a:rPr>
              <a:t>Airflow </a:t>
            </a:r>
            <a:r>
              <a:rPr lang="en-US" sz="2800">
                <a:solidFill>
                  <a:srgbClr val="313131"/>
                </a:solidFill>
                <a:latin typeface="Calibri"/>
                <a:ea typeface="Calibri"/>
                <a:cs typeface="Calibri"/>
                <a:sym typeface="Calibri"/>
              </a:rPr>
              <a:t>et </a:t>
            </a:r>
            <a:r>
              <a:rPr lang="en-US" sz="2800">
                <a:solidFill>
                  <a:srgbClr val="363636"/>
                </a:solidFill>
                <a:latin typeface="Calibri"/>
                <a:ea typeface="Calibri"/>
                <a:cs typeface="Calibri"/>
                <a:sym typeface="Calibri"/>
              </a:rPr>
              <a:t>les </a:t>
            </a:r>
            <a:r>
              <a:rPr lang="en-US" sz="2800">
                <a:solidFill>
                  <a:srgbClr val="2F2F2F"/>
                </a:solidFill>
                <a:latin typeface="Calibri"/>
                <a:ea typeface="Calibri"/>
                <a:cs typeface="Calibri"/>
                <a:sym typeface="Calibri"/>
              </a:rPr>
              <a:t>scripts </a:t>
            </a:r>
            <a:r>
              <a:rPr lang="en-US" sz="2800">
                <a:solidFill>
                  <a:srgbClr val="313131"/>
                </a:solidFill>
                <a:latin typeface="Calibri"/>
                <a:ea typeface="Calibri"/>
                <a:cs typeface="Calibri"/>
                <a:sym typeface="Calibri"/>
              </a:rPr>
              <a:t>exécutés, </a:t>
            </a:r>
            <a:r>
              <a:rPr lang="en-US" sz="2800">
                <a:solidFill>
                  <a:srgbClr val="2F2F2F"/>
                </a:solidFill>
                <a:latin typeface="Calibri"/>
                <a:ea typeface="Calibri"/>
                <a:cs typeface="Calibri"/>
                <a:sym typeface="Calibri"/>
              </a:rPr>
              <a:t>gestion des </a:t>
            </a:r>
            <a:r>
              <a:rPr lang="en-US" sz="2800">
                <a:solidFill>
                  <a:srgbClr val="343434"/>
                </a:solidFill>
                <a:latin typeface="Calibri"/>
                <a:ea typeface="Calibri"/>
                <a:cs typeface="Calibri"/>
                <a:sym typeface="Calibri"/>
              </a:rPr>
              <a:t>chemins </a:t>
            </a:r>
            <a:r>
              <a:rPr lang="en-US" sz="2800">
                <a:solidFill>
                  <a:srgbClr val="2F2F2F"/>
                </a:solidFill>
                <a:latin typeface="Calibri"/>
                <a:ea typeface="Calibri"/>
                <a:cs typeface="Calibri"/>
                <a:sym typeface="Calibri"/>
              </a:rPr>
              <a:t>absolus </a:t>
            </a:r>
            <a:r>
              <a:rPr lang="en-US" sz="2800">
                <a:solidFill>
                  <a:srgbClr val="383838"/>
                </a:solidFill>
                <a:latin typeface="Calibri"/>
                <a:ea typeface="Calibri"/>
                <a:cs typeface="Calibri"/>
                <a:sym typeface="Calibri"/>
              </a:rPr>
              <a:t>dans </a:t>
            </a:r>
            <a:r>
              <a:rPr lang="en-US" sz="2800">
                <a:solidFill>
                  <a:srgbClr val="313131"/>
                </a:solidFill>
                <a:latin typeface="Calibri"/>
                <a:ea typeface="Calibri"/>
                <a:cs typeface="Calibri"/>
                <a:sym typeface="Calibri"/>
              </a:rPr>
              <a:t>les </a:t>
            </a:r>
            <a:r>
              <a:rPr lang="en-US" sz="2800">
                <a:solidFill>
                  <a:srgbClr val="2F2F2F"/>
                </a:solidFill>
                <a:latin typeface="Calibri"/>
                <a:ea typeface="Calibri"/>
                <a:cs typeface="Calibri"/>
                <a:sym typeface="Calibri"/>
              </a:rPr>
              <a:t>conteneurs </a:t>
            </a:r>
            <a:r>
              <a:rPr lang="en-US" sz="2800">
                <a:solidFill>
                  <a:srgbClr val="363636"/>
                </a:solidFill>
                <a:latin typeface="Calibri"/>
                <a:ea typeface="Calibri"/>
                <a:cs typeface="Calibri"/>
                <a:sym typeface="Calibri"/>
              </a:rPr>
              <a:t>et </a:t>
            </a:r>
            <a:r>
              <a:rPr lang="en-US" sz="2800">
                <a:solidFill>
                  <a:srgbClr val="343434"/>
                </a:solidFill>
                <a:latin typeface="Calibri"/>
                <a:ea typeface="Calibri"/>
                <a:cs typeface="Calibri"/>
                <a:sym typeface="Calibri"/>
              </a:rPr>
              <a:t>debugging </a:t>
            </a:r>
            <a:r>
              <a:rPr lang="en-US" sz="2800">
                <a:solidFill>
                  <a:srgbClr val="383838"/>
                </a:solidFill>
                <a:latin typeface="Calibri"/>
                <a:ea typeface="Calibri"/>
                <a:cs typeface="Calibri"/>
                <a:sym typeface="Calibri"/>
              </a:rPr>
              <a:t>via </a:t>
            </a:r>
            <a:r>
              <a:rPr lang="en-US" sz="2800">
                <a:solidFill>
                  <a:srgbClr val="313131"/>
                </a:solidFill>
                <a:latin typeface="Calibri"/>
                <a:ea typeface="Calibri"/>
                <a:cs typeface="Calibri"/>
                <a:sym typeface="Calibri"/>
              </a:rPr>
              <a:t>les </a:t>
            </a:r>
            <a:r>
              <a:rPr lang="en-US" sz="2800">
                <a:solidFill>
                  <a:srgbClr val="2F2F2F"/>
                </a:solidFill>
                <a:latin typeface="Calibri"/>
                <a:ea typeface="Calibri"/>
                <a:cs typeface="Calibri"/>
                <a:sym typeface="Calibri"/>
              </a:rPr>
              <a:t>logs UI.</a:t>
            </a:r>
            <a:endParaRPr sz="28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1" name="Shape 311"/>
        <p:cNvGrpSpPr/>
        <p:nvPr/>
      </p:nvGrpSpPr>
      <p:grpSpPr>
        <a:xfrm>
          <a:off x="0" y="0"/>
          <a:ext cx="0" cy="0"/>
          <a:chOff x="0" y="0"/>
          <a:chExt cx="0" cy="0"/>
        </a:xfrm>
      </p:grpSpPr>
      <p:sp>
        <p:nvSpPr>
          <p:cNvPr descr="$PPTXTitle" id="312" name="Google Shape;312;p19"/>
          <p:cNvSpPr txBox="1"/>
          <p:nvPr>
            <p:ph type="title"/>
          </p:nvPr>
        </p:nvSpPr>
        <p:spPr>
          <a:xfrm>
            <a:off x="913592" y="318441"/>
            <a:ext cx="15012418" cy="1494433"/>
          </a:xfrm>
          <a:prstGeom prst="rect">
            <a:avLst/>
          </a:prstGeom>
          <a:noFill/>
          <a:ln>
            <a:noFill/>
          </a:ln>
        </p:spPr>
        <p:txBody>
          <a:bodyPr anchorCtr="0" anchor="t" bIns="0" lIns="0" spcFirstLastPara="1" rIns="0" wrap="square" tIns="502750">
            <a:spAutoFit/>
          </a:bodyPr>
          <a:lstStyle/>
          <a:p>
            <a:pPr indent="0" lvl="0" marL="12700" rtl="0" algn="l">
              <a:lnSpc>
                <a:spcPct val="100000"/>
              </a:lnSpc>
              <a:spcBef>
                <a:spcPts val="0"/>
              </a:spcBef>
              <a:spcAft>
                <a:spcPts val="0"/>
              </a:spcAft>
              <a:buNone/>
            </a:pPr>
            <a:r>
              <a:rPr lang="en-US">
                <a:solidFill>
                  <a:srgbClr val="0169A3"/>
                </a:solidFill>
              </a:rPr>
              <a:t>Défis </a:t>
            </a:r>
            <a:r>
              <a:rPr lang="en-US"/>
              <a:t>Techniques </a:t>
            </a:r>
            <a:r>
              <a:rPr lang="en-US">
                <a:solidFill>
                  <a:srgbClr val="0067A5"/>
                </a:solidFill>
              </a:rPr>
              <a:t>&amp; </a:t>
            </a:r>
            <a:r>
              <a:rPr lang="en-US">
                <a:solidFill>
                  <a:srgbClr val="05699E"/>
                </a:solidFill>
              </a:rPr>
              <a:t>Solutions</a:t>
            </a:r>
            <a:endParaRPr/>
          </a:p>
        </p:txBody>
      </p:sp>
      <p:sp>
        <p:nvSpPr>
          <p:cNvPr id="313" name="Google Shape;313;p19"/>
          <p:cNvSpPr txBox="1"/>
          <p:nvPr>
            <p:ph idx="1" type="body"/>
          </p:nvPr>
        </p:nvSpPr>
        <p:spPr>
          <a:xfrm>
            <a:off x="1558285" y="3254216"/>
            <a:ext cx="7305040" cy="6152515"/>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None/>
            </a:pPr>
            <a:r>
              <a:rPr lang="en-US">
                <a:solidFill>
                  <a:srgbClr val="ED4444"/>
                </a:solidFill>
              </a:rPr>
              <a:t>&amp; </a:t>
            </a:r>
            <a:r>
              <a:rPr lang="en-US">
                <a:solidFill>
                  <a:srgbClr val="FB3D42"/>
                </a:solidFill>
              </a:rPr>
              <a:t>Les </a:t>
            </a:r>
            <a:r>
              <a:rPr lang="en-US"/>
              <a:t>Défis</a:t>
            </a:r>
            <a:endParaRPr/>
          </a:p>
          <a:p>
            <a:pPr indent="1905" lvl="0" marL="505459" marR="5080" rtl="0" algn="just">
              <a:lnSpc>
                <a:spcPct val="117800"/>
              </a:lnSpc>
              <a:spcBef>
                <a:spcPts val="2115"/>
              </a:spcBef>
              <a:spcAft>
                <a:spcPts val="0"/>
              </a:spcAft>
              <a:buNone/>
            </a:pPr>
            <a:r>
              <a:rPr lang="en-US" sz="2800">
                <a:solidFill>
                  <a:srgbClr val="3B3B3B"/>
                </a:solidFill>
              </a:rPr>
              <a:t>Évolution </a:t>
            </a:r>
            <a:r>
              <a:rPr lang="en-US" sz="2800">
                <a:solidFill>
                  <a:srgbClr val="344870"/>
                </a:solidFill>
              </a:rPr>
              <a:t>des </a:t>
            </a:r>
            <a:r>
              <a:rPr lang="en-US" sz="2800">
                <a:solidFill>
                  <a:srgbClr val="2F4B62"/>
                </a:solidFill>
              </a:rPr>
              <a:t>pages </a:t>
            </a:r>
            <a:r>
              <a:rPr lang="en-US" sz="2800">
                <a:solidFill>
                  <a:srgbClr val="383838"/>
                </a:solidFill>
              </a:rPr>
              <a:t>web: </a:t>
            </a:r>
            <a:r>
              <a:rPr lang="en-US" sz="2800">
                <a:solidFill>
                  <a:srgbClr val="343434"/>
                </a:solidFill>
              </a:rPr>
              <a:t>Les </a:t>
            </a:r>
            <a:r>
              <a:rPr lang="en-US" sz="2800">
                <a:solidFill>
                  <a:srgbClr val="2F2F2F"/>
                </a:solidFill>
              </a:rPr>
              <a:t>sites </a:t>
            </a:r>
            <a:r>
              <a:rPr lang="en-US" sz="2800">
                <a:solidFill>
                  <a:srgbClr val="363636"/>
                </a:solidFill>
              </a:rPr>
              <a:t>web modifient </a:t>
            </a:r>
            <a:r>
              <a:rPr lang="en-US" sz="2800">
                <a:solidFill>
                  <a:srgbClr val="2F2F2F"/>
                </a:solidFill>
              </a:rPr>
              <a:t>fréquemment Ieurs </a:t>
            </a:r>
            <a:r>
              <a:rPr lang="en-US" sz="2800">
                <a:solidFill>
                  <a:srgbClr val="313131"/>
                </a:solidFill>
              </a:rPr>
              <a:t>balises HTML, </a:t>
            </a:r>
            <a:r>
              <a:rPr lang="en-US" sz="2800">
                <a:solidFill>
                  <a:srgbClr val="2D2D2D"/>
                </a:solidFill>
              </a:rPr>
              <a:t>cassant </a:t>
            </a:r>
            <a:r>
              <a:rPr lang="en-US" sz="2800">
                <a:solidFill>
                  <a:srgbClr val="3A3A3A"/>
                </a:solidFill>
              </a:rPr>
              <a:t>le </a:t>
            </a:r>
            <a:r>
              <a:rPr lang="en-US" sz="2800">
                <a:solidFill>
                  <a:srgbClr val="313131"/>
                </a:solidFill>
              </a:rPr>
              <a:t>script </a:t>
            </a:r>
            <a:r>
              <a:rPr lang="en-US" sz="2800">
                <a:solidFill>
                  <a:srgbClr val="363636"/>
                </a:solidFill>
              </a:rPr>
              <a:t>de </a:t>
            </a:r>
            <a:r>
              <a:rPr lang="en-US" sz="2800">
                <a:solidFill>
                  <a:srgbClr val="343434"/>
                </a:solidFill>
              </a:rPr>
              <a:t>scraping.</a:t>
            </a:r>
            <a:endParaRPr sz="2800"/>
          </a:p>
          <a:p>
            <a:pPr indent="-1905" lvl="0" marL="508000" marR="481330" rtl="0" algn="just">
              <a:lnSpc>
                <a:spcPct val="117800"/>
              </a:lnSpc>
              <a:spcBef>
                <a:spcPts val="2470"/>
              </a:spcBef>
              <a:spcAft>
                <a:spcPts val="0"/>
              </a:spcAft>
              <a:buNone/>
            </a:pPr>
            <a:r>
              <a:rPr lang="en-US" sz="2800">
                <a:solidFill>
                  <a:srgbClr val="284462"/>
                </a:solidFill>
              </a:rPr>
              <a:t>Goulot </a:t>
            </a:r>
            <a:r>
              <a:rPr lang="en-US" sz="2800">
                <a:solidFill>
                  <a:srgbClr val="383838"/>
                </a:solidFill>
              </a:rPr>
              <a:t>d'étranglement </a:t>
            </a:r>
            <a:r>
              <a:rPr lang="en-US" sz="2800">
                <a:solidFill>
                  <a:srgbClr val="363636"/>
                </a:solidFill>
              </a:rPr>
              <a:t>: </a:t>
            </a:r>
            <a:r>
              <a:rPr lang="en-US" sz="2800">
                <a:solidFill>
                  <a:srgbClr val="282828"/>
                </a:solidFill>
              </a:rPr>
              <a:t>Eécriture </a:t>
            </a:r>
            <a:r>
              <a:rPr lang="en-US" sz="2800">
                <a:solidFill>
                  <a:srgbClr val="2F2F2F"/>
                </a:solidFill>
              </a:rPr>
              <a:t>asynchrone </a:t>
            </a:r>
            <a:r>
              <a:rPr lang="en-US" sz="2800">
                <a:solidFill>
                  <a:srgbClr val="343434"/>
                </a:solidFill>
              </a:rPr>
              <a:t>MinIO/PostgreSQL </a:t>
            </a:r>
            <a:r>
              <a:rPr lang="en-US" sz="2800">
                <a:solidFill>
                  <a:srgbClr val="333333"/>
                </a:solidFill>
              </a:rPr>
              <a:t>pouvait </a:t>
            </a:r>
            <a:r>
              <a:rPr lang="en-US" sz="2800">
                <a:solidFill>
                  <a:srgbClr val="2D2D2D"/>
                </a:solidFill>
              </a:rPr>
              <a:t>saturer la </a:t>
            </a:r>
            <a:r>
              <a:rPr lang="en-US" sz="2800">
                <a:solidFill>
                  <a:srgbClr val="313131"/>
                </a:solidFill>
              </a:rPr>
              <a:t>mémoire </a:t>
            </a:r>
            <a:r>
              <a:rPr lang="en-US" sz="2800">
                <a:solidFill>
                  <a:srgbClr val="3D3D3D"/>
                </a:solidFill>
              </a:rPr>
              <a:t>avec </a:t>
            </a:r>
            <a:r>
              <a:rPr lang="en-US" sz="2800">
                <a:solidFill>
                  <a:srgbClr val="2D2D2D"/>
                </a:solidFill>
              </a:rPr>
              <a:t>de </a:t>
            </a:r>
            <a:r>
              <a:rPr lang="en-US" sz="2800">
                <a:solidFill>
                  <a:srgbClr val="383838"/>
                </a:solidFill>
              </a:rPr>
              <a:t>gros </a:t>
            </a:r>
            <a:r>
              <a:rPr lang="en-US" sz="2800">
                <a:solidFill>
                  <a:srgbClr val="313131"/>
                </a:solidFill>
              </a:rPr>
              <a:t>volumes.</a:t>
            </a:r>
            <a:endParaRPr sz="2800"/>
          </a:p>
          <a:p>
            <a:pPr indent="1270" lvl="0" marL="506730" marR="275590" rtl="0" algn="just">
              <a:lnSpc>
                <a:spcPct val="117800"/>
              </a:lnSpc>
              <a:spcBef>
                <a:spcPts val="2475"/>
              </a:spcBef>
              <a:spcAft>
                <a:spcPts val="0"/>
              </a:spcAft>
              <a:buNone/>
            </a:pPr>
            <a:r>
              <a:rPr lang="en-US" sz="2800">
                <a:solidFill>
                  <a:srgbClr val="3F3F3F"/>
                </a:solidFill>
              </a:rPr>
              <a:t>Nettoyage </a:t>
            </a:r>
            <a:r>
              <a:rPr lang="en-US" sz="2800">
                <a:solidFill>
                  <a:srgbClr val="3B3B3B"/>
                </a:solidFill>
              </a:rPr>
              <a:t>NLP </a:t>
            </a:r>
            <a:r>
              <a:rPr lang="en-US" sz="2800">
                <a:solidFill>
                  <a:srgbClr val="232323"/>
                </a:solidFill>
              </a:rPr>
              <a:t>: </a:t>
            </a:r>
            <a:r>
              <a:rPr lang="en-US" sz="2800">
                <a:solidFill>
                  <a:srgbClr val="3D3D3D"/>
                </a:solidFill>
              </a:rPr>
              <a:t>Le </a:t>
            </a:r>
            <a:r>
              <a:rPr lang="en-US" sz="2800">
                <a:solidFill>
                  <a:srgbClr val="313131"/>
                </a:solidFill>
              </a:rPr>
              <a:t>texte nettoyé conservait </a:t>
            </a:r>
            <a:r>
              <a:rPr lang="en-US" sz="2800">
                <a:solidFill>
                  <a:srgbClr val="2F2F2F"/>
                </a:solidFill>
              </a:rPr>
              <a:t>des </a:t>
            </a:r>
            <a:r>
              <a:rPr lang="en-US" sz="2800">
                <a:solidFill>
                  <a:srgbClr val="313131"/>
                </a:solidFill>
              </a:rPr>
              <a:t>caractères </a:t>
            </a:r>
            <a:r>
              <a:rPr lang="en-US" sz="2800">
                <a:solidFill>
                  <a:srgbClr val="343434"/>
                </a:solidFill>
              </a:rPr>
              <a:t>Unicode invisibles </a:t>
            </a:r>
            <a:r>
              <a:rPr lang="en-US" sz="2800">
                <a:solidFill>
                  <a:srgbClr val="262626"/>
                </a:solidFill>
              </a:rPr>
              <a:t>faussant </a:t>
            </a:r>
            <a:r>
              <a:rPr lang="en-US" sz="2800">
                <a:solidFill>
                  <a:srgbClr val="313131"/>
                </a:solidFill>
              </a:rPr>
              <a:t>les mots-</a:t>
            </a:r>
            <a:r>
              <a:rPr lang="en-US" sz="2800">
                <a:solidFill>
                  <a:srgbClr val="2F2F2F"/>
                </a:solidFill>
              </a:rPr>
              <a:t>clés.</a:t>
            </a:r>
            <a:endParaRPr sz="2800"/>
          </a:p>
        </p:txBody>
      </p:sp>
      <p:sp>
        <p:nvSpPr>
          <p:cNvPr id="314" name="Google Shape;314;p19"/>
          <p:cNvSpPr txBox="1"/>
          <p:nvPr>
            <p:ph idx="2" type="body"/>
          </p:nvPr>
        </p:nvSpPr>
        <p:spPr>
          <a:xfrm>
            <a:off x="11158370" y="3254216"/>
            <a:ext cx="7178675" cy="6152515"/>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None/>
            </a:pPr>
            <a:r>
              <a:rPr lang="en-US">
                <a:solidFill>
                  <a:srgbClr val="07BC82"/>
                </a:solidFill>
              </a:rPr>
              <a:t>xx’ </a:t>
            </a:r>
            <a:r>
              <a:rPr lang="en-US">
                <a:solidFill>
                  <a:srgbClr val="08BF82"/>
                </a:solidFill>
              </a:rPr>
              <a:t>Les </a:t>
            </a:r>
            <a:r>
              <a:rPr lang="en-US"/>
              <a:t>Solutions</a:t>
            </a:r>
            <a:endParaRPr/>
          </a:p>
          <a:p>
            <a:pPr indent="7620" lvl="0" marL="486409" marR="280670" rtl="0" algn="l">
              <a:lnSpc>
                <a:spcPct val="117800"/>
              </a:lnSpc>
              <a:spcBef>
                <a:spcPts val="2115"/>
              </a:spcBef>
              <a:spcAft>
                <a:spcPts val="0"/>
              </a:spcAft>
              <a:buNone/>
            </a:pPr>
            <a:r>
              <a:rPr b="1" lang="en-US" sz="2800">
                <a:solidFill>
                  <a:srgbClr val="363636"/>
                </a:solidFill>
                <a:latin typeface="Calibri"/>
                <a:ea typeface="Calibri"/>
                <a:cs typeface="Calibri"/>
                <a:sym typeface="Calibri"/>
              </a:rPr>
              <a:t>Résilience </a:t>
            </a:r>
            <a:r>
              <a:rPr b="1" lang="en-US" sz="2800">
                <a:solidFill>
                  <a:srgbClr val="3D3D3D"/>
                </a:solidFill>
                <a:latin typeface="Calibri"/>
                <a:ea typeface="Calibri"/>
                <a:cs typeface="Calibri"/>
                <a:sym typeface="Calibri"/>
              </a:rPr>
              <a:t>CSS </a:t>
            </a:r>
            <a:r>
              <a:rPr lang="en-US" sz="2800">
                <a:solidFill>
                  <a:srgbClr val="383838"/>
                </a:solidFill>
              </a:rPr>
              <a:t>: </a:t>
            </a:r>
            <a:r>
              <a:rPr lang="en-US" sz="2800">
                <a:solidFill>
                  <a:srgbClr val="313131"/>
                </a:solidFill>
              </a:rPr>
              <a:t>Utilisation </a:t>
            </a:r>
            <a:r>
              <a:rPr lang="en-US" sz="2800">
                <a:solidFill>
                  <a:srgbClr val="2F2F2F"/>
                </a:solidFill>
              </a:rPr>
              <a:t>de sélecteurs </a:t>
            </a:r>
            <a:r>
              <a:rPr lang="en-US" sz="2800">
                <a:solidFill>
                  <a:srgbClr val="232323"/>
                </a:solidFill>
              </a:rPr>
              <a:t>BeautifulSoup </a:t>
            </a:r>
            <a:r>
              <a:rPr lang="en-US" sz="2800">
                <a:solidFill>
                  <a:srgbClr val="313131"/>
                </a:solidFill>
              </a:rPr>
              <a:t>souples </a:t>
            </a:r>
            <a:r>
              <a:rPr lang="en-US" sz="2800">
                <a:solidFill>
                  <a:srgbClr val="363636"/>
                </a:solidFill>
              </a:rPr>
              <a:t>(recherche par </a:t>
            </a:r>
            <a:r>
              <a:rPr lang="en-US" sz="2800">
                <a:solidFill>
                  <a:srgbClr val="313131"/>
                </a:solidFill>
              </a:rPr>
              <a:t>mots-clés dans </a:t>
            </a:r>
            <a:r>
              <a:rPr lang="en-US" sz="2800">
                <a:solidFill>
                  <a:srgbClr val="2F2F2F"/>
                </a:solidFill>
              </a:rPr>
              <a:t>les classes </a:t>
            </a:r>
            <a:r>
              <a:rPr lang="en-US" sz="2800">
                <a:solidFill>
                  <a:srgbClr val="363636"/>
                </a:solidFill>
              </a:rPr>
              <a:t>plutôt </a:t>
            </a:r>
            <a:r>
              <a:rPr lang="en-US" sz="2800">
                <a:solidFill>
                  <a:srgbClr val="282828"/>
                </a:solidFill>
              </a:rPr>
              <a:t>que </a:t>
            </a:r>
            <a:r>
              <a:rPr lang="en-US" sz="2800">
                <a:solidFill>
                  <a:srgbClr val="363636"/>
                </a:solidFill>
              </a:rPr>
              <a:t>des </a:t>
            </a:r>
            <a:r>
              <a:rPr lang="en-US" sz="2800">
                <a:solidFill>
                  <a:srgbClr val="313131"/>
                </a:solidFill>
              </a:rPr>
              <a:t>chemins </a:t>
            </a:r>
            <a:r>
              <a:rPr lang="en-US" sz="2800">
                <a:solidFill>
                  <a:srgbClr val="2F2F2F"/>
                </a:solidFill>
              </a:rPr>
              <a:t>stricts).</a:t>
            </a:r>
            <a:endParaRPr sz="2800">
              <a:latin typeface="Calibri"/>
              <a:ea typeface="Calibri"/>
              <a:cs typeface="Calibri"/>
              <a:sym typeface="Calibri"/>
            </a:endParaRPr>
          </a:p>
          <a:p>
            <a:pPr indent="1905" lvl="0" marL="486409" marR="5080" rtl="0" algn="l">
              <a:lnSpc>
                <a:spcPct val="117800"/>
              </a:lnSpc>
              <a:spcBef>
                <a:spcPts val="2470"/>
              </a:spcBef>
              <a:spcAft>
                <a:spcPts val="0"/>
              </a:spcAft>
              <a:buNone/>
            </a:pPr>
            <a:r>
              <a:rPr lang="en-US" sz="2800">
                <a:solidFill>
                  <a:srgbClr val="313131"/>
                </a:solidFill>
              </a:rPr>
              <a:t>Batching: </a:t>
            </a:r>
            <a:r>
              <a:rPr lang="en-US" sz="2800">
                <a:solidFill>
                  <a:srgbClr val="242424"/>
                </a:solidFill>
              </a:rPr>
              <a:t>Implémentation </a:t>
            </a:r>
            <a:r>
              <a:rPr lang="en-US" sz="2800">
                <a:solidFill>
                  <a:srgbClr val="333333"/>
                </a:solidFill>
              </a:rPr>
              <a:t>d'une </a:t>
            </a:r>
            <a:r>
              <a:rPr lang="en-US" sz="2800">
                <a:solidFill>
                  <a:srgbClr val="242424"/>
                </a:solidFill>
              </a:rPr>
              <a:t>logique </a:t>
            </a:r>
            <a:r>
              <a:rPr lang="en-US" sz="2800">
                <a:solidFill>
                  <a:srgbClr val="363636"/>
                </a:solidFill>
              </a:rPr>
              <a:t>de </a:t>
            </a:r>
            <a:r>
              <a:rPr lang="en-US" sz="2800">
                <a:solidFill>
                  <a:srgbClr val="333333"/>
                </a:solidFill>
              </a:rPr>
              <a:t>traitement </a:t>
            </a:r>
            <a:r>
              <a:rPr lang="en-US" sz="2800">
                <a:solidFill>
                  <a:srgbClr val="2D2D2D"/>
                </a:solidFill>
              </a:rPr>
              <a:t>par </a:t>
            </a:r>
            <a:r>
              <a:rPr lang="en-US" sz="2800">
                <a:solidFill>
                  <a:srgbClr val="333333"/>
                </a:solidFill>
              </a:rPr>
              <a:t>"lots" </a:t>
            </a:r>
            <a:r>
              <a:rPr lang="en-US" sz="2800">
                <a:solidFill>
                  <a:srgbClr val="2D2D2D"/>
                </a:solidFill>
              </a:rPr>
              <a:t>(chunks) </a:t>
            </a:r>
            <a:r>
              <a:rPr lang="en-US" sz="2800">
                <a:solidFill>
                  <a:srgbClr val="2F2F2F"/>
                </a:solidFill>
              </a:rPr>
              <a:t>dans </a:t>
            </a:r>
            <a:r>
              <a:rPr lang="en-US" sz="2800">
                <a:solidFill>
                  <a:srgbClr val="2D2D2D"/>
                </a:solidFill>
              </a:rPr>
              <a:t>Pandas </a:t>
            </a:r>
            <a:r>
              <a:rPr lang="en-US" sz="2800">
                <a:solidFill>
                  <a:srgbClr val="333333"/>
                </a:solidFill>
              </a:rPr>
              <a:t>au </a:t>
            </a:r>
            <a:r>
              <a:rPr lang="en-US" sz="2800">
                <a:solidFill>
                  <a:srgbClr val="2D2D2D"/>
                </a:solidFill>
              </a:rPr>
              <a:t>lieu </a:t>
            </a:r>
            <a:r>
              <a:rPr lang="en-US" sz="2800">
                <a:solidFill>
                  <a:srgbClr val="313131"/>
                </a:solidFill>
              </a:rPr>
              <a:t>de </a:t>
            </a:r>
            <a:r>
              <a:rPr lang="en-US" sz="2800">
                <a:solidFill>
                  <a:srgbClr val="383838"/>
                </a:solidFill>
              </a:rPr>
              <a:t>charger </a:t>
            </a:r>
            <a:r>
              <a:rPr lang="en-US" sz="2800">
                <a:solidFill>
                  <a:srgbClr val="242424"/>
                </a:solidFill>
              </a:rPr>
              <a:t>tout </a:t>
            </a:r>
            <a:r>
              <a:rPr lang="en-US" sz="2800">
                <a:solidFill>
                  <a:srgbClr val="3A3A3A"/>
                </a:solidFill>
              </a:rPr>
              <a:t>en </a:t>
            </a:r>
            <a:r>
              <a:rPr lang="en-US" sz="2800">
                <a:solidFill>
                  <a:srgbClr val="363636"/>
                </a:solidFill>
              </a:rPr>
              <a:t>RAM.</a:t>
            </a:r>
            <a:endParaRPr sz="2800"/>
          </a:p>
          <a:p>
            <a:pPr indent="1905" lvl="0" marL="486409" marR="412115" rtl="0" algn="l">
              <a:lnSpc>
                <a:spcPct val="117800"/>
              </a:lnSpc>
              <a:spcBef>
                <a:spcPts val="2475"/>
              </a:spcBef>
              <a:spcAft>
                <a:spcPts val="0"/>
              </a:spcAft>
              <a:buNone/>
            </a:pPr>
            <a:r>
              <a:rPr lang="en-US" sz="2800">
                <a:solidFill>
                  <a:srgbClr val="363636"/>
                </a:solidFill>
              </a:rPr>
              <a:t>Regex </a:t>
            </a:r>
            <a:r>
              <a:rPr lang="en-US" sz="2800">
                <a:solidFill>
                  <a:srgbClr val="384B6B"/>
                </a:solidFill>
              </a:rPr>
              <a:t>&amp; </a:t>
            </a:r>
            <a:r>
              <a:rPr lang="en-US" sz="2800">
                <a:solidFill>
                  <a:srgbClr val="333333"/>
                </a:solidFill>
              </a:rPr>
              <a:t>Encodage </a:t>
            </a:r>
            <a:r>
              <a:rPr lang="en-US" sz="2800">
                <a:solidFill>
                  <a:srgbClr val="383838"/>
                </a:solidFill>
              </a:rPr>
              <a:t>: </a:t>
            </a:r>
            <a:r>
              <a:rPr lang="en-US" sz="2800">
                <a:solidFill>
                  <a:srgbClr val="313131"/>
                </a:solidFill>
              </a:rPr>
              <a:t>Utilisation </a:t>
            </a:r>
            <a:r>
              <a:rPr lang="en-US" sz="2800">
                <a:solidFill>
                  <a:srgbClr val="363636"/>
                </a:solidFill>
              </a:rPr>
              <a:t>avancée </a:t>
            </a:r>
            <a:r>
              <a:rPr lang="en-US" sz="2800">
                <a:solidFill>
                  <a:srgbClr val="313131"/>
                </a:solidFill>
              </a:rPr>
              <a:t>d'expressions </a:t>
            </a:r>
            <a:r>
              <a:rPr lang="en-US" sz="2800">
                <a:solidFill>
                  <a:srgbClr val="2F2F2F"/>
                </a:solidFill>
              </a:rPr>
              <a:t>régulières </a:t>
            </a:r>
            <a:r>
              <a:rPr lang="en-US" sz="2800">
                <a:solidFill>
                  <a:srgbClr val="383838"/>
                </a:solidFill>
              </a:rPr>
              <a:t>en </a:t>
            </a:r>
            <a:r>
              <a:rPr lang="en-US" sz="2800">
                <a:solidFill>
                  <a:srgbClr val="313131"/>
                </a:solidFill>
              </a:rPr>
              <a:t>Python </a:t>
            </a:r>
            <a:r>
              <a:rPr lang="en-US" sz="2800">
                <a:solidFill>
                  <a:srgbClr val="333333"/>
                </a:solidFill>
              </a:rPr>
              <a:t>pour </a:t>
            </a:r>
            <a:r>
              <a:rPr lang="en-US" sz="2800">
                <a:solidFill>
                  <a:srgbClr val="383838"/>
                </a:solidFill>
              </a:rPr>
              <a:t>forcer </a:t>
            </a:r>
            <a:r>
              <a:rPr lang="en-US" sz="2800">
                <a:solidFill>
                  <a:srgbClr val="2F2F2F"/>
                </a:solidFill>
              </a:rPr>
              <a:t>l'encodage </a:t>
            </a:r>
            <a:r>
              <a:rPr lang="en-US" sz="2800">
                <a:solidFill>
                  <a:srgbClr val="333333"/>
                </a:solidFill>
              </a:rPr>
              <a:t>UTF-8 </a:t>
            </a:r>
            <a:r>
              <a:rPr lang="en-US" sz="2800">
                <a:solidFill>
                  <a:srgbClr val="313131"/>
                </a:solidFill>
              </a:rPr>
              <a:t>propre.</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8" name="Shape 318"/>
        <p:cNvGrpSpPr/>
        <p:nvPr/>
      </p:nvGrpSpPr>
      <p:grpSpPr>
        <a:xfrm>
          <a:off x="0" y="0"/>
          <a:ext cx="0" cy="0"/>
          <a:chOff x="0" y="0"/>
          <a:chExt cx="0" cy="0"/>
        </a:xfrm>
      </p:grpSpPr>
      <p:sp>
        <p:nvSpPr>
          <p:cNvPr descr="$PPTXTitle" id="319" name="Google Shape;319;p20"/>
          <p:cNvSpPr txBox="1"/>
          <p:nvPr>
            <p:ph type="title"/>
          </p:nvPr>
        </p:nvSpPr>
        <p:spPr>
          <a:xfrm>
            <a:off x="1421498" y="2155427"/>
            <a:ext cx="17099915" cy="1891030"/>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None/>
            </a:pPr>
            <a:r>
              <a:rPr lang="en-US" sz="12200">
                <a:solidFill>
                  <a:srgbClr val="0069A8"/>
                </a:solidFill>
              </a:rPr>
              <a:t>Conclusion </a:t>
            </a:r>
            <a:r>
              <a:rPr lang="en-US" sz="12200">
                <a:solidFill>
                  <a:srgbClr val="0169A1"/>
                </a:solidFill>
              </a:rPr>
              <a:t>&amp; Perspectives</a:t>
            </a:r>
            <a:endParaRPr sz="12200"/>
          </a:p>
        </p:txBody>
      </p:sp>
      <p:sp>
        <p:nvSpPr>
          <p:cNvPr id="320" name="Google Shape;320;p20"/>
          <p:cNvSpPr txBox="1"/>
          <p:nvPr/>
        </p:nvSpPr>
        <p:spPr>
          <a:xfrm>
            <a:off x="4644104" y="4562422"/>
            <a:ext cx="10775950" cy="2125980"/>
          </a:xfrm>
          <a:prstGeom prst="rect">
            <a:avLst/>
          </a:prstGeom>
          <a:noFill/>
          <a:ln>
            <a:noFill/>
          </a:ln>
        </p:spPr>
        <p:txBody>
          <a:bodyPr anchorCtr="0" anchor="t" bIns="0" lIns="0" spcFirstLastPara="1" rIns="0" wrap="square" tIns="17125">
            <a:spAutoFit/>
          </a:bodyPr>
          <a:lstStyle/>
          <a:p>
            <a:pPr indent="0" lvl="0" marL="0" rtl="0" algn="ctr">
              <a:lnSpc>
                <a:spcPct val="100000"/>
              </a:lnSpc>
              <a:spcBef>
                <a:spcPts val="0"/>
              </a:spcBef>
              <a:spcAft>
                <a:spcPts val="0"/>
              </a:spcAft>
              <a:buNone/>
            </a:pPr>
            <a:r>
              <a:rPr lang="en-US" sz="3700">
                <a:solidFill>
                  <a:srgbClr val="4D4D4D"/>
                </a:solidFill>
                <a:latin typeface="Calibri"/>
                <a:ea typeface="Calibri"/>
                <a:cs typeface="Calibri"/>
                <a:sym typeface="Calibri"/>
              </a:rPr>
              <a:t>Un </a:t>
            </a:r>
            <a:r>
              <a:rPr lang="en-US" sz="3700">
                <a:solidFill>
                  <a:srgbClr val="444444"/>
                </a:solidFill>
                <a:latin typeface="Calibri"/>
                <a:ea typeface="Calibri"/>
                <a:cs typeface="Calibri"/>
                <a:sym typeface="Calibri"/>
              </a:rPr>
              <a:t>socle </a:t>
            </a:r>
            <a:r>
              <a:rPr lang="en-US" sz="3700">
                <a:solidFill>
                  <a:srgbClr val="494949"/>
                </a:solidFill>
                <a:latin typeface="Calibri"/>
                <a:ea typeface="Calibri"/>
                <a:cs typeface="Calibri"/>
                <a:sym typeface="Calibri"/>
              </a:rPr>
              <a:t>Data Engineering </a:t>
            </a:r>
            <a:r>
              <a:rPr lang="en-US" sz="3700">
                <a:solidFill>
                  <a:srgbClr val="545D6E"/>
                </a:solidFill>
                <a:latin typeface="Calibri"/>
                <a:ea typeface="Calibri"/>
                <a:cs typeface="Calibri"/>
                <a:sym typeface="Calibri"/>
              </a:rPr>
              <a:t>robuste, </a:t>
            </a:r>
            <a:r>
              <a:rPr lang="en-US" sz="3700">
                <a:solidFill>
                  <a:srgbClr val="494949"/>
                </a:solidFill>
                <a:latin typeface="Calibri"/>
                <a:ea typeface="Calibri"/>
                <a:cs typeface="Calibri"/>
                <a:sym typeface="Calibri"/>
              </a:rPr>
              <a:t>prêt pour </a:t>
            </a:r>
            <a:r>
              <a:rPr lang="en-US" sz="3700">
                <a:solidFill>
                  <a:srgbClr val="525252"/>
                </a:solidFill>
                <a:latin typeface="Calibri"/>
                <a:ea typeface="Calibri"/>
                <a:cs typeface="Calibri"/>
                <a:sym typeface="Calibri"/>
              </a:rPr>
              <a:t>l'évolution.</a:t>
            </a:r>
            <a:endParaRPr sz="3700">
              <a:latin typeface="Calibri"/>
              <a:ea typeface="Calibri"/>
              <a:cs typeface="Calibri"/>
              <a:sym typeface="Calibri"/>
            </a:endParaRPr>
          </a:p>
          <a:p>
            <a:pPr indent="0" lvl="0" marL="0" rtl="0" algn="l">
              <a:lnSpc>
                <a:spcPct val="100000"/>
              </a:lnSpc>
              <a:spcBef>
                <a:spcPts val="2014"/>
              </a:spcBef>
              <a:spcAft>
                <a:spcPts val="0"/>
              </a:spcAft>
              <a:buNone/>
            </a:pPr>
            <a:r>
              <a:t/>
            </a:r>
            <a:endParaRPr sz="3700">
              <a:latin typeface="Calibri"/>
              <a:ea typeface="Calibri"/>
              <a:cs typeface="Calibri"/>
              <a:sym typeface="Calibri"/>
            </a:endParaRPr>
          </a:p>
          <a:p>
            <a:pPr indent="0" lvl="0" marL="27305" rtl="0" algn="ctr">
              <a:lnSpc>
                <a:spcPct val="100000"/>
              </a:lnSpc>
              <a:spcBef>
                <a:spcPts val="0"/>
              </a:spcBef>
              <a:spcAft>
                <a:spcPts val="0"/>
              </a:spcAft>
              <a:buNone/>
            </a:pPr>
            <a:r>
              <a:rPr lang="en-US" sz="4600">
                <a:solidFill>
                  <a:srgbClr val="0085C3"/>
                </a:solidFill>
                <a:latin typeface="Calibri"/>
                <a:ea typeface="Calibri"/>
                <a:cs typeface="Calibri"/>
                <a:sym typeface="Calibri"/>
              </a:rPr>
              <a:t>Prochaines </a:t>
            </a:r>
            <a:r>
              <a:rPr lang="en-US" sz="4600">
                <a:solidFill>
                  <a:srgbClr val="0785BC"/>
                </a:solidFill>
                <a:latin typeface="Calibri"/>
                <a:ea typeface="Calibri"/>
                <a:cs typeface="Calibri"/>
                <a:sym typeface="Calibri"/>
              </a:rPr>
              <a:t>Étopes </a:t>
            </a:r>
            <a:r>
              <a:rPr lang="en-US" sz="4600">
                <a:solidFill>
                  <a:srgbClr val="0585CD"/>
                </a:solidFill>
                <a:latin typeface="Calibri"/>
                <a:ea typeface="Calibri"/>
                <a:cs typeface="Calibri"/>
                <a:sym typeface="Calibri"/>
              </a:rPr>
              <a:t>(V2):</a:t>
            </a:r>
            <a:endParaRPr sz="4600">
              <a:latin typeface="Calibri"/>
              <a:ea typeface="Calibri"/>
              <a:cs typeface="Calibri"/>
              <a:sym typeface="Calibri"/>
            </a:endParaRPr>
          </a:p>
        </p:txBody>
      </p:sp>
      <p:sp>
        <p:nvSpPr>
          <p:cNvPr id="321" name="Google Shape;321;p20"/>
          <p:cNvSpPr txBox="1"/>
          <p:nvPr/>
        </p:nvSpPr>
        <p:spPr>
          <a:xfrm>
            <a:off x="4037026" y="7040750"/>
            <a:ext cx="658495" cy="1030605"/>
          </a:xfrm>
          <a:prstGeom prst="rect">
            <a:avLst/>
          </a:prstGeom>
          <a:noFill/>
          <a:ln>
            <a:noFill/>
          </a:ln>
        </p:spPr>
        <p:txBody>
          <a:bodyPr anchorCtr="0" anchor="t" bIns="0" lIns="0" spcFirstLastPara="1" rIns="0" wrap="square" tIns="87625">
            <a:spAutoFit/>
          </a:bodyPr>
          <a:lstStyle/>
          <a:p>
            <a:pPr indent="-335915" lvl="0" marL="348615" rtl="0" algn="l">
              <a:lnSpc>
                <a:spcPct val="100000"/>
              </a:lnSpc>
              <a:spcBef>
                <a:spcPts val="0"/>
              </a:spcBef>
              <a:spcAft>
                <a:spcPts val="0"/>
              </a:spcAft>
              <a:buClr>
                <a:srgbClr val="334457"/>
              </a:buClr>
              <a:buSzPts val="2800"/>
              <a:buFont typeface="Calibri"/>
              <a:buChar char="•"/>
            </a:pPr>
            <a:r>
              <a:rPr lang="en-US" sz="2800">
                <a:solidFill>
                  <a:srgbClr val="1AA8EB"/>
                </a:solidFill>
                <a:latin typeface="Calibri"/>
                <a:ea typeface="Calibri"/>
                <a:cs typeface="Calibri"/>
                <a:sym typeface="Calibri"/>
              </a:rPr>
              <a:t>-3'</a:t>
            </a:r>
            <a:endParaRPr sz="2800">
              <a:latin typeface="Calibri"/>
              <a:ea typeface="Calibri"/>
              <a:cs typeface="Calibri"/>
              <a:sym typeface="Calibri"/>
            </a:endParaRPr>
          </a:p>
          <a:p>
            <a:pPr indent="-335915" lvl="0" marL="348615" rtl="0" algn="l">
              <a:lnSpc>
                <a:spcPct val="100000"/>
              </a:lnSpc>
              <a:spcBef>
                <a:spcPts val="595"/>
              </a:spcBef>
              <a:spcAft>
                <a:spcPts val="0"/>
              </a:spcAft>
              <a:buClr>
                <a:srgbClr val="334457"/>
              </a:buClr>
              <a:buSzPts val="2800"/>
              <a:buFont typeface="Calibri"/>
              <a:buChar char="•"/>
            </a:pPr>
            <a:r>
              <a:rPr lang="en-US" sz="2800">
                <a:solidFill>
                  <a:srgbClr val="13A3E6"/>
                </a:solidFill>
                <a:latin typeface="Calibri"/>
                <a:ea typeface="Calibri"/>
                <a:cs typeface="Calibri"/>
                <a:sym typeface="Calibri"/>
              </a:rPr>
              <a:t>-3'</a:t>
            </a:r>
            <a:endParaRPr sz="2800">
              <a:latin typeface="Calibri"/>
              <a:ea typeface="Calibri"/>
              <a:cs typeface="Calibri"/>
              <a:sym typeface="Calibri"/>
            </a:endParaRPr>
          </a:p>
        </p:txBody>
      </p:sp>
      <p:sp>
        <p:nvSpPr>
          <p:cNvPr id="322" name="Google Shape;322;p20"/>
          <p:cNvSpPr txBox="1"/>
          <p:nvPr/>
        </p:nvSpPr>
        <p:spPr>
          <a:xfrm>
            <a:off x="4886333" y="7040750"/>
            <a:ext cx="9751060" cy="1030605"/>
          </a:xfrm>
          <a:prstGeom prst="rect">
            <a:avLst/>
          </a:prstGeom>
          <a:noFill/>
          <a:ln>
            <a:noFill/>
          </a:ln>
        </p:spPr>
        <p:txBody>
          <a:bodyPr anchorCtr="0" anchor="t" bIns="0" lIns="0" spcFirstLastPara="1" rIns="0" wrap="square" tIns="11425">
            <a:spAutoFit/>
          </a:bodyPr>
          <a:lstStyle/>
          <a:p>
            <a:pPr indent="1905" lvl="0" marL="12700" marR="5080" rtl="0" algn="l">
              <a:lnSpc>
                <a:spcPct val="117800"/>
              </a:lnSpc>
              <a:spcBef>
                <a:spcPts val="0"/>
              </a:spcBef>
              <a:spcAft>
                <a:spcPts val="0"/>
              </a:spcAft>
              <a:buNone/>
            </a:pPr>
            <a:r>
              <a:rPr lang="en-US" sz="2800">
                <a:solidFill>
                  <a:srgbClr val="343434"/>
                </a:solidFill>
                <a:latin typeface="Calibri"/>
                <a:ea typeface="Calibri"/>
                <a:cs typeface="Calibri"/>
                <a:sym typeface="Calibri"/>
              </a:rPr>
              <a:t>Remplacer </a:t>
            </a:r>
            <a:r>
              <a:rPr lang="en-US" sz="2800">
                <a:solidFill>
                  <a:srgbClr val="3F3F3F"/>
                </a:solidFill>
                <a:latin typeface="Calibri"/>
                <a:ea typeface="Calibri"/>
                <a:cs typeface="Calibri"/>
                <a:sym typeface="Calibri"/>
              </a:rPr>
              <a:t>le </a:t>
            </a:r>
            <a:r>
              <a:rPr lang="en-US" sz="2800">
                <a:solidFill>
                  <a:srgbClr val="343434"/>
                </a:solidFill>
                <a:latin typeface="Calibri"/>
                <a:ea typeface="Calibri"/>
                <a:cs typeface="Calibri"/>
                <a:sym typeface="Calibri"/>
              </a:rPr>
              <a:t>traitement Batch </a:t>
            </a:r>
            <a:r>
              <a:rPr lang="en-US" sz="2800">
                <a:solidFill>
                  <a:srgbClr val="3B3B3B"/>
                </a:solidFill>
                <a:latin typeface="Calibri"/>
                <a:ea typeface="Calibri"/>
                <a:cs typeface="Calibri"/>
                <a:sym typeface="Calibri"/>
              </a:rPr>
              <a:t>Pandas </a:t>
            </a:r>
            <a:r>
              <a:rPr lang="en-US" sz="2800">
                <a:solidFill>
                  <a:srgbClr val="3D3D3D"/>
                </a:solidFill>
                <a:latin typeface="Calibri"/>
                <a:ea typeface="Calibri"/>
                <a:cs typeface="Calibri"/>
                <a:sym typeface="Calibri"/>
              </a:rPr>
              <a:t>par </a:t>
            </a:r>
            <a:r>
              <a:rPr lang="en-US" sz="2800">
                <a:solidFill>
                  <a:srgbClr val="234872"/>
                </a:solidFill>
                <a:latin typeface="Calibri"/>
                <a:ea typeface="Calibri"/>
                <a:cs typeface="Calibri"/>
                <a:sym typeface="Calibri"/>
              </a:rPr>
              <a:t>du </a:t>
            </a:r>
            <a:r>
              <a:rPr lang="en-US" sz="2800">
                <a:solidFill>
                  <a:srgbClr val="2D2D2D"/>
                </a:solidFill>
                <a:latin typeface="Calibri"/>
                <a:ea typeface="Calibri"/>
                <a:cs typeface="Calibri"/>
                <a:sym typeface="Calibri"/>
              </a:rPr>
              <a:t>Spark </a:t>
            </a:r>
            <a:r>
              <a:rPr lang="en-US" sz="2800">
                <a:solidFill>
                  <a:srgbClr val="313131"/>
                </a:solidFill>
                <a:latin typeface="Calibri"/>
                <a:ea typeface="Calibri"/>
                <a:cs typeface="Calibri"/>
                <a:sym typeface="Calibri"/>
              </a:rPr>
              <a:t>Streaming. </a:t>
            </a:r>
            <a:r>
              <a:rPr lang="en-US" sz="2800">
                <a:solidFill>
                  <a:srgbClr val="363636"/>
                </a:solidFill>
                <a:latin typeface="Calibri"/>
                <a:ea typeface="Calibri"/>
                <a:cs typeface="Calibri"/>
                <a:sym typeface="Calibri"/>
              </a:rPr>
              <a:t>Connecter </a:t>
            </a:r>
            <a:r>
              <a:rPr lang="en-US" sz="2800">
                <a:solidFill>
                  <a:srgbClr val="3B3B3B"/>
                </a:solidFill>
                <a:latin typeface="Calibri"/>
                <a:ea typeface="Calibri"/>
                <a:cs typeface="Calibri"/>
                <a:sym typeface="Calibri"/>
              </a:rPr>
              <a:t>un </a:t>
            </a:r>
            <a:r>
              <a:rPr lang="en-US" sz="2800">
                <a:solidFill>
                  <a:srgbClr val="3F3F3F"/>
                </a:solidFill>
                <a:latin typeface="Calibri"/>
                <a:ea typeface="Calibri"/>
                <a:cs typeface="Calibri"/>
                <a:sym typeface="Calibri"/>
              </a:rPr>
              <a:t>outil </a:t>
            </a:r>
            <a:r>
              <a:rPr lang="en-US" sz="2800">
                <a:solidFill>
                  <a:srgbClr val="3B3B3B"/>
                </a:solidFill>
                <a:latin typeface="Calibri"/>
                <a:ea typeface="Calibri"/>
                <a:cs typeface="Calibri"/>
                <a:sym typeface="Calibri"/>
              </a:rPr>
              <a:t>de </a:t>
            </a:r>
            <a:r>
              <a:rPr lang="en-US" sz="2800">
                <a:solidFill>
                  <a:srgbClr val="3F3F3F"/>
                </a:solidFill>
                <a:latin typeface="Calibri"/>
                <a:ea typeface="Calibri"/>
                <a:cs typeface="Calibri"/>
                <a:sym typeface="Calibri"/>
              </a:rPr>
              <a:t>BI </a:t>
            </a:r>
            <a:r>
              <a:rPr lang="en-US" sz="2800">
                <a:solidFill>
                  <a:srgbClr val="333333"/>
                </a:solidFill>
                <a:latin typeface="Calibri"/>
                <a:ea typeface="Calibri"/>
                <a:cs typeface="Calibri"/>
                <a:sym typeface="Calibri"/>
              </a:rPr>
              <a:t>(Metabase </a:t>
            </a:r>
            <a:r>
              <a:rPr lang="en-US" sz="2800">
                <a:solidFill>
                  <a:srgbClr val="383838"/>
                </a:solidFill>
                <a:latin typeface="Calibri"/>
                <a:ea typeface="Calibri"/>
                <a:cs typeface="Calibri"/>
                <a:sym typeface="Calibri"/>
              </a:rPr>
              <a:t>ou </a:t>
            </a:r>
            <a:r>
              <a:rPr lang="en-US" sz="2800">
                <a:solidFill>
                  <a:srgbClr val="363636"/>
                </a:solidFill>
                <a:latin typeface="Calibri"/>
                <a:ea typeface="Calibri"/>
                <a:cs typeface="Calibri"/>
                <a:sym typeface="Calibri"/>
              </a:rPr>
              <a:t>Superset) sur </a:t>
            </a:r>
            <a:r>
              <a:rPr lang="en-US" sz="2800">
                <a:solidFill>
                  <a:srgbClr val="3D3D3D"/>
                </a:solidFill>
                <a:latin typeface="Calibri"/>
                <a:ea typeface="Calibri"/>
                <a:cs typeface="Calibri"/>
                <a:sym typeface="Calibri"/>
              </a:rPr>
              <a:t>le </a:t>
            </a:r>
            <a:r>
              <a:rPr lang="en-US" sz="2800">
                <a:solidFill>
                  <a:srgbClr val="343434"/>
                </a:solidFill>
                <a:latin typeface="Calibri"/>
                <a:ea typeface="Calibri"/>
                <a:cs typeface="Calibri"/>
                <a:sym typeface="Calibri"/>
              </a:rPr>
              <a:t>Data </a:t>
            </a:r>
            <a:r>
              <a:rPr lang="en-US" sz="2800">
                <a:solidFill>
                  <a:srgbClr val="363636"/>
                </a:solidFill>
                <a:latin typeface="Calibri"/>
                <a:ea typeface="Calibri"/>
                <a:cs typeface="Calibri"/>
                <a:sym typeface="Calibri"/>
              </a:rPr>
              <a:t>Warehouse.</a:t>
            </a:r>
            <a:endParaRPr sz="2800">
              <a:latin typeface="Calibri"/>
              <a:ea typeface="Calibri"/>
              <a:cs typeface="Calibri"/>
              <a:sym typeface="Calibri"/>
            </a:endParaRPr>
          </a:p>
        </p:txBody>
      </p:sp>
      <p:sp>
        <p:nvSpPr>
          <p:cNvPr id="323" name="Google Shape;323;p20"/>
          <p:cNvSpPr txBox="1"/>
          <p:nvPr/>
        </p:nvSpPr>
        <p:spPr>
          <a:xfrm>
            <a:off x="4037026" y="8116634"/>
            <a:ext cx="10396220" cy="457834"/>
          </a:xfrm>
          <a:prstGeom prst="rect">
            <a:avLst/>
          </a:prstGeom>
          <a:noFill/>
          <a:ln>
            <a:noFill/>
          </a:ln>
        </p:spPr>
        <p:txBody>
          <a:bodyPr anchorCtr="0" anchor="t" bIns="0" lIns="0" spcFirstLastPara="1" rIns="0" wrap="square" tIns="17125">
            <a:spAutoFit/>
          </a:bodyPr>
          <a:lstStyle/>
          <a:p>
            <a:pPr indent="-335915" lvl="0" marL="348615" rtl="0" algn="l">
              <a:lnSpc>
                <a:spcPct val="100000"/>
              </a:lnSpc>
              <a:spcBef>
                <a:spcPts val="0"/>
              </a:spcBef>
              <a:spcAft>
                <a:spcPts val="0"/>
              </a:spcAft>
              <a:buClr>
                <a:srgbClr val="334457"/>
              </a:buClr>
              <a:buSzPts val="2800"/>
              <a:buFont typeface="Calibri"/>
              <a:buChar char="•"/>
            </a:pPr>
            <a:r>
              <a:rPr lang="en-US" sz="2800">
                <a:solidFill>
                  <a:srgbClr val="13A3E6"/>
                </a:solidFill>
                <a:latin typeface="Calibri"/>
                <a:ea typeface="Calibri"/>
                <a:cs typeface="Calibri"/>
                <a:sym typeface="Calibri"/>
              </a:rPr>
              <a:t>-3'	</a:t>
            </a:r>
            <a:r>
              <a:rPr lang="en-US" sz="2800">
                <a:solidFill>
                  <a:srgbClr val="343434"/>
                </a:solidFill>
                <a:latin typeface="Calibri"/>
                <a:ea typeface="Calibri"/>
                <a:cs typeface="Calibri"/>
                <a:sym typeface="Calibri"/>
              </a:rPr>
              <a:t>Ajouter </a:t>
            </a:r>
            <a:r>
              <a:rPr lang="en-US" sz="2800">
                <a:solidFill>
                  <a:srgbClr val="383838"/>
                </a:solidFill>
                <a:latin typeface="Calibri"/>
                <a:ea typeface="Calibri"/>
                <a:cs typeface="Calibri"/>
                <a:sym typeface="Calibri"/>
              </a:rPr>
              <a:t>un modèle </a:t>
            </a:r>
            <a:r>
              <a:rPr lang="en-US" sz="2800">
                <a:solidFill>
                  <a:srgbClr val="363636"/>
                </a:solidFill>
                <a:latin typeface="Calibri"/>
                <a:ea typeface="Calibri"/>
                <a:cs typeface="Calibri"/>
                <a:sym typeface="Calibri"/>
              </a:rPr>
              <a:t>de </a:t>
            </a:r>
            <a:r>
              <a:rPr lang="en-US" sz="2800">
                <a:solidFill>
                  <a:srgbClr val="343434"/>
                </a:solidFill>
                <a:latin typeface="Calibri"/>
                <a:ea typeface="Calibri"/>
                <a:cs typeface="Calibri"/>
                <a:sym typeface="Calibri"/>
              </a:rPr>
              <a:t>Machine Learning </a:t>
            </a:r>
            <a:r>
              <a:rPr lang="en-US" sz="2800">
                <a:solidFill>
                  <a:srgbClr val="3B3B3B"/>
                </a:solidFill>
                <a:latin typeface="Calibri"/>
                <a:ea typeface="Calibri"/>
                <a:cs typeface="Calibri"/>
                <a:sym typeface="Calibri"/>
              </a:rPr>
              <a:t>pour </a:t>
            </a:r>
            <a:r>
              <a:rPr lang="en-US" sz="2800">
                <a:solidFill>
                  <a:srgbClr val="383838"/>
                </a:solidFill>
                <a:latin typeface="Calibri"/>
                <a:ea typeface="Calibri"/>
                <a:cs typeface="Calibri"/>
                <a:sym typeface="Calibri"/>
              </a:rPr>
              <a:t>l'Analyse de </a:t>
            </a:r>
            <a:r>
              <a:rPr lang="en-US" sz="2800">
                <a:solidFill>
                  <a:srgbClr val="2F2F2F"/>
                </a:solidFill>
                <a:latin typeface="Calibri"/>
                <a:ea typeface="Calibri"/>
                <a:cs typeface="Calibri"/>
                <a:sym typeface="Calibri"/>
              </a:rPr>
              <a:t>Sentiments.</a:t>
            </a:r>
            <a:endParaRPr sz="28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